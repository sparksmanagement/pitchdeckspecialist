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one-liner. Green Valley Dispensary is a dispensary in Sacramento, CA. Goal of this deck: show we've already looked at their listings, we know the platforms from the inside, and we can commit to results in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Airbnb's problem slide: three plain-language pains. Ours: four. Tie each one to something you saw on the prospect's listings (the audit slide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Airbnb's 'Book rooms with locals, rather than hotels' — one sentence the prospect can repeat back. Don't move on until they nod.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Validate the channels before the pitch. Ask which platform they think drives the most orders — most owners are guessing, which is the opening for the audit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Airbnb 'market size' slide turned into their market. Read it like a doctor reading a chart — calm, specific, no blame. Each finding maps to a service on the scope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slide. Emphasize that these are operating routines with weekly cadence, not a one-time setup. Menu + Data are the two nobody else offers with POS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commercial heart of the deck. Every one of the six standard services is shown, included or not, so the prospect sees the whole menu. Walk the included rows and tie each to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Traction slide. Only cite numbers published on sparkscann.com. If asked how ROAS is measured: on-platform conversions plus POS-integrated attribution in the Sparks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case study closest to the prospect's situation (multi-location, delivery, new market). Purple Lotus is the 'we've done this for a decade-old account' story; Nuna Harvest is the 'new market, fast growth'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 slide. Be fair to the in-house option — it works if they have a full-time person who has bid on Weedmaps before. Most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reasons to pick us over the options on the previous slide. The founder story is the credibility anchor; the dashboard is the differentiator no competitor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team members in brand/config.yml. Headshots can be dropped in later by replacing the initials circles in PowerPoint.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slide. Add logos here later if desired — the layout leaves room inside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restate the 30-day guarantee, propose the start date, and ask for platform access (Weedmaps, Leafly, Yelp, GBP admin) to begin the audit. Term: Month-to-month after 90-day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1D"/>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C8F04A"/>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C8F04A"/>
                </a:solidFill>
                <a:latin typeface="Calibri" pitchFamily="34" charset="0"/>
                <a:ea typeface="Calibri" pitchFamily="34" charset="-122"/>
                <a:cs typeface="Calibri" pitchFamily="34" charset="-120"/>
              </a:rPr>
              <a:t>1</a:t>
            </a:r>
            <a:endParaRPr lang="en-US" sz="1000" dirty="0"/>
          </a:p>
        </p:txBody>
      </p:sp>
      <p:sp>
        <p:nvSpPr>
          <p:cNvPr id="4" name="Shape 2"/>
          <p:cNvSpPr/>
          <p:nvPr/>
        </p:nvSpPr>
        <p:spPr>
          <a:xfrm>
            <a:off x="8412480" y="-1463040"/>
            <a:ext cx="5486400" cy="5486400"/>
          </a:xfrm>
          <a:prstGeom prst="ellipse">
            <a:avLst/>
          </a:prstGeom>
          <a:solidFill>
            <a:srgbClr val="1F6F43"/>
          </a:solidFill>
          <a:ln w="12700">
            <a:solidFill>
              <a:srgbClr val="1F6F43"/>
            </a:solidFill>
            <a:prstDash val="solid"/>
          </a:ln>
        </p:spPr>
      </p:sp>
      <p:sp>
        <p:nvSpPr>
          <p:cNvPr id="5" name="Shape 3"/>
          <p:cNvSpPr/>
          <p:nvPr/>
        </p:nvSpPr>
        <p:spPr>
          <a:xfrm>
            <a:off x="10241280" y="2377440"/>
            <a:ext cx="2926080" cy="2926080"/>
          </a:xfrm>
          <a:prstGeom prst="ellipse">
            <a:avLst/>
          </a:prstGeom>
          <a:solidFill>
            <a:srgbClr val="C8F04A"/>
          </a:solidFill>
          <a:ln w="12700">
            <a:solidFill>
              <a:srgbClr val="C8F04A"/>
            </a:solidFill>
            <a:prstDash val="solid"/>
          </a:ln>
        </p:spPr>
      </p:sp>
      <p:sp>
        <p:nvSpPr>
          <p:cNvPr id="6" name="Text 4"/>
          <p:cNvSpPr txBox="1"/>
          <p:nvPr/>
        </p:nvSpPr>
        <p:spPr>
          <a:xfrm>
            <a:off x="548640" y="640080"/>
            <a:ext cx="5486400" cy="365760"/>
          </a:xfrm>
          <a:prstGeom prst="rect">
            <a:avLst/>
          </a:prstGeom>
          <a:noFill/>
          <a:ln/>
        </p:spPr>
        <p:txBody>
          <a:bodyPr wrap="square" lIns="0" tIns="0" rIns="0" bIns="0" rtlCol="0" anchor="t"/>
          <a:lstStyle/>
          <a:p>
            <a:pPr indent="0" marL="0">
              <a:buNone/>
            </a:pPr>
            <a:r>
              <a:rPr lang="en-US" sz="1400" b="1" spc="600" kern="0" dirty="0">
                <a:solidFill>
                  <a:srgbClr val="C8F04A"/>
                </a:solidFill>
                <a:latin typeface="Calibri" pitchFamily="34" charset="0"/>
                <a:ea typeface="Calibri" pitchFamily="34" charset="-122"/>
                <a:cs typeface="Calibri" pitchFamily="34" charset="-120"/>
              </a:rPr>
              <a:t>SPARKS</a:t>
            </a:r>
            <a:endParaRPr lang="en-US" sz="1400" dirty="0"/>
          </a:p>
        </p:txBody>
      </p:sp>
      <p:sp>
        <p:nvSpPr>
          <p:cNvPr id="7" name="Text 5"/>
          <p:cNvSpPr txBox="1"/>
          <p:nvPr/>
        </p:nvSpPr>
        <p:spPr>
          <a:xfrm>
            <a:off x="548640" y="1851660"/>
            <a:ext cx="7863840" cy="160020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Sparks × Green Valley Dispensary</a:t>
            </a:r>
            <a:endParaRPr lang="en-US" sz="4800" dirty="0"/>
          </a:p>
        </p:txBody>
      </p:sp>
      <p:sp>
        <p:nvSpPr>
          <p:cNvPr id="8" name="Text 6"/>
          <p:cNvSpPr txBox="1"/>
          <p:nvPr/>
        </p:nvSpPr>
        <p:spPr>
          <a:xfrm>
            <a:off x="548640" y="3634740"/>
            <a:ext cx="6949440" cy="1005840"/>
          </a:xfrm>
          <a:prstGeom prst="rect">
            <a:avLst/>
          </a:prstGeom>
          <a:noFill/>
          <a:ln/>
        </p:spPr>
        <p:txBody>
          <a:bodyPr wrap="square" lIns="0" tIns="0" rIns="0" bIns="0" rtlCol="0" anchor="t"/>
          <a:lstStyle/>
          <a:p>
            <a:pPr indent="0" marL="0">
              <a:buNone/>
            </a:pPr>
            <a:r>
              <a:rPr lang="en-US" sz="1800" dirty="0">
                <a:solidFill>
                  <a:srgbClr val="E6EFE9"/>
                </a:solidFill>
                <a:latin typeface="Calibri" pitchFamily="34" charset="0"/>
                <a:ea typeface="Calibri" pitchFamily="34" charset="-122"/>
                <a:cs typeface="Calibri" pitchFamily="34" charset="-120"/>
              </a:rPr>
              <a:t>We manage your Weedmaps, Leafly, Yelp, and Google listings and ads so your dispensary gets found, clicked, and ordered from.</a:t>
            </a:r>
            <a:endParaRPr lang="en-US" sz="1800" dirty="0"/>
          </a:p>
        </p:txBody>
      </p:sp>
      <p:sp>
        <p:nvSpPr>
          <p:cNvPr id="9" name="Text 7"/>
          <p:cNvSpPr txBox="1"/>
          <p:nvPr/>
        </p:nvSpPr>
        <p:spPr>
          <a:xfrm>
            <a:off x="548640" y="4869180"/>
            <a:ext cx="8229600" cy="365760"/>
          </a:xfrm>
          <a:prstGeom prst="rect">
            <a:avLst/>
          </a:prstGeom>
          <a:noFill/>
          <a:ln/>
        </p:spPr>
        <p:txBody>
          <a:bodyPr wrap="square" lIns="0" tIns="0" rIns="0" bIns="0" rtlCol="0" anchor="t"/>
          <a:lstStyle/>
          <a:p>
            <a:pPr indent="0" marL="0">
              <a:buNone/>
            </a:pPr>
            <a:r>
              <a:rPr lang="en-US" sz="1200" dirty="0">
                <a:solidFill>
                  <a:srgbClr val="C8F04A"/>
                </a:solidFill>
                <a:latin typeface="Calibri" pitchFamily="34" charset="0"/>
                <a:ea typeface="Calibri" pitchFamily="34" charset="-122"/>
                <a:cs typeface="Calibri" pitchFamily="34" charset="-120"/>
              </a:rPr>
              <a:t>Sacramento, CA   ·   September 14, 2026   ·   Prepared for Jordan Lee, Owner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2</a:t>
            </a:r>
            <a:endParaRPr lang="en-US" sz="1000" dirty="0"/>
          </a:p>
        </p:txBody>
      </p:sp>
      <p:sp>
        <p:nvSpPr>
          <p:cNvPr id="4" name="Text 2"/>
          <p:cNvSpPr txBox="1"/>
          <p:nvPr/>
        </p:nvSpPr>
        <p:spPr>
          <a:xfrm>
            <a:off x="548640" y="502920"/>
            <a:ext cx="11094415" cy="599440"/>
          </a:xfrm>
          <a:prstGeom prst="rect">
            <a:avLst/>
          </a:prstGeom>
          <a:noFill/>
          <a:ln/>
        </p:spPr>
        <p:txBody>
          <a:bodyPr wrap="square" lIns="0" tIns="0" rIns="0" bIns="0" rtlCol="0" anchor="t"/>
          <a:lstStyle/>
          <a:p>
            <a:pPr indent="0" marL="0">
              <a:buNone/>
            </a:pPr>
            <a:r>
              <a:rPr lang="en-US" sz="3200" b="1" dirty="0">
                <a:solidFill>
                  <a:srgbClr val="0F2A1D"/>
                </a:solidFill>
                <a:latin typeface="Cambria" pitchFamily="34" charset="0"/>
                <a:ea typeface="Cambria" pitchFamily="34" charset="-122"/>
                <a:cs typeface="Cambria" pitchFamily="34" charset="-120"/>
              </a:rPr>
              <a:t>Cannabis can't market like everyone else</a:t>
            </a:r>
            <a:endParaRPr lang="en-US" sz="3200" dirty="0"/>
          </a:p>
        </p:txBody>
      </p:sp>
      <p:sp>
        <p:nvSpPr>
          <p:cNvPr id="5" name="Text 3"/>
          <p:cNvSpPr txBox="1"/>
          <p:nvPr/>
        </p:nvSpPr>
        <p:spPr>
          <a:xfrm>
            <a:off x="548640" y="12120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Ads are restricted, so the customer journey lives on four pay-to-play platforms — and most listings are left on autopilot.</a:t>
            </a:r>
            <a:endParaRPr lang="en-US" sz="1600" dirty="0"/>
          </a:p>
        </p:txBody>
      </p:sp>
      <p:sp>
        <p:nvSpPr>
          <p:cNvPr id="6" name="Shape 4"/>
          <p:cNvSpPr/>
          <p:nvPr/>
        </p:nvSpPr>
        <p:spPr>
          <a:xfrm>
            <a:off x="548640" y="2057400"/>
            <a:ext cx="2567864" cy="3566160"/>
          </a:xfrm>
          <a:prstGeom prst="roundRect">
            <a:avLst>
              <a:gd name="adj" fmla="val 4273"/>
            </a:avLst>
          </a:prstGeom>
          <a:solidFill>
            <a:srgbClr val="F4F7F2"/>
          </a:solidFill>
          <a:ln w="6350">
            <a:solidFill>
              <a:srgbClr val="F4F7F2"/>
            </a:solidFill>
            <a:prstDash val="solid"/>
          </a:ln>
        </p:spPr>
      </p:sp>
      <p:sp>
        <p:nvSpPr>
          <p:cNvPr id="7" name="Shape 5"/>
          <p:cNvSpPr/>
          <p:nvPr/>
        </p:nvSpPr>
        <p:spPr>
          <a:xfrm>
            <a:off x="822960" y="2331720"/>
            <a:ext cx="594360" cy="594360"/>
          </a:xfrm>
          <a:prstGeom prst="ellipse">
            <a:avLst/>
          </a:prstGeom>
          <a:solidFill>
            <a:srgbClr val="1F6F43"/>
          </a:solidFill>
          <a:ln w="12700">
            <a:solidFill>
              <a:srgbClr val="1F6F43"/>
            </a:solidFill>
            <a:prstDash val="solid"/>
          </a:ln>
        </p:spPr>
      </p:sp>
      <p:pic>
        <p:nvPicPr>
          <p:cNvPr id="8" name="Image 0" descr="preencoded.png">    </p:cNvPr>
          <p:cNvPicPr>
            <a:picLocks noChangeAspect="1"/>
          </p:cNvPicPr>
          <p:nvPr/>
        </p:nvPicPr>
        <p:blipFill>
          <a:blip r:embed="rId1"/>
          <a:stretch>
            <a:fillRect/>
          </a:stretch>
        </p:blipFill>
        <p:spPr>
          <a:xfrm>
            <a:off x="983437" y="2492197"/>
            <a:ext cx="273406" cy="273406"/>
          </a:xfrm>
          <a:prstGeom prst="rect">
            <a:avLst/>
          </a:prstGeom>
        </p:spPr>
      </p:pic>
      <p:sp>
        <p:nvSpPr>
          <p:cNvPr id="9" name="Text 6"/>
          <p:cNvSpPr txBox="1"/>
          <p:nvPr/>
        </p:nvSpPr>
        <p:spPr>
          <a:xfrm>
            <a:off x="822960" y="3108960"/>
            <a:ext cx="2019224" cy="548640"/>
          </a:xfrm>
          <a:prstGeom prst="rect">
            <a:avLst/>
          </a:prstGeom>
          <a:noFill/>
          <a:ln/>
        </p:spPr>
        <p:txBody>
          <a:bodyPr wrap="square" lIns="0" tIns="0" rIns="0" bIns="0" rtlCol="0" anchor="t"/>
          <a:lstStyle/>
          <a:p>
            <a:pPr indent="0" marL="0">
              <a:buNone/>
            </a:pPr>
            <a:r>
              <a:rPr lang="en-US" sz="1700" b="1" dirty="0">
                <a:solidFill>
                  <a:srgbClr val="0F2A1D"/>
                </a:solidFill>
                <a:latin typeface="Calibri" pitchFamily="34" charset="0"/>
                <a:ea typeface="Calibri" pitchFamily="34" charset="-122"/>
                <a:cs typeface="Calibri" pitchFamily="34" charset="-120"/>
              </a:rPr>
              <a:t>Restricted advertising</a:t>
            </a:r>
            <a:endParaRPr lang="en-US" sz="1700" dirty="0"/>
          </a:p>
        </p:txBody>
      </p:sp>
      <p:sp>
        <p:nvSpPr>
          <p:cNvPr id="10" name="Text 7"/>
          <p:cNvSpPr txBox="1"/>
          <p:nvPr/>
        </p:nvSpPr>
        <p:spPr>
          <a:xfrm>
            <a:off x="822960" y="3703320"/>
            <a:ext cx="2019224" cy="2011680"/>
          </a:xfrm>
          <a:prstGeom prst="rect">
            <a:avLst/>
          </a:prstGeom>
          <a:noFill/>
          <a:ln/>
        </p:spPr>
        <p:txBody>
          <a:bodyPr wrap="square" lIns="0" tIns="0" rIns="0" bIns="0" rtlCol="0" anchor="t"/>
          <a:lstStyle/>
          <a:p>
            <a:pPr indent="0" marL="0">
              <a:buNone/>
            </a:pPr>
            <a:r>
              <a:rPr lang="en-US" sz="1300" dirty="0">
                <a:solidFill>
                  <a:srgbClr val="16211B"/>
                </a:solidFill>
                <a:latin typeface="Calibri" pitchFamily="34" charset="0"/>
                <a:ea typeface="Calibri" pitchFamily="34" charset="-122"/>
                <a:cs typeface="Calibri" pitchFamily="34" charset="-120"/>
              </a:rPr>
              <a:t>Google Ads, Meta and most networks block cannabis. Discovery happens on Weedmaps, Leafly, Yelp and Google Maps.</a:t>
            </a:r>
            <a:endParaRPr lang="en-US" sz="1300" dirty="0"/>
          </a:p>
        </p:txBody>
      </p:sp>
      <p:sp>
        <p:nvSpPr>
          <p:cNvPr id="11" name="Shape 8"/>
          <p:cNvSpPr/>
          <p:nvPr/>
        </p:nvSpPr>
        <p:spPr>
          <a:xfrm>
            <a:off x="3390824" y="2057400"/>
            <a:ext cx="2567864" cy="3566160"/>
          </a:xfrm>
          <a:prstGeom prst="roundRect">
            <a:avLst>
              <a:gd name="adj" fmla="val 4273"/>
            </a:avLst>
          </a:prstGeom>
          <a:solidFill>
            <a:srgbClr val="F4F7F2"/>
          </a:solidFill>
          <a:ln w="6350">
            <a:solidFill>
              <a:srgbClr val="F4F7F2"/>
            </a:solidFill>
            <a:prstDash val="solid"/>
          </a:ln>
        </p:spPr>
      </p:sp>
      <p:sp>
        <p:nvSpPr>
          <p:cNvPr id="12" name="Shape 9"/>
          <p:cNvSpPr/>
          <p:nvPr/>
        </p:nvSpPr>
        <p:spPr>
          <a:xfrm>
            <a:off x="3665144" y="2331720"/>
            <a:ext cx="594360" cy="594360"/>
          </a:xfrm>
          <a:prstGeom prst="ellipse">
            <a:avLst/>
          </a:prstGeom>
          <a:solidFill>
            <a:srgbClr val="1F6F43"/>
          </a:solidFill>
          <a:ln w="12700">
            <a:solidFill>
              <a:srgbClr val="1F6F43"/>
            </a:solidFill>
            <a:prstDash val="solid"/>
          </a:ln>
        </p:spPr>
      </p:sp>
      <p:pic>
        <p:nvPicPr>
          <p:cNvPr id="13" name="Image 1" descr="preencoded.png">    </p:cNvPr>
          <p:cNvPicPr>
            <a:picLocks noChangeAspect="1"/>
          </p:cNvPicPr>
          <p:nvPr/>
        </p:nvPicPr>
        <p:blipFill>
          <a:blip r:embed="rId2"/>
          <a:stretch>
            <a:fillRect/>
          </a:stretch>
        </p:blipFill>
        <p:spPr>
          <a:xfrm>
            <a:off x="3825621" y="2492197"/>
            <a:ext cx="273406" cy="273406"/>
          </a:xfrm>
          <a:prstGeom prst="rect">
            <a:avLst/>
          </a:prstGeom>
        </p:spPr>
      </p:pic>
      <p:sp>
        <p:nvSpPr>
          <p:cNvPr id="14" name="Text 10"/>
          <p:cNvSpPr txBox="1"/>
          <p:nvPr/>
        </p:nvSpPr>
        <p:spPr>
          <a:xfrm>
            <a:off x="3665144" y="3108960"/>
            <a:ext cx="2019224" cy="548640"/>
          </a:xfrm>
          <a:prstGeom prst="rect">
            <a:avLst/>
          </a:prstGeom>
          <a:noFill/>
          <a:ln/>
        </p:spPr>
        <p:txBody>
          <a:bodyPr wrap="square" lIns="0" tIns="0" rIns="0" bIns="0" rtlCol="0" anchor="t"/>
          <a:lstStyle/>
          <a:p>
            <a:pPr indent="0" marL="0">
              <a:buNone/>
            </a:pPr>
            <a:r>
              <a:rPr lang="en-US" sz="1700" b="1" dirty="0">
                <a:solidFill>
                  <a:srgbClr val="0F2A1D"/>
                </a:solidFill>
                <a:latin typeface="Calibri" pitchFamily="34" charset="0"/>
                <a:ea typeface="Calibri" pitchFamily="34" charset="-122"/>
                <a:cs typeface="Calibri" pitchFamily="34" charset="-120"/>
              </a:rPr>
              <a:t>Listings decay</a:t>
            </a:r>
            <a:endParaRPr lang="en-US" sz="1700" dirty="0"/>
          </a:p>
        </p:txBody>
      </p:sp>
      <p:sp>
        <p:nvSpPr>
          <p:cNvPr id="15" name="Text 11"/>
          <p:cNvSpPr txBox="1"/>
          <p:nvPr/>
        </p:nvSpPr>
        <p:spPr>
          <a:xfrm>
            <a:off x="3665144" y="3703320"/>
            <a:ext cx="2019224" cy="2011680"/>
          </a:xfrm>
          <a:prstGeom prst="rect">
            <a:avLst/>
          </a:prstGeom>
          <a:noFill/>
          <a:ln/>
        </p:spPr>
        <p:txBody>
          <a:bodyPr wrap="square" lIns="0" tIns="0" rIns="0" bIns="0" rtlCol="0" anchor="t"/>
          <a:lstStyle/>
          <a:p>
            <a:pPr indent="0" marL="0">
              <a:buNone/>
            </a:pPr>
            <a:r>
              <a:rPr lang="en-US" sz="1300" dirty="0">
                <a:solidFill>
                  <a:srgbClr val="16211B"/>
                </a:solidFill>
                <a:latin typeface="Calibri" pitchFamily="34" charset="0"/>
                <a:ea typeface="Calibri" pitchFamily="34" charset="-122"/>
                <a:cs typeface="Calibri" pitchFamily="34" charset="-120"/>
              </a:rPr>
              <a:t>Menus drift from POS, deals expire, photos go stale, reviews sit unanswered. Every gap costs orders.</a:t>
            </a:r>
            <a:endParaRPr lang="en-US" sz="1300" dirty="0"/>
          </a:p>
        </p:txBody>
      </p:sp>
      <p:sp>
        <p:nvSpPr>
          <p:cNvPr id="16" name="Shape 12"/>
          <p:cNvSpPr/>
          <p:nvPr/>
        </p:nvSpPr>
        <p:spPr>
          <a:xfrm>
            <a:off x="6233008" y="2057400"/>
            <a:ext cx="2567864" cy="3566160"/>
          </a:xfrm>
          <a:prstGeom prst="roundRect">
            <a:avLst>
              <a:gd name="adj" fmla="val 4273"/>
            </a:avLst>
          </a:prstGeom>
          <a:solidFill>
            <a:srgbClr val="F4F7F2"/>
          </a:solidFill>
          <a:ln w="6350">
            <a:solidFill>
              <a:srgbClr val="F4F7F2"/>
            </a:solidFill>
            <a:prstDash val="solid"/>
          </a:ln>
        </p:spPr>
      </p:sp>
      <p:sp>
        <p:nvSpPr>
          <p:cNvPr id="17" name="Shape 13"/>
          <p:cNvSpPr/>
          <p:nvPr/>
        </p:nvSpPr>
        <p:spPr>
          <a:xfrm>
            <a:off x="6507328" y="2331720"/>
            <a:ext cx="594360" cy="594360"/>
          </a:xfrm>
          <a:prstGeom prst="ellipse">
            <a:avLst/>
          </a:prstGeom>
          <a:solidFill>
            <a:srgbClr val="1F6F43"/>
          </a:solidFill>
          <a:ln w="12700">
            <a:solidFill>
              <a:srgbClr val="1F6F43"/>
            </a:solidFill>
            <a:prstDash val="solid"/>
          </a:ln>
        </p:spPr>
      </p:sp>
      <p:pic>
        <p:nvPicPr>
          <p:cNvPr id="18" name="Image 2" descr="preencoded.png">    </p:cNvPr>
          <p:cNvPicPr>
            <a:picLocks noChangeAspect="1"/>
          </p:cNvPicPr>
          <p:nvPr/>
        </p:nvPicPr>
        <p:blipFill>
          <a:blip r:embed="rId3"/>
          <a:stretch>
            <a:fillRect/>
          </a:stretch>
        </p:blipFill>
        <p:spPr>
          <a:xfrm>
            <a:off x="6667805" y="2492197"/>
            <a:ext cx="273406" cy="273406"/>
          </a:xfrm>
          <a:prstGeom prst="rect">
            <a:avLst/>
          </a:prstGeom>
        </p:spPr>
      </p:pic>
      <p:sp>
        <p:nvSpPr>
          <p:cNvPr id="19" name="Text 14"/>
          <p:cNvSpPr txBox="1"/>
          <p:nvPr/>
        </p:nvSpPr>
        <p:spPr>
          <a:xfrm>
            <a:off x="6507328" y="3108960"/>
            <a:ext cx="2019224" cy="548640"/>
          </a:xfrm>
          <a:prstGeom prst="rect">
            <a:avLst/>
          </a:prstGeom>
          <a:noFill/>
          <a:ln/>
        </p:spPr>
        <p:txBody>
          <a:bodyPr wrap="square" lIns="0" tIns="0" rIns="0" bIns="0" rtlCol="0" anchor="t"/>
          <a:lstStyle/>
          <a:p>
            <a:pPr indent="0" marL="0">
              <a:buNone/>
            </a:pPr>
            <a:r>
              <a:rPr lang="en-US" sz="1700" b="1" dirty="0">
                <a:solidFill>
                  <a:srgbClr val="0F2A1D"/>
                </a:solidFill>
                <a:latin typeface="Calibri" pitchFamily="34" charset="0"/>
                <a:ea typeface="Calibri" pitchFamily="34" charset="-122"/>
                <a:cs typeface="Calibri" pitchFamily="34" charset="-120"/>
              </a:rPr>
              <a:t>Spend isn't managed</a:t>
            </a:r>
            <a:endParaRPr lang="en-US" sz="1700" dirty="0"/>
          </a:p>
        </p:txBody>
      </p:sp>
      <p:sp>
        <p:nvSpPr>
          <p:cNvPr id="20" name="Text 15"/>
          <p:cNvSpPr txBox="1"/>
          <p:nvPr/>
        </p:nvSpPr>
        <p:spPr>
          <a:xfrm>
            <a:off x="6507328" y="3703320"/>
            <a:ext cx="2019224" cy="2011680"/>
          </a:xfrm>
          <a:prstGeom prst="rect">
            <a:avLst/>
          </a:prstGeom>
          <a:noFill/>
          <a:ln/>
        </p:spPr>
        <p:txBody>
          <a:bodyPr wrap="square" lIns="0" tIns="0" rIns="0" bIns="0" rtlCol="0" anchor="t"/>
          <a:lstStyle/>
          <a:p>
            <a:pPr indent="0" marL="0">
              <a:buNone/>
            </a:pPr>
            <a:r>
              <a:rPr lang="en-US" sz="1300" dirty="0">
                <a:solidFill>
                  <a:srgbClr val="16211B"/>
                </a:solidFill>
                <a:latin typeface="Calibri" pitchFamily="34" charset="0"/>
                <a:ea typeface="Calibri" pitchFamily="34" charset="-122"/>
                <a:cs typeface="Calibri" pitchFamily="34" charset="-120"/>
              </a:rPr>
              <a:t>Budgets are set once and never optimized. Platform reps grow platform revenue, not your ROAS.</a:t>
            </a:r>
            <a:endParaRPr lang="en-US" sz="1300" dirty="0"/>
          </a:p>
        </p:txBody>
      </p:sp>
      <p:sp>
        <p:nvSpPr>
          <p:cNvPr id="21" name="Shape 16"/>
          <p:cNvSpPr/>
          <p:nvPr/>
        </p:nvSpPr>
        <p:spPr>
          <a:xfrm>
            <a:off x="9075191" y="2057400"/>
            <a:ext cx="2567864" cy="3566160"/>
          </a:xfrm>
          <a:prstGeom prst="roundRect">
            <a:avLst>
              <a:gd name="adj" fmla="val 4273"/>
            </a:avLst>
          </a:prstGeom>
          <a:solidFill>
            <a:srgbClr val="F4F7F2"/>
          </a:solidFill>
          <a:ln w="6350">
            <a:solidFill>
              <a:srgbClr val="F4F7F2"/>
            </a:solidFill>
            <a:prstDash val="solid"/>
          </a:ln>
        </p:spPr>
      </p:sp>
      <p:sp>
        <p:nvSpPr>
          <p:cNvPr id="22" name="Shape 17"/>
          <p:cNvSpPr/>
          <p:nvPr/>
        </p:nvSpPr>
        <p:spPr>
          <a:xfrm>
            <a:off x="9349511" y="2331720"/>
            <a:ext cx="594360" cy="594360"/>
          </a:xfrm>
          <a:prstGeom prst="ellipse">
            <a:avLst/>
          </a:prstGeom>
          <a:solidFill>
            <a:srgbClr val="1F6F43"/>
          </a:solidFill>
          <a:ln w="12700">
            <a:solidFill>
              <a:srgbClr val="1F6F43"/>
            </a:solidFill>
            <a:prstDash val="solid"/>
          </a:ln>
        </p:spPr>
      </p:sp>
      <p:pic>
        <p:nvPicPr>
          <p:cNvPr id="23" name="Image 3" descr="preencoded.png">    </p:cNvPr>
          <p:cNvPicPr>
            <a:picLocks noChangeAspect="1"/>
          </p:cNvPicPr>
          <p:nvPr/>
        </p:nvPicPr>
        <p:blipFill>
          <a:blip r:embed="rId4"/>
          <a:stretch>
            <a:fillRect/>
          </a:stretch>
        </p:blipFill>
        <p:spPr>
          <a:xfrm>
            <a:off x="9509989" y="2492197"/>
            <a:ext cx="273406" cy="273406"/>
          </a:xfrm>
          <a:prstGeom prst="rect">
            <a:avLst/>
          </a:prstGeom>
        </p:spPr>
      </p:pic>
      <p:sp>
        <p:nvSpPr>
          <p:cNvPr id="24" name="Text 18"/>
          <p:cNvSpPr txBox="1"/>
          <p:nvPr/>
        </p:nvSpPr>
        <p:spPr>
          <a:xfrm>
            <a:off x="9349511" y="3108960"/>
            <a:ext cx="2019224" cy="548640"/>
          </a:xfrm>
          <a:prstGeom prst="rect">
            <a:avLst/>
          </a:prstGeom>
          <a:noFill/>
          <a:ln/>
        </p:spPr>
        <p:txBody>
          <a:bodyPr wrap="square" lIns="0" tIns="0" rIns="0" bIns="0" rtlCol="0" anchor="t"/>
          <a:lstStyle/>
          <a:p>
            <a:pPr indent="0" marL="0">
              <a:buNone/>
            </a:pPr>
            <a:r>
              <a:rPr lang="en-US" sz="1700" b="1" dirty="0">
                <a:solidFill>
                  <a:srgbClr val="0F2A1D"/>
                </a:solidFill>
                <a:latin typeface="Calibri" pitchFamily="34" charset="0"/>
                <a:ea typeface="Calibri" pitchFamily="34" charset="-122"/>
                <a:cs typeface="Calibri" pitchFamily="34" charset="-120"/>
              </a:rPr>
              <a:t>Nobody owns it</a:t>
            </a:r>
            <a:endParaRPr lang="en-US" sz="1700" dirty="0"/>
          </a:p>
        </p:txBody>
      </p:sp>
      <p:sp>
        <p:nvSpPr>
          <p:cNvPr id="25" name="Text 19"/>
          <p:cNvSpPr txBox="1"/>
          <p:nvPr/>
        </p:nvSpPr>
        <p:spPr>
          <a:xfrm>
            <a:off x="9349511" y="3703320"/>
            <a:ext cx="2019224" cy="2011680"/>
          </a:xfrm>
          <a:prstGeom prst="rect">
            <a:avLst/>
          </a:prstGeom>
          <a:noFill/>
          <a:ln/>
        </p:spPr>
        <p:txBody>
          <a:bodyPr wrap="square" lIns="0" tIns="0" rIns="0" bIns="0" rtlCol="0" anchor="t"/>
          <a:lstStyle/>
          <a:p>
            <a:pPr indent="0" marL="0">
              <a:buNone/>
            </a:pPr>
            <a:r>
              <a:rPr lang="en-US" sz="1300" dirty="0">
                <a:solidFill>
                  <a:srgbClr val="16211B"/>
                </a:solidFill>
                <a:latin typeface="Calibri" pitchFamily="34" charset="0"/>
                <a:ea typeface="Calibri" pitchFamily="34" charset="-122"/>
                <a:cs typeface="Calibri" pitchFamily="34" charset="-120"/>
              </a:rPr>
              <a:t>GMs and budtenders juggle four dashboards on the side with no attribution and no accountability.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2A1D"/>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C8F04A"/>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C8F04A"/>
                </a:solidFill>
                <a:latin typeface="Calibri" pitchFamily="34" charset="0"/>
                <a:ea typeface="Calibri" pitchFamily="34" charset="-122"/>
                <a:cs typeface="Calibri" pitchFamily="34" charset="-120"/>
              </a:rPr>
              <a:t>3</a:t>
            </a:r>
            <a:endParaRPr lang="en-US" sz="1000" dirty="0"/>
          </a:p>
        </p:txBody>
      </p:sp>
      <p:sp>
        <p:nvSpPr>
          <p:cNvPr id="4" name="Text 2"/>
          <p:cNvSpPr txBox="1"/>
          <p:nvPr/>
        </p:nvSpPr>
        <p:spPr>
          <a:xfrm>
            <a:off x="548640" y="548640"/>
            <a:ext cx="5486400" cy="365760"/>
          </a:xfrm>
          <a:prstGeom prst="rect">
            <a:avLst/>
          </a:prstGeom>
          <a:noFill/>
          <a:ln/>
        </p:spPr>
        <p:txBody>
          <a:bodyPr wrap="square" lIns="0" tIns="0" rIns="0" bIns="0" rtlCol="0" anchor="t"/>
          <a:lstStyle/>
          <a:p>
            <a:pPr indent="0" marL="0">
              <a:buNone/>
            </a:pPr>
            <a:r>
              <a:rPr lang="en-US" sz="1300" b="1" spc="600" kern="0" dirty="0">
                <a:solidFill>
                  <a:srgbClr val="C8F04A"/>
                </a:solidFill>
                <a:latin typeface="Calibri" pitchFamily="34" charset="0"/>
                <a:ea typeface="Calibri" pitchFamily="34" charset="-122"/>
                <a:cs typeface="Calibri" pitchFamily="34" charset="-120"/>
              </a:rPr>
              <a:t>THE SOLUTION</a:t>
            </a:r>
            <a:endParaRPr lang="en-US" sz="1300" dirty="0"/>
          </a:p>
        </p:txBody>
      </p:sp>
      <p:sp>
        <p:nvSpPr>
          <p:cNvPr id="5" name="Text 3"/>
          <p:cNvSpPr txBox="1"/>
          <p:nvPr/>
        </p:nvSpPr>
        <p:spPr>
          <a:xfrm>
            <a:off x="548640" y="1051560"/>
            <a:ext cx="7498080" cy="228600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We run your listings and ads on every platform your customers use — and we're accountable for the orders.</a:t>
            </a:r>
            <a:endParaRPr lang="en-US" sz="3200" dirty="0"/>
          </a:p>
        </p:txBody>
      </p:sp>
      <p:sp>
        <p:nvSpPr>
          <p:cNvPr id="6" name="Text 4"/>
          <p:cNvSpPr txBox="1"/>
          <p:nvPr/>
        </p:nvSpPr>
        <p:spPr>
          <a:xfrm>
            <a:off x="548640" y="3520440"/>
            <a:ext cx="7132320" cy="1097280"/>
          </a:xfrm>
          <a:prstGeom prst="rect">
            <a:avLst/>
          </a:prstGeom>
          <a:noFill/>
          <a:ln/>
        </p:spPr>
        <p:txBody>
          <a:bodyPr wrap="square" lIns="0" tIns="0" rIns="0" bIns="0" rtlCol="0" anchor="t"/>
          <a:lstStyle/>
          <a:p>
            <a:pPr indent="0" marL="0">
              <a:buNone/>
            </a:pPr>
            <a:r>
              <a:rPr lang="en-US" sz="1600" dirty="0">
                <a:solidFill>
                  <a:srgbClr val="D9E5DD"/>
                </a:solidFill>
                <a:latin typeface="Calibri" pitchFamily="34" charset="0"/>
                <a:ea typeface="Calibri" pitchFamily="34" charset="-122"/>
                <a:cs typeface="Calibri" pitchFamily="34" charset="-120"/>
              </a:rPr>
              <a:t>Full-service listing management for dispensaries and deliveries: spend, listings, menus, reviews, deals, creative and data — handled by ex-Weedmaps operators.</a:t>
            </a:r>
            <a:endParaRPr lang="en-US" sz="1600" dirty="0"/>
          </a:p>
        </p:txBody>
      </p:sp>
      <p:sp>
        <p:nvSpPr>
          <p:cNvPr id="7" name="Shape 5"/>
          <p:cNvSpPr/>
          <p:nvPr/>
        </p:nvSpPr>
        <p:spPr>
          <a:xfrm>
            <a:off x="4556455" y="4663440"/>
            <a:ext cx="1600200" cy="1417320"/>
          </a:xfrm>
          <a:prstGeom prst="roundRect">
            <a:avLst>
              <a:gd name="adj" fmla="val 7742"/>
            </a:avLst>
          </a:prstGeom>
          <a:solidFill>
            <a:srgbClr val="1F6F43"/>
          </a:solidFill>
          <a:ln w="6350">
            <a:solidFill>
              <a:srgbClr val="1F6F43"/>
            </a:solidFill>
            <a:prstDash val="solid"/>
          </a:ln>
        </p:spPr>
      </p:sp>
      <p:pic>
        <p:nvPicPr>
          <p:cNvPr id="8" name="Image 0" descr="preencoded.png">    </p:cNvPr>
          <p:cNvPicPr>
            <a:picLocks noChangeAspect="1"/>
          </p:cNvPicPr>
          <p:nvPr/>
        </p:nvPicPr>
        <p:blipFill>
          <a:blip r:embed="rId1"/>
          <a:stretch>
            <a:fillRect/>
          </a:stretch>
        </p:blipFill>
        <p:spPr>
          <a:xfrm>
            <a:off x="5082235" y="4846320"/>
            <a:ext cx="548640" cy="548640"/>
          </a:xfrm>
          <a:prstGeom prst="rect">
            <a:avLst/>
          </a:prstGeom>
        </p:spPr>
      </p:pic>
      <p:sp>
        <p:nvSpPr>
          <p:cNvPr id="9" name="Text 6"/>
          <p:cNvSpPr txBox="1"/>
          <p:nvPr/>
        </p:nvSpPr>
        <p:spPr>
          <a:xfrm>
            <a:off x="4556455" y="5486400"/>
            <a:ext cx="1600200"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Weedmaps</a:t>
            </a:r>
            <a:endParaRPr lang="en-US" sz="1400" dirty="0"/>
          </a:p>
        </p:txBody>
      </p:sp>
      <p:sp>
        <p:nvSpPr>
          <p:cNvPr id="10" name="Shape 7"/>
          <p:cNvSpPr/>
          <p:nvPr/>
        </p:nvSpPr>
        <p:spPr>
          <a:xfrm>
            <a:off x="6385255" y="4663440"/>
            <a:ext cx="1600200" cy="1417320"/>
          </a:xfrm>
          <a:prstGeom prst="roundRect">
            <a:avLst>
              <a:gd name="adj" fmla="val 7742"/>
            </a:avLst>
          </a:prstGeom>
          <a:solidFill>
            <a:srgbClr val="1F6F43"/>
          </a:solidFill>
          <a:ln w="6350">
            <a:solidFill>
              <a:srgbClr val="1F6F43"/>
            </a:solidFill>
            <a:prstDash val="solid"/>
          </a:ln>
        </p:spPr>
      </p:sp>
      <p:pic>
        <p:nvPicPr>
          <p:cNvPr id="11" name="Image 1" descr="preencoded.png">    </p:cNvPr>
          <p:cNvPicPr>
            <a:picLocks noChangeAspect="1"/>
          </p:cNvPicPr>
          <p:nvPr/>
        </p:nvPicPr>
        <p:blipFill>
          <a:blip r:embed="rId2"/>
          <a:stretch>
            <a:fillRect/>
          </a:stretch>
        </p:blipFill>
        <p:spPr>
          <a:xfrm>
            <a:off x="6911035" y="4846320"/>
            <a:ext cx="548640" cy="548640"/>
          </a:xfrm>
          <a:prstGeom prst="rect">
            <a:avLst/>
          </a:prstGeom>
        </p:spPr>
      </p:pic>
      <p:sp>
        <p:nvSpPr>
          <p:cNvPr id="12" name="Text 8"/>
          <p:cNvSpPr txBox="1"/>
          <p:nvPr/>
        </p:nvSpPr>
        <p:spPr>
          <a:xfrm>
            <a:off x="6385255" y="5486400"/>
            <a:ext cx="1600200"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Leafly</a:t>
            </a:r>
            <a:endParaRPr lang="en-US" sz="1400" dirty="0"/>
          </a:p>
        </p:txBody>
      </p:sp>
      <p:sp>
        <p:nvSpPr>
          <p:cNvPr id="13" name="Shape 9"/>
          <p:cNvSpPr/>
          <p:nvPr/>
        </p:nvSpPr>
        <p:spPr>
          <a:xfrm>
            <a:off x="8214055" y="4663440"/>
            <a:ext cx="1600200" cy="1417320"/>
          </a:xfrm>
          <a:prstGeom prst="roundRect">
            <a:avLst>
              <a:gd name="adj" fmla="val 7742"/>
            </a:avLst>
          </a:prstGeom>
          <a:solidFill>
            <a:srgbClr val="1F6F43"/>
          </a:solidFill>
          <a:ln w="6350">
            <a:solidFill>
              <a:srgbClr val="1F6F43"/>
            </a:solidFill>
            <a:prstDash val="solid"/>
          </a:ln>
        </p:spPr>
      </p:sp>
      <p:pic>
        <p:nvPicPr>
          <p:cNvPr id="14" name="Image 2" descr="preencoded.png">    </p:cNvPr>
          <p:cNvPicPr>
            <a:picLocks noChangeAspect="1"/>
          </p:cNvPicPr>
          <p:nvPr/>
        </p:nvPicPr>
        <p:blipFill>
          <a:blip r:embed="rId3"/>
          <a:stretch>
            <a:fillRect/>
          </a:stretch>
        </p:blipFill>
        <p:spPr>
          <a:xfrm>
            <a:off x="8739835" y="4846320"/>
            <a:ext cx="548640" cy="548640"/>
          </a:xfrm>
          <a:prstGeom prst="rect">
            <a:avLst/>
          </a:prstGeom>
        </p:spPr>
      </p:pic>
      <p:sp>
        <p:nvSpPr>
          <p:cNvPr id="15" name="Text 10"/>
          <p:cNvSpPr txBox="1"/>
          <p:nvPr/>
        </p:nvSpPr>
        <p:spPr>
          <a:xfrm>
            <a:off x="8214055" y="5486400"/>
            <a:ext cx="1600200"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Yelp</a:t>
            </a:r>
            <a:endParaRPr lang="en-US" sz="1400" dirty="0"/>
          </a:p>
        </p:txBody>
      </p:sp>
      <p:sp>
        <p:nvSpPr>
          <p:cNvPr id="16" name="Shape 11"/>
          <p:cNvSpPr/>
          <p:nvPr/>
        </p:nvSpPr>
        <p:spPr>
          <a:xfrm>
            <a:off x="10042855" y="4663440"/>
            <a:ext cx="1600200" cy="1417320"/>
          </a:xfrm>
          <a:prstGeom prst="roundRect">
            <a:avLst>
              <a:gd name="adj" fmla="val 7742"/>
            </a:avLst>
          </a:prstGeom>
          <a:solidFill>
            <a:srgbClr val="1F6F43"/>
          </a:solidFill>
          <a:ln w="6350">
            <a:solidFill>
              <a:srgbClr val="1F6F43"/>
            </a:solidFill>
            <a:prstDash val="solid"/>
          </a:ln>
        </p:spPr>
      </p:sp>
      <p:pic>
        <p:nvPicPr>
          <p:cNvPr id="17" name="Image 3" descr="preencoded.png">    </p:cNvPr>
          <p:cNvPicPr>
            <a:picLocks noChangeAspect="1"/>
          </p:cNvPicPr>
          <p:nvPr/>
        </p:nvPicPr>
        <p:blipFill>
          <a:blip r:embed="rId4"/>
          <a:stretch>
            <a:fillRect/>
          </a:stretch>
        </p:blipFill>
        <p:spPr>
          <a:xfrm>
            <a:off x="10568635" y="4846320"/>
            <a:ext cx="548640" cy="548640"/>
          </a:xfrm>
          <a:prstGeom prst="rect">
            <a:avLst/>
          </a:prstGeom>
        </p:spPr>
      </p:pic>
      <p:sp>
        <p:nvSpPr>
          <p:cNvPr id="18" name="Text 12"/>
          <p:cNvSpPr txBox="1"/>
          <p:nvPr/>
        </p:nvSpPr>
        <p:spPr>
          <a:xfrm>
            <a:off x="10042855" y="5486400"/>
            <a:ext cx="1600200"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Google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4</a:t>
            </a:r>
            <a:endParaRPr lang="en-US" sz="1000" dirty="0"/>
          </a:p>
        </p:txBody>
      </p:sp>
      <p:sp>
        <p:nvSpPr>
          <p:cNvPr id="4" name="Text 2"/>
          <p:cNvSpPr txBox="1"/>
          <p:nvPr/>
        </p:nvSpPr>
        <p:spPr>
          <a:xfrm>
            <a:off x="548640" y="502920"/>
            <a:ext cx="11094415" cy="504190"/>
          </a:xfrm>
          <a:prstGeom prst="rect">
            <a:avLst/>
          </a:prstGeom>
          <a:noFill/>
          <a:ln/>
        </p:spPr>
        <p:txBody>
          <a:bodyPr wrap="square" lIns="0" tIns="0" rIns="0" bIns="0" rtlCol="0" anchor="t"/>
          <a:lstStyle/>
          <a:p>
            <a:pPr indent="0" marL="0">
              <a:buNone/>
            </a:pPr>
            <a:r>
              <a:rPr lang="en-US" sz="2600" b="1" dirty="0">
                <a:solidFill>
                  <a:srgbClr val="0F2A1D"/>
                </a:solidFill>
                <a:latin typeface="Cambria" pitchFamily="34" charset="0"/>
                <a:ea typeface="Cambria" pitchFamily="34" charset="-122"/>
                <a:cs typeface="Cambria" pitchFamily="34" charset="-120"/>
              </a:rPr>
              <a:t>Where Sacramento, CA customers find a dispensary</a:t>
            </a:r>
            <a:endParaRPr lang="en-US" sz="2600" dirty="0"/>
          </a:p>
        </p:txBody>
      </p:sp>
      <p:sp>
        <p:nvSpPr>
          <p:cNvPr id="5" name="Text 3"/>
          <p:cNvSpPr txBox="1"/>
          <p:nvPr/>
        </p:nvSpPr>
        <p:spPr>
          <a:xfrm>
            <a:off x="548640" y="111683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Market validation: the four channels that drive cannabis discovery and ordering.</a:t>
            </a:r>
            <a:endParaRPr lang="en-US" sz="1600" dirty="0"/>
          </a:p>
        </p:txBody>
      </p:sp>
      <p:sp>
        <p:nvSpPr>
          <p:cNvPr id="6" name="Shape 4"/>
          <p:cNvSpPr/>
          <p:nvPr/>
        </p:nvSpPr>
        <p:spPr>
          <a:xfrm>
            <a:off x="548640" y="2011680"/>
            <a:ext cx="7223760" cy="914400"/>
          </a:xfrm>
          <a:prstGeom prst="roundRect">
            <a:avLst>
              <a:gd name="adj" fmla="val 12000"/>
            </a:avLst>
          </a:prstGeom>
          <a:solidFill>
            <a:srgbClr val="F4F7F2"/>
          </a:solidFill>
          <a:ln w="6350">
            <a:solidFill>
              <a:srgbClr val="F4F7F2"/>
            </a:solidFill>
            <a:prstDash val="solid"/>
          </a:ln>
        </p:spPr>
      </p:sp>
      <p:sp>
        <p:nvSpPr>
          <p:cNvPr id="7" name="Shape 5"/>
          <p:cNvSpPr/>
          <p:nvPr/>
        </p:nvSpPr>
        <p:spPr>
          <a:xfrm>
            <a:off x="731520" y="2194560"/>
            <a:ext cx="548640" cy="548640"/>
          </a:xfrm>
          <a:prstGeom prst="ellipse">
            <a:avLst/>
          </a:prstGeom>
          <a:solidFill>
            <a:srgbClr val="1F6F43"/>
          </a:solidFill>
          <a:ln w="12700">
            <a:solidFill>
              <a:srgbClr val="1F6F43"/>
            </a:solidFill>
            <a:prstDash val="solid"/>
          </a:ln>
        </p:spPr>
      </p:sp>
      <p:pic>
        <p:nvPicPr>
          <p:cNvPr id="8" name="Image 0" descr="preencoded.png">    </p:cNvPr>
          <p:cNvPicPr>
            <a:picLocks noChangeAspect="1"/>
          </p:cNvPicPr>
          <p:nvPr/>
        </p:nvPicPr>
        <p:blipFill>
          <a:blip r:embed="rId1"/>
          <a:stretch>
            <a:fillRect/>
          </a:stretch>
        </p:blipFill>
        <p:spPr>
          <a:xfrm>
            <a:off x="879653" y="2342693"/>
            <a:ext cx="252374" cy="252374"/>
          </a:xfrm>
          <a:prstGeom prst="rect">
            <a:avLst/>
          </a:prstGeom>
        </p:spPr>
      </p:pic>
      <p:sp>
        <p:nvSpPr>
          <p:cNvPr id="9" name="Text 6"/>
          <p:cNvSpPr txBox="1"/>
          <p:nvPr/>
        </p:nvSpPr>
        <p:spPr>
          <a:xfrm>
            <a:off x="1463040" y="2148840"/>
            <a:ext cx="1828800" cy="320040"/>
          </a:xfrm>
          <a:prstGeom prst="rect">
            <a:avLst/>
          </a:prstGeom>
          <a:noFill/>
          <a:ln/>
        </p:spPr>
        <p:txBody>
          <a:bodyPr wrap="square" lIns="0" tIns="0" rIns="0" bIns="0" rtlCol="0" anchor="t"/>
          <a:lstStyle/>
          <a:p>
            <a:pPr indent="0" marL="0">
              <a:buNone/>
            </a:pPr>
            <a:r>
              <a:rPr lang="en-US" sz="1500" b="1" dirty="0">
                <a:solidFill>
                  <a:srgbClr val="0F2A1D"/>
                </a:solidFill>
                <a:latin typeface="Calibri" pitchFamily="34" charset="0"/>
                <a:ea typeface="Calibri" pitchFamily="34" charset="-122"/>
                <a:cs typeface="Calibri" pitchFamily="34" charset="-120"/>
              </a:rPr>
              <a:t>Weedmaps</a:t>
            </a:r>
            <a:endParaRPr lang="en-US" sz="1500" dirty="0"/>
          </a:p>
        </p:txBody>
      </p:sp>
      <p:sp>
        <p:nvSpPr>
          <p:cNvPr id="10" name="Text 7"/>
          <p:cNvSpPr txBox="1"/>
          <p:nvPr/>
        </p:nvSpPr>
        <p:spPr>
          <a:xfrm>
            <a:off x="1463040" y="2450592"/>
            <a:ext cx="6126480" cy="457200"/>
          </a:xfrm>
          <a:prstGeom prst="rect">
            <a:avLst/>
          </a:prstGeom>
          <a:noFill/>
          <a:ln/>
        </p:spPr>
        <p:txBody>
          <a:bodyPr wrap="square" lIns="0" tIns="0" rIns="0" bIns="0" rtlCol="0" anchor="t"/>
          <a:lstStyle/>
          <a:p>
            <a:pPr indent="0" marL="0">
              <a:buNone/>
            </a:pPr>
            <a:r>
              <a:rPr lang="en-US" sz="1150" dirty="0">
                <a:solidFill>
                  <a:srgbClr val="16211B"/>
                </a:solidFill>
                <a:latin typeface="Calibri" pitchFamily="34" charset="0"/>
                <a:ea typeface="Calibri" pitchFamily="34" charset="-122"/>
                <a:cs typeface="Calibri" pitchFamily="34" charset="-120"/>
              </a:rPr>
              <a:t>The largest cannabis marketplace. Auction-based placement in your service zone; menu, deals and reviews drive the order.</a:t>
            </a:r>
            <a:endParaRPr lang="en-US" sz="1150" dirty="0"/>
          </a:p>
        </p:txBody>
      </p:sp>
      <p:sp>
        <p:nvSpPr>
          <p:cNvPr id="11" name="Shape 8"/>
          <p:cNvSpPr/>
          <p:nvPr/>
        </p:nvSpPr>
        <p:spPr>
          <a:xfrm>
            <a:off x="548640" y="3063240"/>
            <a:ext cx="7223760" cy="914400"/>
          </a:xfrm>
          <a:prstGeom prst="roundRect">
            <a:avLst>
              <a:gd name="adj" fmla="val 12000"/>
            </a:avLst>
          </a:prstGeom>
          <a:solidFill>
            <a:srgbClr val="F4F7F2"/>
          </a:solidFill>
          <a:ln w="6350">
            <a:solidFill>
              <a:srgbClr val="F4F7F2"/>
            </a:solidFill>
            <a:prstDash val="solid"/>
          </a:ln>
        </p:spPr>
      </p:sp>
      <p:sp>
        <p:nvSpPr>
          <p:cNvPr id="12" name="Shape 9"/>
          <p:cNvSpPr/>
          <p:nvPr/>
        </p:nvSpPr>
        <p:spPr>
          <a:xfrm>
            <a:off x="731520" y="3246120"/>
            <a:ext cx="548640" cy="548640"/>
          </a:xfrm>
          <a:prstGeom prst="ellipse">
            <a:avLst/>
          </a:prstGeom>
          <a:solidFill>
            <a:srgbClr val="1F6F43"/>
          </a:solidFill>
          <a:ln w="12700">
            <a:solidFill>
              <a:srgbClr val="1F6F43"/>
            </a:solidFill>
            <a:prstDash val="solid"/>
          </a:ln>
        </p:spPr>
      </p:sp>
      <p:pic>
        <p:nvPicPr>
          <p:cNvPr id="13" name="Image 1" descr="preencoded.png">    </p:cNvPr>
          <p:cNvPicPr>
            <a:picLocks noChangeAspect="1"/>
          </p:cNvPicPr>
          <p:nvPr/>
        </p:nvPicPr>
        <p:blipFill>
          <a:blip r:embed="rId2"/>
          <a:stretch>
            <a:fillRect/>
          </a:stretch>
        </p:blipFill>
        <p:spPr>
          <a:xfrm>
            <a:off x="879653" y="3394253"/>
            <a:ext cx="252374" cy="252374"/>
          </a:xfrm>
          <a:prstGeom prst="rect">
            <a:avLst/>
          </a:prstGeom>
        </p:spPr>
      </p:pic>
      <p:sp>
        <p:nvSpPr>
          <p:cNvPr id="14" name="Text 10"/>
          <p:cNvSpPr txBox="1"/>
          <p:nvPr/>
        </p:nvSpPr>
        <p:spPr>
          <a:xfrm>
            <a:off x="1463040" y="3200400"/>
            <a:ext cx="1828800" cy="320040"/>
          </a:xfrm>
          <a:prstGeom prst="rect">
            <a:avLst/>
          </a:prstGeom>
          <a:noFill/>
          <a:ln/>
        </p:spPr>
        <p:txBody>
          <a:bodyPr wrap="square" lIns="0" tIns="0" rIns="0" bIns="0" rtlCol="0" anchor="t"/>
          <a:lstStyle/>
          <a:p>
            <a:pPr indent="0" marL="0">
              <a:buNone/>
            </a:pPr>
            <a:r>
              <a:rPr lang="en-US" sz="1500" b="1" dirty="0">
                <a:solidFill>
                  <a:srgbClr val="0F2A1D"/>
                </a:solidFill>
                <a:latin typeface="Calibri" pitchFamily="34" charset="0"/>
                <a:ea typeface="Calibri" pitchFamily="34" charset="-122"/>
                <a:cs typeface="Calibri" pitchFamily="34" charset="-120"/>
              </a:rPr>
              <a:t>Leafly</a:t>
            </a:r>
            <a:endParaRPr lang="en-US" sz="1500" dirty="0"/>
          </a:p>
        </p:txBody>
      </p:sp>
      <p:sp>
        <p:nvSpPr>
          <p:cNvPr id="15" name="Text 11"/>
          <p:cNvSpPr txBox="1"/>
          <p:nvPr/>
        </p:nvSpPr>
        <p:spPr>
          <a:xfrm>
            <a:off x="1463040" y="3502152"/>
            <a:ext cx="6126480" cy="457200"/>
          </a:xfrm>
          <a:prstGeom prst="rect">
            <a:avLst/>
          </a:prstGeom>
          <a:noFill/>
          <a:ln/>
        </p:spPr>
        <p:txBody>
          <a:bodyPr wrap="square" lIns="0" tIns="0" rIns="0" bIns="0" rtlCol="0" anchor="t"/>
          <a:lstStyle/>
          <a:p>
            <a:pPr indent="0" marL="0">
              <a:buNone/>
            </a:pPr>
            <a:r>
              <a:rPr lang="en-US" sz="1150" dirty="0">
                <a:solidFill>
                  <a:srgbClr val="16211B"/>
                </a:solidFill>
                <a:latin typeface="Calibri" pitchFamily="34" charset="0"/>
                <a:ea typeface="Calibri" pitchFamily="34" charset="-122"/>
                <a:cs typeface="Calibri" pitchFamily="34" charset="-120"/>
              </a:rPr>
              <a:t>Strain-led discovery and online ordering; second marketplace most customers check.</a:t>
            </a:r>
            <a:endParaRPr lang="en-US" sz="1150" dirty="0"/>
          </a:p>
        </p:txBody>
      </p:sp>
      <p:sp>
        <p:nvSpPr>
          <p:cNvPr id="16" name="Shape 12"/>
          <p:cNvSpPr/>
          <p:nvPr/>
        </p:nvSpPr>
        <p:spPr>
          <a:xfrm>
            <a:off x="548640" y="4114800"/>
            <a:ext cx="7223760" cy="914400"/>
          </a:xfrm>
          <a:prstGeom prst="roundRect">
            <a:avLst>
              <a:gd name="adj" fmla="val 12000"/>
            </a:avLst>
          </a:prstGeom>
          <a:solidFill>
            <a:srgbClr val="F4F7F2"/>
          </a:solidFill>
          <a:ln w="6350">
            <a:solidFill>
              <a:srgbClr val="F4F7F2"/>
            </a:solidFill>
            <a:prstDash val="solid"/>
          </a:ln>
        </p:spPr>
      </p:sp>
      <p:sp>
        <p:nvSpPr>
          <p:cNvPr id="17" name="Shape 13"/>
          <p:cNvSpPr/>
          <p:nvPr/>
        </p:nvSpPr>
        <p:spPr>
          <a:xfrm>
            <a:off x="731520" y="4297680"/>
            <a:ext cx="548640" cy="548640"/>
          </a:xfrm>
          <a:prstGeom prst="ellipse">
            <a:avLst/>
          </a:prstGeom>
          <a:solidFill>
            <a:srgbClr val="1F6F43"/>
          </a:solidFill>
          <a:ln w="12700">
            <a:solidFill>
              <a:srgbClr val="1F6F43"/>
            </a:solidFill>
            <a:prstDash val="solid"/>
          </a:ln>
        </p:spPr>
      </p:sp>
      <p:pic>
        <p:nvPicPr>
          <p:cNvPr id="18" name="Image 2" descr="preencoded.png">    </p:cNvPr>
          <p:cNvPicPr>
            <a:picLocks noChangeAspect="1"/>
          </p:cNvPicPr>
          <p:nvPr/>
        </p:nvPicPr>
        <p:blipFill>
          <a:blip r:embed="rId3"/>
          <a:stretch>
            <a:fillRect/>
          </a:stretch>
        </p:blipFill>
        <p:spPr>
          <a:xfrm>
            <a:off x="879653" y="4445813"/>
            <a:ext cx="252374" cy="252374"/>
          </a:xfrm>
          <a:prstGeom prst="rect">
            <a:avLst/>
          </a:prstGeom>
        </p:spPr>
      </p:pic>
      <p:sp>
        <p:nvSpPr>
          <p:cNvPr id="19" name="Text 14"/>
          <p:cNvSpPr txBox="1"/>
          <p:nvPr/>
        </p:nvSpPr>
        <p:spPr>
          <a:xfrm>
            <a:off x="1463040" y="4251960"/>
            <a:ext cx="1828800" cy="320040"/>
          </a:xfrm>
          <a:prstGeom prst="rect">
            <a:avLst/>
          </a:prstGeom>
          <a:noFill/>
          <a:ln/>
        </p:spPr>
        <p:txBody>
          <a:bodyPr wrap="square" lIns="0" tIns="0" rIns="0" bIns="0" rtlCol="0" anchor="t"/>
          <a:lstStyle/>
          <a:p>
            <a:pPr indent="0" marL="0">
              <a:buNone/>
            </a:pPr>
            <a:r>
              <a:rPr lang="en-US" sz="1500" b="1" dirty="0">
                <a:solidFill>
                  <a:srgbClr val="0F2A1D"/>
                </a:solidFill>
                <a:latin typeface="Calibri" pitchFamily="34" charset="0"/>
                <a:ea typeface="Calibri" pitchFamily="34" charset="-122"/>
                <a:cs typeface="Calibri" pitchFamily="34" charset="-120"/>
              </a:rPr>
              <a:t>Yelp</a:t>
            </a:r>
            <a:endParaRPr lang="en-US" sz="1500" dirty="0"/>
          </a:p>
        </p:txBody>
      </p:sp>
      <p:sp>
        <p:nvSpPr>
          <p:cNvPr id="20" name="Text 15"/>
          <p:cNvSpPr txBox="1"/>
          <p:nvPr/>
        </p:nvSpPr>
        <p:spPr>
          <a:xfrm>
            <a:off x="1463040" y="4553712"/>
            <a:ext cx="6126480" cy="457200"/>
          </a:xfrm>
          <a:prstGeom prst="rect">
            <a:avLst/>
          </a:prstGeom>
          <a:noFill/>
          <a:ln/>
        </p:spPr>
        <p:txBody>
          <a:bodyPr wrap="square" lIns="0" tIns="0" rIns="0" bIns="0" rtlCol="0" anchor="t"/>
          <a:lstStyle/>
          <a:p>
            <a:pPr indent="0" marL="0">
              <a:buNone/>
            </a:pPr>
            <a:r>
              <a:rPr lang="en-US" sz="1150" dirty="0">
                <a:solidFill>
                  <a:srgbClr val="16211B"/>
                </a:solidFill>
                <a:latin typeface="Calibri" pitchFamily="34" charset="0"/>
                <a:ea typeface="Calibri" pitchFamily="34" charset="-122"/>
                <a:cs typeface="Calibri" pitchFamily="34" charset="-120"/>
              </a:rPr>
              <a:t>Where reviews decide. Yelp Ads reach shoppers comparing local options; Sparks is a Yelp Ads Certified Partner.</a:t>
            </a:r>
            <a:endParaRPr lang="en-US" sz="1150" dirty="0"/>
          </a:p>
        </p:txBody>
      </p:sp>
      <p:sp>
        <p:nvSpPr>
          <p:cNvPr id="21" name="Shape 16"/>
          <p:cNvSpPr/>
          <p:nvPr/>
        </p:nvSpPr>
        <p:spPr>
          <a:xfrm>
            <a:off x="548640" y="5166360"/>
            <a:ext cx="7223760" cy="914400"/>
          </a:xfrm>
          <a:prstGeom prst="roundRect">
            <a:avLst>
              <a:gd name="adj" fmla="val 12000"/>
            </a:avLst>
          </a:prstGeom>
          <a:solidFill>
            <a:srgbClr val="F4F7F2"/>
          </a:solidFill>
          <a:ln w="6350">
            <a:solidFill>
              <a:srgbClr val="F4F7F2"/>
            </a:solidFill>
            <a:prstDash val="solid"/>
          </a:ln>
        </p:spPr>
      </p:sp>
      <p:sp>
        <p:nvSpPr>
          <p:cNvPr id="22" name="Shape 17"/>
          <p:cNvSpPr/>
          <p:nvPr/>
        </p:nvSpPr>
        <p:spPr>
          <a:xfrm>
            <a:off x="731520" y="5349240"/>
            <a:ext cx="548640" cy="548640"/>
          </a:xfrm>
          <a:prstGeom prst="ellipse">
            <a:avLst/>
          </a:prstGeom>
          <a:solidFill>
            <a:srgbClr val="1F6F43"/>
          </a:solidFill>
          <a:ln w="12700">
            <a:solidFill>
              <a:srgbClr val="1F6F43"/>
            </a:solidFill>
            <a:prstDash val="solid"/>
          </a:ln>
        </p:spPr>
      </p:sp>
      <p:pic>
        <p:nvPicPr>
          <p:cNvPr id="23" name="Image 3" descr="preencoded.png">    </p:cNvPr>
          <p:cNvPicPr>
            <a:picLocks noChangeAspect="1"/>
          </p:cNvPicPr>
          <p:nvPr/>
        </p:nvPicPr>
        <p:blipFill>
          <a:blip r:embed="rId4"/>
          <a:stretch>
            <a:fillRect/>
          </a:stretch>
        </p:blipFill>
        <p:spPr>
          <a:xfrm>
            <a:off x="879653" y="5497373"/>
            <a:ext cx="252374" cy="252374"/>
          </a:xfrm>
          <a:prstGeom prst="rect">
            <a:avLst/>
          </a:prstGeom>
        </p:spPr>
      </p:pic>
      <p:sp>
        <p:nvSpPr>
          <p:cNvPr id="24" name="Text 18"/>
          <p:cNvSpPr txBox="1"/>
          <p:nvPr/>
        </p:nvSpPr>
        <p:spPr>
          <a:xfrm>
            <a:off x="1463040" y="5303520"/>
            <a:ext cx="1828800" cy="320040"/>
          </a:xfrm>
          <a:prstGeom prst="rect">
            <a:avLst/>
          </a:prstGeom>
          <a:noFill/>
          <a:ln/>
        </p:spPr>
        <p:txBody>
          <a:bodyPr wrap="square" lIns="0" tIns="0" rIns="0" bIns="0" rtlCol="0" anchor="t"/>
          <a:lstStyle/>
          <a:p>
            <a:pPr indent="0" marL="0">
              <a:buNone/>
            </a:pPr>
            <a:r>
              <a:rPr lang="en-US" sz="1500" b="1" dirty="0">
                <a:solidFill>
                  <a:srgbClr val="0F2A1D"/>
                </a:solidFill>
                <a:latin typeface="Calibri" pitchFamily="34" charset="0"/>
                <a:ea typeface="Calibri" pitchFamily="34" charset="-122"/>
                <a:cs typeface="Calibri" pitchFamily="34" charset="-120"/>
              </a:rPr>
              <a:t>Google</a:t>
            </a:r>
            <a:endParaRPr lang="en-US" sz="1500" dirty="0"/>
          </a:p>
        </p:txBody>
      </p:sp>
      <p:sp>
        <p:nvSpPr>
          <p:cNvPr id="25" name="Text 19"/>
          <p:cNvSpPr txBox="1"/>
          <p:nvPr/>
        </p:nvSpPr>
        <p:spPr>
          <a:xfrm>
            <a:off x="1463040" y="5605272"/>
            <a:ext cx="6126480" cy="457200"/>
          </a:xfrm>
          <a:prstGeom prst="rect">
            <a:avLst/>
          </a:prstGeom>
          <a:noFill/>
          <a:ln/>
        </p:spPr>
        <p:txBody>
          <a:bodyPr wrap="square" lIns="0" tIns="0" rIns="0" bIns="0" rtlCol="0" anchor="t"/>
          <a:lstStyle/>
          <a:p>
            <a:pPr indent="0" marL="0">
              <a:buNone/>
            </a:pPr>
            <a:r>
              <a:rPr lang="en-US" sz="1150" dirty="0">
                <a:solidFill>
                  <a:srgbClr val="16211B"/>
                </a:solidFill>
                <a:latin typeface="Calibri" pitchFamily="34" charset="0"/>
                <a:ea typeface="Calibri" pitchFamily="34" charset="-122"/>
                <a:cs typeface="Calibri" pitchFamily="34" charset="-120"/>
              </a:rPr>
              <a:t>"Dispensary near me" — the Maps 3-pack, Business Profile, posts, reviews and compliant Ads.</a:t>
            </a:r>
            <a:endParaRPr lang="en-US" sz="1150" dirty="0"/>
          </a:p>
        </p:txBody>
      </p:sp>
      <p:sp>
        <p:nvSpPr>
          <p:cNvPr id="26" name="Shape 20"/>
          <p:cNvSpPr/>
          <p:nvPr/>
        </p:nvSpPr>
        <p:spPr>
          <a:xfrm>
            <a:off x="8046720" y="2011680"/>
            <a:ext cx="3596335" cy="4069080"/>
          </a:xfrm>
          <a:prstGeom prst="roundRect">
            <a:avLst>
              <a:gd name="adj" fmla="val 3051"/>
            </a:avLst>
          </a:prstGeom>
          <a:solidFill>
            <a:srgbClr val="0F2A1D"/>
          </a:solidFill>
          <a:ln w="6350">
            <a:solidFill>
              <a:srgbClr val="0F2A1D"/>
            </a:solidFill>
            <a:prstDash val="solid"/>
          </a:ln>
        </p:spPr>
      </p:sp>
      <p:sp>
        <p:nvSpPr>
          <p:cNvPr id="27" name="Text 21"/>
          <p:cNvSpPr txBox="1"/>
          <p:nvPr/>
        </p:nvSpPr>
        <p:spPr>
          <a:xfrm>
            <a:off x="8366760" y="2240280"/>
            <a:ext cx="2956255" cy="320040"/>
          </a:xfrm>
          <a:prstGeom prst="rect">
            <a:avLst/>
          </a:prstGeom>
          <a:noFill/>
          <a:ln/>
        </p:spPr>
        <p:txBody>
          <a:bodyPr wrap="square" lIns="0" tIns="0" rIns="0" bIns="0" rtlCol="0" anchor="t"/>
          <a:lstStyle/>
          <a:p>
            <a:pPr indent="0" marL="0">
              <a:buNone/>
            </a:pPr>
            <a:r>
              <a:rPr lang="en-US" sz="1100" b="1" spc="400" kern="0" dirty="0">
                <a:solidFill>
                  <a:srgbClr val="C8F04A"/>
                </a:solidFill>
                <a:latin typeface="Calibri" pitchFamily="34" charset="0"/>
                <a:ea typeface="Calibri" pitchFamily="34" charset="-122"/>
                <a:cs typeface="Calibri" pitchFamily="34" charset="-120"/>
              </a:rPr>
              <a:t>YOUR MARKET</a:t>
            </a:r>
            <a:endParaRPr lang="en-US" sz="1100" dirty="0"/>
          </a:p>
        </p:txBody>
      </p:sp>
      <p:sp>
        <p:nvSpPr>
          <p:cNvPr id="28" name="Text 22"/>
          <p:cNvSpPr txBox="1"/>
          <p:nvPr/>
        </p:nvSpPr>
        <p:spPr>
          <a:xfrm>
            <a:off x="8366760" y="2606040"/>
            <a:ext cx="2956255" cy="1005840"/>
          </a:xfrm>
          <a:prstGeom prst="rect">
            <a:avLst/>
          </a:prstGeom>
          <a:noFill/>
          <a:ln/>
        </p:spPr>
        <p:txBody>
          <a:bodyPr wrap="square" lIns="0" tIns="0" rIns="0" bIns="0" rtlCol="0" anchor="ctr"/>
          <a:lstStyle/>
          <a:p>
            <a:pPr indent="0" marL="0">
              <a:buNone/>
            </a:pPr>
            <a:r>
              <a:rPr lang="en-US" sz="6000" b="1" dirty="0">
                <a:solidFill>
                  <a:srgbClr val="C8F04A"/>
                </a:solidFill>
                <a:latin typeface="Cambria" pitchFamily="34" charset="0"/>
                <a:ea typeface="Cambria" pitchFamily="34" charset="-122"/>
                <a:cs typeface="Cambria" pitchFamily="34" charset="-120"/>
              </a:rPr>
              <a:t>8</a:t>
            </a:r>
            <a:endParaRPr lang="en-US" sz="6000" dirty="0"/>
          </a:p>
        </p:txBody>
      </p:sp>
      <p:sp>
        <p:nvSpPr>
          <p:cNvPr id="29" name="Text 23"/>
          <p:cNvSpPr txBox="1"/>
          <p:nvPr/>
        </p:nvSpPr>
        <p:spPr>
          <a:xfrm>
            <a:off x="8366760" y="3657600"/>
            <a:ext cx="2956255" cy="6400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competing dispensaries in your service zone</a:t>
            </a:r>
            <a:endParaRPr lang="en-US" sz="1300" dirty="0"/>
          </a:p>
        </p:txBody>
      </p:sp>
      <p:sp>
        <p:nvSpPr>
          <p:cNvPr id="30" name="Text 24"/>
          <p:cNvSpPr txBox="1"/>
          <p:nvPr/>
        </p:nvSpPr>
        <p:spPr>
          <a:xfrm>
            <a:off x="8366760" y="4389120"/>
            <a:ext cx="2956255" cy="155448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High-density market; Weedmaps and Google Maps drive most discovery.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5</a:t>
            </a:r>
            <a:endParaRPr lang="en-US" sz="1000" dirty="0"/>
          </a:p>
        </p:txBody>
      </p:sp>
      <p:sp>
        <p:nvSpPr>
          <p:cNvPr id="4" name="Text 2"/>
          <p:cNvSpPr txBox="1"/>
          <p:nvPr/>
        </p:nvSpPr>
        <p:spPr>
          <a:xfrm>
            <a:off x="548640" y="502920"/>
            <a:ext cx="11094415" cy="472440"/>
          </a:xfrm>
          <a:prstGeom prst="rect">
            <a:avLst/>
          </a:prstGeom>
          <a:noFill/>
          <a:ln/>
        </p:spPr>
        <p:txBody>
          <a:bodyPr wrap="square" lIns="0" tIns="0" rIns="0" bIns="0" rtlCol="0" anchor="t"/>
          <a:lstStyle/>
          <a:p>
            <a:pPr indent="0" marL="0">
              <a:buNone/>
            </a:pPr>
            <a:r>
              <a:rPr lang="en-US" sz="2400" b="1" dirty="0">
                <a:solidFill>
                  <a:srgbClr val="0F2A1D"/>
                </a:solidFill>
                <a:latin typeface="Cambria" pitchFamily="34" charset="0"/>
                <a:ea typeface="Cambria" pitchFamily="34" charset="-122"/>
                <a:cs typeface="Cambria" pitchFamily="34" charset="-120"/>
              </a:rPr>
              <a:t>What we found on Green Valley Dispensary's listings</a:t>
            </a:r>
            <a:endParaRPr lang="en-US" sz="2400" dirty="0"/>
          </a:p>
        </p:txBody>
      </p:sp>
      <p:sp>
        <p:nvSpPr>
          <p:cNvPr id="5" name="Text 3"/>
          <p:cNvSpPr txBox="1"/>
          <p:nvPr/>
        </p:nvSpPr>
        <p:spPr>
          <a:xfrm>
            <a:off x="548640" y="10850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Every row is revenue currently left on the table.</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4415" cy="914400"/>
        </p:xfrm>
        <a:graphic>
          <a:graphicData uri="http://schemas.openxmlformats.org/drawingml/2006/table">
            <a:tbl>
              <a:tblPr/>
              <a:tblGrid>
                <a:gridCol w="2286000"/>
                <a:gridCol w="4572000"/>
                <a:gridCol w="4233672"/>
              </a:tblGrid>
              <a:tr h="5486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Platform</a:t>
                      </a:r>
                      <a:endParaRPr lang="en-US" sz="130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0F2A1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we found</a:t>
                      </a:r>
                      <a:endParaRPr lang="en-US" sz="130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0F2A1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it's costing you</a:t>
                      </a:r>
                      <a:endParaRPr lang="en-US" sz="130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0F2A1D"/>
                    </a:solidFill>
                  </a:tcPr>
                </a:tc>
              </a:tr>
              <a:tr h="548640">
                <a:tc>
                  <a:txBody>
                    <a:bodyPr/>
                    <a:lstStyle/>
                    <a:p>
                      <a:pPr indent="0" marL="0">
                        <a:buNone/>
                      </a:pPr>
                      <a:r>
                        <a:rPr lang="en-US" sz="1250" b="1" dirty="0">
                          <a:solidFill>
                            <a:srgbClr val="1F6F43"/>
                          </a:solidFill>
                          <a:latin typeface="Calibri" pitchFamily="34" charset="0"/>
                          <a:ea typeface="Calibri" pitchFamily="34" charset="-122"/>
                          <a:cs typeface="Calibri" pitchFamily="34" charset="-120"/>
                        </a:rPr>
                        <a:t>Weedmaps</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4F7F2"/>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Listing live but no paid placement; 40% of menu unverified</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4F7F2"/>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Buried below 6 competitors in the service zone</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4F7F2"/>
                    </a:solidFill>
                  </a:tcPr>
                </a:tc>
              </a:tr>
              <a:tr h="548640">
                <a:tc>
                  <a:txBody>
                    <a:bodyPr/>
                    <a:lstStyle/>
                    <a:p>
                      <a:pPr indent="0" marL="0">
                        <a:buNone/>
                      </a:pPr>
                      <a:r>
                        <a:rPr lang="en-US" sz="1250" b="1" dirty="0">
                          <a:solidFill>
                            <a:srgbClr val="1F6F43"/>
                          </a:solidFill>
                          <a:latin typeface="Calibri" pitchFamily="34" charset="0"/>
                          <a:ea typeface="Calibri" pitchFamily="34" charset="-122"/>
                          <a:cs typeface="Calibri" pitchFamily="34" charset="-120"/>
                        </a:rPr>
                        <a:t>Leafly</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FFFFF"/>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Menu last synced 3 weeks ago; no deals running</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FFFFF"/>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Out-of-stock items still showing; lost orders</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FFFFF"/>
                    </a:solidFill>
                  </a:tcPr>
                </a:tc>
              </a:tr>
              <a:tr h="548640">
                <a:tc>
                  <a:txBody>
                    <a:bodyPr/>
                    <a:lstStyle/>
                    <a:p>
                      <a:pPr indent="0" marL="0">
                        <a:buNone/>
                      </a:pPr>
                      <a:r>
                        <a:rPr lang="en-US" sz="1250" b="1" dirty="0">
                          <a:solidFill>
                            <a:srgbClr val="1F6F43"/>
                          </a:solidFill>
                          <a:latin typeface="Calibri" pitchFamily="34" charset="0"/>
                          <a:ea typeface="Calibri" pitchFamily="34" charset="-122"/>
                          <a:cs typeface="Calibri" pitchFamily="34" charset="-120"/>
                        </a:rPr>
                        <a:t>Yelp</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4F7F2"/>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4 unanswered 1-star reviews; no Yelp Ads</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4F7F2"/>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3.4 rating vs 4.5 market average</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4F7F2"/>
                    </a:solidFill>
                  </a:tcPr>
                </a:tc>
              </a:tr>
              <a:tr h="548640">
                <a:tc>
                  <a:txBody>
                    <a:bodyPr/>
                    <a:lstStyle/>
                    <a:p>
                      <a:pPr indent="0" marL="0">
                        <a:buNone/>
                      </a:pPr>
                      <a:r>
                        <a:rPr lang="en-US" sz="1250" b="1" dirty="0">
                          <a:solidFill>
                            <a:srgbClr val="1F6F43"/>
                          </a:solidFill>
                          <a:latin typeface="Calibri" pitchFamily="34" charset="0"/>
                          <a:ea typeface="Calibri" pitchFamily="34" charset="-122"/>
                          <a:cs typeface="Calibri" pitchFamily="34" charset="-120"/>
                        </a:rPr>
                        <a:t>Google</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FFFFF"/>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GBP not claimed / wrong hours; 0 posts in 6 months</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FFFFF"/>
                    </a:solidFill>
                  </a:tcPr>
                </a:tc>
                <a:tc>
                  <a:txBody>
                    <a:bodyPr/>
                    <a:lstStyle/>
                    <a:p>
                      <a:pPr indent="0" marL="0">
                        <a:buNone/>
                      </a:pPr>
                      <a:r>
                        <a:rPr lang="en-US" sz="1250" dirty="0">
                          <a:solidFill>
                            <a:srgbClr val="16211B"/>
                          </a:solidFill>
                          <a:latin typeface="Calibri" pitchFamily="34" charset="0"/>
                          <a:ea typeface="Calibri" pitchFamily="34" charset="-122"/>
                          <a:cs typeface="Calibri" pitchFamily="34" charset="-120"/>
                        </a:rPr>
                        <a:t>Not in the Maps 3-pack for 'dispensary near me'</a:t>
                      </a:r>
                      <a:endParaRPr lang="en-US" sz="1250" dirty="0">
                        <a:latin typeface="Calibri" charset="0"/>
                        <a:ea typeface="Calibri" charset="0"/>
                        <a:cs typeface="Calibri" charset="0"/>
                      </a:endParaRPr>
                    </a:p>
                  </a:txBody>
                  <a:tcPr marL="137160" marR="137160" marT="73152" marB="73152"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166360"/>
            <a:ext cx="11094415" cy="1143000"/>
          </a:xfrm>
          <a:prstGeom prst="roundRect">
            <a:avLst>
              <a:gd name="adj" fmla="val 9600"/>
            </a:avLst>
          </a:prstGeom>
          <a:solidFill>
            <a:srgbClr val="0F2A1D"/>
          </a:solidFill>
          <a:ln w="6350">
            <a:solidFill>
              <a:srgbClr val="0F2A1D"/>
            </a:solidFill>
            <a:prstDash val="solid"/>
          </a:ln>
        </p:spPr>
      </p:sp>
      <p:sp>
        <p:nvSpPr>
          <p:cNvPr id="8" name="Text 5"/>
          <p:cNvSpPr txBox="1"/>
          <p:nvPr/>
        </p:nvSpPr>
        <p:spPr>
          <a:xfrm>
            <a:off x="868680" y="5349240"/>
            <a:ext cx="4114800" cy="411480"/>
          </a:xfrm>
          <a:prstGeom prst="rect">
            <a:avLst/>
          </a:prstGeom>
          <a:noFill/>
          <a:ln/>
        </p:spPr>
        <p:txBody>
          <a:bodyPr wrap="square" lIns="0" tIns="0" rIns="0" bIns="0" rtlCol="0" anchor="t"/>
          <a:lstStyle/>
          <a:p>
            <a:pPr indent="0" marL="0">
              <a:buNone/>
            </a:pPr>
            <a:r>
              <a:rPr lang="en-US" sz="1800" b="1" dirty="0">
                <a:solidFill>
                  <a:srgbClr val="C8F04A"/>
                </a:solidFill>
                <a:latin typeface="Calibri" pitchFamily="34" charset="0"/>
                <a:ea typeface="Calibri" pitchFamily="34" charset="-122"/>
                <a:cs typeface="Calibri" pitchFamily="34" charset="-120"/>
              </a:rPr>
              <a:t>4 gaps across 4 platforms</a:t>
            </a:r>
            <a:endParaRPr lang="en-US" sz="1800" dirty="0"/>
          </a:p>
        </p:txBody>
      </p:sp>
      <p:sp>
        <p:nvSpPr>
          <p:cNvPr id="9" name="Text 6"/>
          <p:cNvSpPr txBox="1"/>
          <p:nvPr/>
        </p:nvSpPr>
        <p:spPr>
          <a:xfrm>
            <a:off x="868680" y="5733288"/>
            <a:ext cx="10454335" cy="50292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Each one maps to a service in your scope (slide 7). All of them are fixed inside the first 30 days of the launch plan.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548640" y="502920"/>
            <a:ext cx="11094415" cy="535940"/>
          </a:xfrm>
          <a:prstGeom prst="rect">
            <a:avLst/>
          </a:prstGeom>
          <a:noFill/>
          <a:ln/>
        </p:spPr>
        <p:txBody>
          <a:bodyPr wrap="square" lIns="0" tIns="0" rIns="0" bIns="0" rtlCol="0" anchor="t"/>
          <a:lstStyle/>
          <a:p>
            <a:pPr indent="0" marL="0">
              <a:buNone/>
            </a:pPr>
            <a:r>
              <a:rPr lang="en-US" sz="2800" b="1" dirty="0">
                <a:solidFill>
                  <a:srgbClr val="0F2A1D"/>
                </a:solidFill>
                <a:latin typeface="Cambria" pitchFamily="34" charset="0"/>
                <a:ea typeface="Cambria" pitchFamily="34" charset="-122"/>
                <a:cs typeface="Cambria" pitchFamily="34" charset="-120"/>
              </a:rPr>
              <a:t>How it works: seven pillars on every platform</a:t>
            </a:r>
            <a:endParaRPr lang="en-US" sz="2800" dirty="0"/>
          </a:p>
        </p:txBody>
      </p:sp>
      <p:sp>
        <p:nvSpPr>
          <p:cNvPr id="5" name="Text 3"/>
          <p:cNvSpPr txBox="1"/>
          <p:nvPr/>
        </p:nvSpPr>
        <p:spPr>
          <a:xfrm>
            <a:off x="548640" y="11485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The same operating system runs on Weedmaps, Leafly, Yelp and Google.</a:t>
            </a:r>
            <a:endParaRPr lang="en-US" sz="1600" dirty="0"/>
          </a:p>
        </p:txBody>
      </p:sp>
      <p:sp>
        <p:nvSpPr>
          <p:cNvPr id="6" name="Shape 4"/>
          <p:cNvSpPr/>
          <p:nvPr/>
        </p:nvSpPr>
        <p:spPr>
          <a:xfrm>
            <a:off x="548640" y="2011680"/>
            <a:ext cx="2602154" cy="1874520"/>
          </a:xfrm>
          <a:prstGeom prst="roundRect">
            <a:avLst>
              <a:gd name="adj" fmla="val 5854"/>
            </a:avLst>
          </a:prstGeom>
          <a:solidFill>
            <a:srgbClr val="F4F7F2"/>
          </a:solidFill>
          <a:ln w="6350">
            <a:solidFill>
              <a:srgbClr val="F4F7F2"/>
            </a:solidFill>
            <a:prstDash val="solid"/>
          </a:ln>
        </p:spPr>
      </p:sp>
      <p:sp>
        <p:nvSpPr>
          <p:cNvPr id="7" name="Shape 5"/>
          <p:cNvSpPr/>
          <p:nvPr/>
        </p:nvSpPr>
        <p:spPr>
          <a:xfrm>
            <a:off x="777240" y="2240280"/>
            <a:ext cx="502920" cy="502920"/>
          </a:xfrm>
          <a:prstGeom prst="ellipse">
            <a:avLst/>
          </a:prstGeom>
          <a:solidFill>
            <a:srgbClr val="1F6F43"/>
          </a:solidFill>
          <a:ln w="12700">
            <a:solidFill>
              <a:srgbClr val="1F6F43"/>
            </a:solidFill>
            <a:prstDash val="solid"/>
          </a:ln>
        </p:spPr>
      </p:sp>
      <p:pic>
        <p:nvPicPr>
          <p:cNvPr id="8" name="Image 0" descr="preencoded.png">    </p:cNvPr>
          <p:cNvPicPr>
            <a:picLocks noChangeAspect="1"/>
          </p:cNvPicPr>
          <p:nvPr/>
        </p:nvPicPr>
        <p:blipFill>
          <a:blip r:embed="rId1"/>
          <a:stretch>
            <a:fillRect/>
          </a:stretch>
        </p:blipFill>
        <p:spPr>
          <a:xfrm>
            <a:off x="913028" y="2376068"/>
            <a:ext cx="231343" cy="231343"/>
          </a:xfrm>
          <a:prstGeom prst="rect">
            <a:avLst/>
          </a:prstGeom>
        </p:spPr>
      </p:pic>
      <p:sp>
        <p:nvSpPr>
          <p:cNvPr id="9" name="Text 6"/>
          <p:cNvSpPr txBox="1"/>
          <p:nvPr/>
        </p:nvSpPr>
        <p:spPr>
          <a:xfrm>
            <a:off x="1417320" y="2286000"/>
            <a:ext cx="155059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Spend</a:t>
            </a:r>
            <a:endParaRPr lang="en-US" sz="1600" dirty="0"/>
          </a:p>
        </p:txBody>
      </p:sp>
      <p:sp>
        <p:nvSpPr>
          <p:cNvPr id="10" name="Text 7"/>
          <p:cNvSpPr txBox="1"/>
          <p:nvPr/>
        </p:nvSpPr>
        <p:spPr>
          <a:xfrm>
            <a:off x="777240" y="2880360"/>
            <a:ext cx="2144954" cy="96012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Bid, budget and negotiate placements; optimize for ROAS, not impressions.</a:t>
            </a:r>
            <a:endParaRPr lang="en-US" sz="1200" dirty="0"/>
          </a:p>
        </p:txBody>
      </p:sp>
      <p:sp>
        <p:nvSpPr>
          <p:cNvPr id="11" name="Shape 8"/>
          <p:cNvSpPr/>
          <p:nvPr/>
        </p:nvSpPr>
        <p:spPr>
          <a:xfrm>
            <a:off x="3379394" y="2011680"/>
            <a:ext cx="2602154" cy="1874520"/>
          </a:xfrm>
          <a:prstGeom prst="roundRect">
            <a:avLst>
              <a:gd name="adj" fmla="val 5854"/>
            </a:avLst>
          </a:prstGeom>
          <a:solidFill>
            <a:srgbClr val="F4F7F2"/>
          </a:solidFill>
          <a:ln w="6350">
            <a:solidFill>
              <a:srgbClr val="F4F7F2"/>
            </a:solidFill>
            <a:prstDash val="solid"/>
          </a:ln>
        </p:spPr>
      </p:sp>
      <p:sp>
        <p:nvSpPr>
          <p:cNvPr id="12" name="Shape 9"/>
          <p:cNvSpPr/>
          <p:nvPr/>
        </p:nvSpPr>
        <p:spPr>
          <a:xfrm>
            <a:off x="3607994" y="2240280"/>
            <a:ext cx="502920" cy="502920"/>
          </a:xfrm>
          <a:prstGeom prst="ellipse">
            <a:avLst/>
          </a:prstGeom>
          <a:solidFill>
            <a:srgbClr val="1F6F43"/>
          </a:solidFill>
          <a:ln w="12700">
            <a:solidFill>
              <a:srgbClr val="1F6F43"/>
            </a:solidFill>
            <a:prstDash val="solid"/>
          </a:ln>
        </p:spPr>
      </p:sp>
      <p:pic>
        <p:nvPicPr>
          <p:cNvPr id="13" name="Image 1" descr="preencoded.png">    </p:cNvPr>
          <p:cNvPicPr>
            <a:picLocks noChangeAspect="1"/>
          </p:cNvPicPr>
          <p:nvPr/>
        </p:nvPicPr>
        <p:blipFill>
          <a:blip r:embed="rId2"/>
          <a:stretch>
            <a:fillRect/>
          </a:stretch>
        </p:blipFill>
        <p:spPr>
          <a:xfrm>
            <a:off x="3743782" y="2376068"/>
            <a:ext cx="231343" cy="231343"/>
          </a:xfrm>
          <a:prstGeom prst="rect">
            <a:avLst/>
          </a:prstGeom>
        </p:spPr>
      </p:pic>
      <p:sp>
        <p:nvSpPr>
          <p:cNvPr id="14" name="Text 10"/>
          <p:cNvSpPr txBox="1"/>
          <p:nvPr/>
        </p:nvSpPr>
        <p:spPr>
          <a:xfrm>
            <a:off x="4248074" y="2286000"/>
            <a:ext cx="155059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Listing</a:t>
            </a:r>
            <a:endParaRPr lang="en-US" sz="1600" dirty="0"/>
          </a:p>
        </p:txBody>
      </p:sp>
      <p:sp>
        <p:nvSpPr>
          <p:cNvPr id="15" name="Text 11"/>
          <p:cNvSpPr txBox="1"/>
          <p:nvPr/>
        </p:nvSpPr>
        <p:spPr>
          <a:xfrm>
            <a:off x="3607994" y="2880360"/>
            <a:ext cx="2144954" cy="96012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Hours, address, photos, attributes and Q&amp;A kept accurate and conversion-ready.</a:t>
            </a:r>
            <a:endParaRPr lang="en-US" sz="1200" dirty="0"/>
          </a:p>
        </p:txBody>
      </p:sp>
      <p:sp>
        <p:nvSpPr>
          <p:cNvPr id="16" name="Shape 12"/>
          <p:cNvSpPr/>
          <p:nvPr/>
        </p:nvSpPr>
        <p:spPr>
          <a:xfrm>
            <a:off x="6210148" y="2011680"/>
            <a:ext cx="2602154" cy="1874520"/>
          </a:xfrm>
          <a:prstGeom prst="roundRect">
            <a:avLst>
              <a:gd name="adj" fmla="val 5854"/>
            </a:avLst>
          </a:prstGeom>
          <a:solidFill>
            <a:srgbClr val="F4F7F2"/>
          </a:solidFill>
          <a:ln w="6350">
            <a:solidFill>
              <a:srgbClr val="F4F7F2"/>
            </a:solidFill>
            <a:prstDash val="solid"/>
          </a:ln>
        </p:spPr>
      </p:sp>
      <p:sp>
        <p:nvSpPr>
          <p:cNvPr id="17" name="Shape 13"/>
          <p:cNvSpPr/>
          <p:nvPr/>
        </p:nvSpPr>
        <p:spPr>
          <a:xfrm>
            <a:off x="6438748" y="2240280"/>
            <a:ext cx="502920" cy="502920"/>
          </a:xfrm>
          <a:prstGeom prst="ellipse">
            <a:avLst/>
          </a:prstGeom>
          <a:solidFill>
            <a:srgbClr val="1F6F43"/>
          </a:solidFill>
          <a:ln w="12700">
            <a:solidFill>
              <a:srgbClr val="1F6F43"/>
            </a:solidFill>
            <a:prstDash val="solid"/>
          </a:ln>
        </p:spPr>
      </p:sp>
      <p:pic>
        <p:nvPicPr>
          <p:cNvPr id="18" name="Image 2" descr="preencoded.png">    </p:cNvPr>
          <p:cNvPicPr>
            <a:picLocks noChangeAspect="1"/>
          </p:cNvPicPr>
          <p:nvPr/>
        </p:nvPicPr>
        <p:blipFill>
          <a:blip r:embed="rId3"/>
          <a:stretch>
            <a:fillRect/>
          </a:stretch>
        </p:blipFill>
        <p:spPr>
          <a:xfrm>
            <a:off x="6574536" y="2376068"/>
            <a:ext cx="231343" cy="231343"/>
          </a:xfrm>
          <a:prstGeom prst="rect">
            <a:avLst/>
          </a:prstGeom>
        </p:spPr>
      </p:pic>
      <p:sp>
        <p:nvSpPr>
          <p:cNvPr id="19" name="Text 14"/>
          <p:cNvSpPr txBox="1"/>
          <p:nvPr/>
        </p:nvSpPr>
        <p:spPr>
          <a:xfrm>
            <a:off x="7078828" y="2286000"/>
            <a:ext cx="155059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Menu</a:t>
            </a:r>
            <a:endParaRPr lang="en-US" sz="1600" dirty="0"/>
          </a:p>
        </p:txBody>
      </p:sp>
      <p:sp>
        <p:nvSpPr>
          <p:cNvPr id="20" name="Text 15"/>
          <p:cNvSpPr txBox="1"/>
          <p:nvPr/>
        </p:nvSpPr>
        <p:spPr>
          <a:xfrm>
            <a:off x="6438748" y="2880360"/>
            <a:ext cx="2144954" cy="96012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Products verified, pricing and stock synced to POS, best-sellers featured.</a:t>
            </a:r>
            <a:endParaRPr lang="en-US" sz="1200" dirty="0"/>
          </a:p>
        </p:txBody>
      </p:sp>
      <p:sp>
        <p:nvSpPr>
          <p:cNvPr id="21" name="Shape 16"/>
          <p:cNvSpPr/>
          <p:nvPr/>
        </p:nvSpPr>
        <p:spPr>
          <a:xfrm>
            <a:off x="9040901" y="2011680"/>
            <a:ext cx="2602154" cy="1874520"/>
          </a:xfrm>
          <a:prstGeom prst="roundRect">
            <a:avLst>
              <a:gd name="adj" fmla="val 5854"/>
            </a:avLst>
          </a:prstGeom>
          <a:solidFill>
            <a:srgbClr val="F4F7F2"/>
          </a:solidFill>
          <a:ln w="6350">
            <a:solidFill>
              <a:srgbClr val="F4F7F2"/>
            </a:solidFill>
            <a:prstDash val="solid"/>
          </a:ln>
        </p:spPr>
      </p:sp>
      <p:sp>
        <p:nvSpPr>
          <p:cNvPr id="22" name="Shape 17"/>
          <p:cNvSpPr/>
          <p:nvPr/>
        </p:nvSpPr>
        <p:spPr>
          <a:xfrm>
            <a:off x="9269501" y="2240280"/>
            <a:ext cx="502920" cy="502920"/>
          </a:xfrm>
          <a:prstGeom prst="ellipse">
            <a:avLst/>
          </a:prstGeom>
          <a:solidFill>
            <a:srgbClr val="1F6F43"/>
          </a:solidFill>
          <a:ln w="12700">
            <a:solidFill>
              <a:srgbClr val="1F6F43"/>
            </a:solidFill>
            <a:prstDash val="solid"/>
          </a:ln>
        </p:spPr>
      </p:sp>
      <p:pic>
        <p:nvPicPr>
          <p:cNvPr id="23" name="Image 3" descr="preencoded.png">    </p:cNvPr>
          <p:cNvPicPr>
            <a:picLocks noChangeAspect="1"/>
          </p:cNvPicPr>
          <p:nvPr/>
        </p:nvPicPr>
        <p:blipFill>
          <a:blip r:embed="rId4"/>
          <a:stretch>
            <a:fillRect/>
          </a:stretch>
        </p:blipFill>
        <p:spPr>
          <a:xfrm>
            <a:off x="9405290" y="2376068"/>
            <a:ext cx="231343" cy="231343"/>
          </a:xfrm>
          <a:prstGeom prst="rect">
            <a:avLst/>
          </a:prstGeom>
        </p:spPr>
      </p:pic>
      <p:sp>
        <p:nvSpPr>
          <p:cNvPr id="24" name="Text 18"/>
          <p:cNvSpPr txBox="1"/>
          <p:nvPr/>
        </p:nvSpPr>
        <p:spPr>
          <a:xfrm>
            <a:off x="9909581" y="2286000"/>
            <a:ext cx="155059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Reviews</a:t>
            </a:r>
            <a:endParaRPr lang="en-US" sz="1600" dirty="0"/>
          </a:p>
        </p:txBody>
      </p:sp>
      <p:sp>
        <p:nvSpPr>
          <p:cNvPr id="25" name="Text 19"/>
          <p:cNvSpPr txBox="1"/>
          <p:nvPr/>
        </p:nvSpPr>
        <p:spPr>
          <a:xfrm>
            <a:off x="9269501" y="2880360"/>
            <a:ext cx="2144954" cy="96012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Same-day responses; removal requests for guideline-breaking reviews.</a:t>
            </a:r>
            <a:endParaRPr lang="en-US" sz="1200" dirty="0"/>
          </a:p>
        </p:txBody>
      </p:sp>
      <p:sp>
        <p:nvSpPr>
          <p:cNvPr id="26" name="Shape 20"/>
          <p:cNvSpPr/>
          <p:nvPr/>
        </p:nvSpPr>
        <p:spPr>
          <a:xfrm>
            <a:off x="548640" y="4114800"/>
            <a:ext cx="2602154" cy="1874520"/>
          </a:xfrm>
          <a:prstGeom prst="roundRect">
            <a:avLst>
              <a:gd name="adj" fmla="val 5854"/>
            </a:avLst>
          </a:prstGeom>
          <a:solidFill>
            <a:srgbClr val="F4F7F2"/>
          </a:solidFill>
          <a:ln w="6350">
            <a:solidFill>
              <a:srgbClr val="F4F7F2"/>
            </a:solidFill>
            <a:prstDash val="solid"/>
          </a:ln>
        </p:spPr>
      </p:sp>
      <p:sp>
        <p:nvSpPr>
          <p:cNvPr id="27" name="Shape 21"/>
          <p:cNvSpPr/>
          <p:nvPr/>
        </p:nvSpPr>
        <p:spPr>
          <a:xfrm>
            <a:off x="777240" y="4343400"/>
            <a:ext cx="502920" cy="502920"/>
          </a:xfrm>
          <a:prstGeom prst="ellipse">
            <a:avLst/>
          </a:prstGeom>
          <a:solidFill>
            <a:srgbClr val="1F6F43"/>
          </a:solidFill>
          <a:ln w="12700">
            <a:solidFill>
              <a:srgbClr val="1F6F43"/>
            </a:solidFill>
            <a:prstDash val="solid"/>
          </a:ln>
        </p:spPr>
      </p:sp>
      <p:pic>
        <p:nvPicPr>
          <p:cNvPr id="28" name="Image 4" descr="preencoded.png">    </p:cNvPr>
          <p:cNvPicPr>
            <a:picLocks noChangeAspect="1"/>
          </p:cNvPicPr>
          <p:nvPr/>
        </p:nvPicPr>
        <p:blipFill>
          <a:blip r:embed="rId5"/>
          <a:stretch>
            <a:fillRect/>
          </a:stretch>
        </p:blipFill>
        <p:spPr>
          <a:xfrm>
            <a:off x="913028" y="4479188"/>
            <a:ext cx="231343" cy="231343"/>
          </a:xfrm>
          <a:prstGeom prst="rect">
            <a:avLst/>
          </a:prstGeom>
        </p:spPr>
      </p:pic>
      <p:sp>
        <p:nvSpPr>
          <p:cNvPr id="29" name="Text 22"/>
          <p:cNvSpPr txBox="1"/>
          <p:nvPr/>
        </p:nvSpPr>
        <p:spPr>
          <a:xfrm>
            <a:off x="1417320" y="4389120"/>
            <a:ext cx="155059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Deals</a:t>
            </a:r>
            <a:endParaRPr lang="en-US" sz="1600" dirty="0"/>
          </a:p>
        </p:txBody>
      </p:sp>
      <p:sp>
        <p:nvSpPr>
          <p:cNvPr id="30" name="Text 23"/>
          <p:cNvSpPr txBox="1"/>
          <p:nvPr/>
        </p:nvSpPr>
        <p:spPr>
          <a:xfrm>
            <a:off x="777240" y="4983480"/>
            <a:ext cx="2144954" cy="96012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Daily and monthly promos, BOGOs, events and Google Posts on every platform.</a:t>
            </a:r>
            <a:endParaRPr lang="en-US" sz="1200" dirty="0"/>
          </a:p>
        </p:txBody>
      </p:sp>
      <p:sp>
        <p:nvSpPr>
          <p:cNvPr id="31" name="Shape 24"/>
          <p:cNvSpPr/>
          <p:nvPr/>
        </p:nvSpPr>
        <p:spPr>
          <a:xfrm>
            <a:off x="3379394" y="4114800"/>
            <a:ext cx="2602154" cy="1874520"/>
          </a:xfrm>
          <a:prstGeom prst="roundRect">
            <a:avLst>
              <a:gd name="adj" fmla="val 5854"/>
            </a:avLst>
          </a:prstGeom>
          <a:solidFill>
            <a:srgbClr val="F4F7F2"/>
          </a:solidFill>
          <a:ln w="6350">
            <a:solidFill>
              <a:srgbClr val="F4F7F2"/>
            </a:solidFill>
            <a:prstDash val="solid"/>
          </a:ln>
        </p:spPr>
      </p:sp>
      <p:sp>
        <p:nvSpPr>
          <p:cNvPr id="32" name="Shape 25"/>
          <p:cNvSpPr/>
          <p:nvPr/>
        </p:nvSpPr>
        <p:spPr>
          <a:xfrm>
            <a:off x="3607994" y="4343400"/>
            <a:ext cx="502920" cy="502920"/>
          </a:xfrm>
          <a:prstGeom prst="ellipse">
            <a:avLst/>
          </a:prstGeom>
          <a:solidFill>
            <a:srgbClr val="1F6F43"/>
          </a:solidFill>
          <a:ln w="12700">
            <a:solidFill>
              <a:srgbClr val="1F6F43"/>
            </a:solidFill>
            <a:prstDash val="solid"/>
          </a:ln>
        </p:spPr>
      </p:sp>
      <p:pic>
        <p:nvPicPr>
          <p:cNvPr id="33" name="Image 5" descr="preencoded.png">    </p:cNvPr>
          <p:cNvPicPr>
            <a:picLocks noChangeAspect="1"/>
          </p:cNvPicPr>
          <p:nvPr/>
        </p:nvPicPr>
        <p:blipFill>
          <a:blip r:embed="rId6"/>
          <a:stretch>
            <a:fillRect/>
          </a:stretch>
        </p:blipFill>
        <p:spPr>
          <a:xfrm>
            <a:off x="3743782" y="4479188"/>
            <a:ext cx="231343" cy="231343"/>
          </a:xfrm>
          <a:prstGeom prst="rect">
            <a:avLst/>
          </a:prstGeom>
        </p:spPr>
      </p:pic>
      <p:sp>
        <p:nvSpPr>
          <p:cNvPr id="34" name="Text 26"/>
          <p:cNvSpPr txBox="1"/>
          <p:nvPr/>
        </p:nvSpPr>
        <p:spPr>
          <a:xfrm>
            <a:off x="4248074" y="4389120"/>
            <a:ext cx="155059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Creative</a:t>
            </a:r>
            <a:endParaRPr lang="en-US" sz="1600" dirty="0"/>
          </a:p>
        </p:txBody>
      </p:sp>
      <p:sp>
        <p:nvSpPr>
          <p:cNvPr id="35" name="Text 27"/>
          <p:cNvSpPr txBox="1"/>
          <p:nvPr/>
        </p:nvSpPr>
        <p:spPr>
          <a:xfrm>
            <a:off x="3607994" y="4983480"/>
            <a:ext cx="2144954" cy="96012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In-house graphics for every ad format and listing asset.</a:t>
            </a:r>
            <a:endParaRPr lang="en-US" sz="1200" dirty="0"/>
          </a:p>
        </p:txBody>
      </p:sp>
      <p:sp>
        <p:nvSpPr>
          <p:cNvPr id="36" name="Shape 28"/>
          <p:cNvSpPr/>
          <p:nvPr/>
        </p:nvSpPr>
        <p:spPr>
          <a:xfrm>
            <a:off x="6210148" y="4114800"/>
            <a:ext cx="2602154" cy="1874520"/>
          </a:xfrm>
          <a:prstGeom prst="roundRect">
            <a:avLst>
              <a:gd name="adj" fmla="val 5854"/>
            </a:avLst>
          </a:prstGeom>
          <a:solidFill>
            <a:srgbClr val="F4F7F2"/>
          </a:solidFill>
          <a:ln w="6350">
            <a:solidFill>
              <a:srgbClr val="F4F7F2"/>
            </a:solidFill>
            <a:prstDash val="solid"/>
          </a:ln>
        </p:spPr>
      </p:sp>
      <p:sp>
        <p:nvSpPr>
          <p:cNvPr id="37" name="Shape 29"/>
          <p:cNvSpPr/>
          <p:nvPr/>
        </p:nvSpPr>
        <p:spPr>
          <a:xfrm>
            <a:off x="6438748" y="4343400"/>
            <a:ext cx="502920" cy="502920"/>
          </a:xfrm>
          <a:prstGeom prst="ellipse">
            <a:avLst/>
          </a:prstGeom>
          <a:solidFill>
            <a:srgbClr val="1F6F43"/>
          </a:solidFill>
          <a:ln w="12700">
            <a:solidFill>
              <a:srgbClr val="1F6F43"/>
            </a:solidFill>
            <a:prstDash val="solid"/>
          </a:ln>
        </p:spPr>
      </p:sp>
      <p:pic>
        <p:nvPicPr>
          <p:cNvPr id="38" name="Image 6" descr="preencoded.png">    </p:cNvPr>
          <p:cNvPicPr>
            <a:picLocks noChangeAspect="1"/>
          </p:cNvPicPr>
          <p:nvPr/>
        </p:nvPicPr>
        <p:blipFill>
          <a:blip r:embed="rId7"/>
          <a:stretch>
            <a:fillRect/>
          </a:stretch>
        </p:blipFill>
        <p:spPr>
          <a:xfrm>
            <a:off x="6574536" y="4479188"/>
            <a:ext cx="231343" cy="231343"/>
          </a:xfrm>
          <a:prstGeom prst="rect">
            <a:avLst/>
          </a:prstGeom>
        </p:spPr>
      </p:pic>
      <p:sp>
        <p:nvSpPr>
          <p:cNvPr id="39" name="Text 30"/>
          <p:cNvSpPr txBox="1"/>
          <p:nvPr/>
        </p:nvSpPr>
        <p:spPr>
          <a:xfrm>
            <a:off x="7078828" y="4389120"/>
            <a:ext cx="155059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Data</a:t>
            </a:r>
            <a:endParaRPr lang="en-US" sz="1600" dirty="0"/>
          </a:p>
        </p:txBody>
      </p:sp>
      <p:sp>
        <p:nvSpPr>
          <p:cNvPr id="40" name="Text 31"/>
          <p:cNvSpPr txBox="1"/>
          <p:nvPr/>
        </p:nvSpPr>
        <p:spPr>
          <a:xfrm>
            <a:off x="6438748" y="4983480"/>
            <a:ext cx="2144954" cy="96012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One dashboard with POS-integrated attribution across every channel.</a:t>
            </a:r>
            <a:endParaRPr lang="en-US" sz="1200" dirty="0"/>
          </a:p>
        </p:txBody>
      </p:sp>
      <p:sp>
        <p:nvSpPr>
          <p:cNvPr id="41" name="Shape 32"/>
          <p:cNvSpPr/>
          <p:nvPr/>
        </p:nvSpPr>
        <p:spPr>
          <a:xfrm>
            <a:off x="9040901" y="4114800"/>
            <a:ext cx="2602154" cy="1874520"/>
          </a:xfrm>
          <a:prstGeom prst="roundRect">
            <a:avLst>
              <a:gd name="adj" fmla="val 5854"/>
            </a:avLst>
          </a:prstGeom>
          <a:solidFill>
            <a:srgbClr val="C8F04A"/>
          </a:solidFill>
          <a:ln w="6350">
            <a:solidFill>
              <a:srgbClr val="C8F04A"/>
            </a:solidFill>
            <a:prstDash val="solid"/>
          </a:ln>
        </p:spPr>
      </p:sp>
      <p:sp>
        <p:nvSpPr>
          <p:cNvPr id="42" name="Text 33"/>
          <p:cNvSpPr txBox="1"/>
          <p:nvPr/>
        </p:nvSpPr>
        <p:spPr>
          <a:xfrm>
            <a:off x="9269501" y="4389120"/>
            <a:ext cx="2144954" cy="41148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Guarantee</a:t>
            </a:r>
            <a:endParaRPr lang="en-US" sz="1600" dirty="0"/>
          </a:p>
        </p:txBody>
      </p:sp>
      <p:sp>
        <p:nvSpPr>
          <p:cNvPr id="43" name="Text 34"/>
          <p:cNvSpPr txBox="1"/>
          <p:nvPr/>
        </p:nvSpPr>
        <p:spPr>
          <a:xfrm>
            <a:off x="9269501" y="4892040"/>
            <a:ext cx="2144954" cy="1005840"/>
          </a:xfrm>
          <a:prstGeom prst="rect">
            <a:avLst/>
          </a:prstGeom>
          <a:noFill/>
          <a:ln/>
        </p:spPr>
        <p:txBody>
          <a:bodyPr wrap="square" lIns="0" tIns="0" rIns="0" bIns="0" rtlCol="0" anchor="t"/>
          <a:lstStyle/>
          <a:p>
            <a:pPr indent="0" marL="0">
              <a:buNone/>
            </a:pPr>
            <a:r>
              <a:rPr lang="en-US" sz="1400" b="1" dirty="0">
                <a:solidFill>
                  <a:srgbClr val="0F2A1D"/>
                </a:solidFill>
                <a:latin typeface="Calibri" pitchFamily="34" charset="0"/>
                <a:ea typeface="Calibri" pitchFamily="34" charset="-122"/>
                <a:cs typeface="Calibri" pitchFamily="34" charset="-120"/>
              </a:rPr>
              <a:t>Results in 30 days or your money back.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0F2A1D"/>
                </a:solidFill>
                <a:latin typeface="Cambria" pitchFamily="34" charset="0"/>
                <a:ea typeface="Cambria" pitchFamily="34" charset="-122"/>
                <a:cs typeface="Cambria" pitchFamily="34" charset="-120"/>
              </a:rPr>
              <a:t>Your scope of services</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What Sparks will run for Green Valley Dispensary.</a:t>
            </a:r>
            <a:endParaRPr lang="en-US" sz="1600" dirty="0"/>
          </a:p>
        </p:txBody>
      </p:sp>
      <p:sp>
        <p:nvSpPr>
          <p:cNvPr id="6" name="Shape 4"/>
          <p:cNvSpPr/>
          <p:nvPr/>
        </p:nvSpPr>
        <p:spPr>
          <a:xfrm>
            <a:off x="548640" y="1965960"/>
            <a:ext cx="11094415" cy="603504"/>
          </a:xfrm>
          <a:prstGeom prst="roundRect">
            <a:avLst>
              <a:gd name="adj" fmla="val 18182"/>
            </a:avLst>
          </a:prstGeom>
          <a:solidFill>
            <a:srgbClr val="F4F7F2"/>
          </a:solidFill>
          <a:ln w="6350">
            <a:solidFill>
              <a:srgbClr val="F4F7F2"/>
            </a:solidFill>
            <a:prstDash val="solid"/>
          </a:ln>
        </p:spPr>
      </p:sp>
      <p:sp>
        <p:nvSpPr>
          <p:cNvPr id="7" name="Shape 5"/>
          <p:cNvSpPr/>
          <p:nvPr/>
        </p:nvSpPr>
        <p:spPr>
          <a:xfrm>
            <a:off x="685800" y="2066544"/>
            <a:ext cx="402336" cy="402336"/>
          </a:xfrm>
          <a:prstGeom prst="ellipse">
            <a:avLst/>
          </a:prstGeom>
          <a:solidFill>
            <a:srgbClr val="1F6F43"/>
          </a:solidFill>
          <a:ln w="12700">
            <a:solidFill>
              <a:srgbClr val="1F6F43"/>
            </a:solidFill>
            <a:prstDash val="solid"/>
          </a:ln>
        </p:spPr>
      </p:sp>
      <p:pic>
        <p:nvPicPr>
          <p:cNvPr id="8" name="Image 0" descr="preencoded.png">    </p:cNvPr>
          <p:cNvPicPr>
            <a:picLocks noChangeAspect="1"/>
          </p:cNvPicPr>
          <p:nvPr/>
        </p:nvPicPr>
        <p:blipFill>
          <a:blip r:embed="rId1"/>
          <a:stretch>
            <a:fillRect/>
          </a:stretch>
        </p:blipFill>
        <p:spPr>
          <a:xfrm>
            <a:off x="794431" y="2175175"/>
            <a:ext cx="185075" cy="185075"/>
          </a:xfrm>
          <a:prstGeom prst="rect">
            <a:avLst/>
          </a:prstGeom>
        </p:spPr>
      </p:pic>
      <p:sp>
        <p:nvSpPr>
          <p:cNvPr id="9" name="Text 6"/>
          <p:cNvSpPr txBox="1"/>
          <p:nvPr/>
        </p:nvSpPr>
        <p:spPr>
          <a:xfrm>
            <a:off x="1234440" y="2039112"/>
            <a:ext cx="3200400" cy="457200"/>
          </a:xfrm>
          <a:prstGeom prst="rect">
            <a:avLst/>
          </a:prstGeom>
          <a:noFill/>
          <a:ln/>
        </p:spPr>
        <p:txBody>
          <a:bodyPr wrap="square" lIns="0" tIns="0" rIns="0" bIns="0" rtlCol="0" anchor="ctr"/>
          <a:lstStyle/>
          <a:p>
            <a:pPr indent="0" marL="0">
              <a:buNone/>
            </a:pPr>
            <a:r>
              <a:rPr lang="en-US" sz="1400" b="1" dirty="0">
                <a:solidFill>
                  <a:srgbClr val="0F2A1D"/>
                </a:solidFill>
                <a:latin typeface="Calibri" pitchFamily="34" charset="0"/>
                <a:ea typeface="Calibri" pitchFamily="34" charset="-122"/>
                <a:cs typeface="Calibri" pitchFamily="34" charset="-120"/>
              </a:rPr>
              <a:t>Weedmaps Management</a:t>
            </a:r>
            <a:endParaRPr lang="en-US" sz="1400" dirty="0"/>
          </a:p>
        </p:txBody>
      </p:sp>
      <p:sp>
        <p:nvSpPr>
          <p:cNvPr id="10" name="Text 7"/>
          <p:cNvSpPr txBox="1"/>
          <p:nvPr/>
        </p:nvSpPr>
        <p:spPr>
          <a:xfrm>
            <a:off x="4526280" y="2039112"/>
            <a:ext cx="5653735" cy="457200"/>
          </a:xfrm>
          <a:prstGeom prst="rect">
            <a:avLst/>
          </a:prstGeom>
          <a:noFill/>
          <a:ln/>
        </p:spPr>
        <p:txBody>
          <a:bodyPr wrap="square" lIns="0" tIns="0" rIns="0" bIns="0" rtlCol="0" anchor="ctr"/>
          <a:lstStyle/>
          <a:p>
            <a:pPr indent="0" marL="0">
              <a:buNone/>
            </a:pPr>
            <a:r>
              <a:rPr lang="en-US" sz="1100" dirty="0">
                <a:solidFill>
                  <a:srgbClr val="16211B"/>
                </a:solidFill>
                <a:latin typeface="Calibri" pitchFamily="34" charset="0"/>
                <a:ea typeface="Calibri" pitchFamily="34" charset="-122"/>
                <a:cs typeface="Calibri" pitchFamily="34" charset="-120"/>
              </a:rPr>
              <a:t>Bid strategy for top-3 placement in zone, full menu verification, weekly deal rotation, review responses, weekly reporting.</a:t>
            </a:r>
            <a:endParaRPr lang="en-US" sz="1100" dirty="0"/>
          </a:p>
        </p:txBody>
      </p:sp>
      <p:sp>
        <p:nvSpPr>
          <p:cNvPr id="11" name="Shape 8"/>
          <p:cNvSpPr/>
          <p:nvPr/>
        </p:nvSpPr>
        <p:spPr>
          <a:xfrm>
            <a:off x="10362895" y="2112264"/>
            <a:ext cx="1143000" cy="310896"/>
          </a:xfrm>
          <a:prstGeom prst="roundRect">
            <a:avLst>
              <a:gd name="adj" fmla="val 50000"/>
            </a:avLst>
          </a:prstGeom>
          <a:solidFill>
            <a:srgbClr val="C8F04A"/>
          </a:solidFill>
          <a:ln w="12700">
            <a:solidFill>
              <a:srgbClr val="C8F04A"/>
            </a:solidFill>
            <a:prstDash val="solid"/>
          </a:ln>
        </p:spPr>
      </p:sp>
      <p:sp>
        <p:nvSpPr>
          <p:cNvPr id="12" name="Text 9"/>
          <p:cNvSpPr txBox="1"/>
          <p:nvPr/>
        </p:nvSpPr>
        <p:spPr>
          <a:xfrm>
            <a:off x="10362895" y="2112264"/>
            <a:ext cx="1143000" cy="310896"/>
          </a:xfrm>
          <a:prstGeom prst="rect">
            <a:avLst/>
          </a:prstGeom>
          <a:noFill/>
          <a:ln/>
        </p:spPr>
        <p:txBody>
          <a:bodyPr wrap="square" lIns="0" tIns="0" rIns="0" bIns="0" rtlCol="0" anchor="ctr"/>
          <a:lstStyle/>
          <a:p>
            <a:pPr algn="ctr" indent="0" marL="0">
              <a:buNone/>
            </a:pPr>
            <a:r>
              <a:rPr lang="en-US" sz="950" b="1" spc="100" kern="0" dirty="0">
                <a:solidFill>
                  <a:srgbClr val="0F2A1D"/>
                </a:solidFill>
                <a:latin typeface="Calibri" pitchFamily="34" charset="0"/>
                <a:ea typeface="Calibri" pitchFamily="34" charset="-122"/>
                <a:cs typeface="Calibri" pitchFamily="34" charset="-120"/>
              </a:rPr>
              <a:t>INCLUDED</a:t>
            </a:r>
            <a:endParaRPr lang="en-US" sz="950" dirty="0"/>
          </a:p>
        </p:txBody>
      </p:sp>
      <p:sp>
        <p:nvSpPr>
          <p:cNvPr id="13" name="Shape 10"/>
          <p:cNvSpPr/>
          <p:nvPr/>
        </p:nvSpPr>
        <p:spPr>
          <a:xfrm>
            <a:off x="548640" y="2660904"/>
            <a:ext cx="11094415" cy="603504"/>
          </a:xfrm>
          <a:prstGeom prst="roundRect">
            <a:avLst>
              <a:gd name="adj" fmla="val 18182"/>
            </a:avLst>
          </a:prstGeom>
          <a:solidFill>
            <a:srgbClr val="F4F7F2"/>
          </a:solidFill>
          <a:ln w="6350">
            <a:solidFill>
              <a:srgbClr val="F4F7F2"/>
            </a:solidFill>
            <a:prstDash val="solid"/>
          </a:ln>
        </p:spPr>
      </p:sp>
      <p:sp>
        <p:nvSpPr>
          <p:cNvPr id="14" name="Shape 11"/>
          <p:cNvSpPr/>
          <p:nvPr/>
        </p:nvSpPr>
        <p:spPr>
          <a:xfrm>
            <a:off x="685800" y="2761488"/>
            <a:ext cx="402336" cy="402336"/>
          </a:xfrm>
          <a:prstGeom prst="ellipse">
            <a:avLst/>
          </a:prstGeom>
          <a:solidFill>
            <a:srgbClr val="1F6F43"/>
          </a:solidFill>
          <a:ln w="12700">
            <a:solidFill>
              <a:srgbClr val="1F6F43"/>
            </a:solidFill>
            <a:prstDash val="solid"/>
          </a:ln>
        </p:spPr>
      </p:sp>
      <p:pic>
        <p:nvPicPr>
          <p:cNvPr id="15" name="Image 1" descr="preencoded.png">    </p:cNvPr>
          <p:cNvPicPr>
            <a:picLocks noChangeAspect="1"/>
          </p:cNvPicPr>
          <p:nvPr/>
        </p:nvPicPr>
        <p:blipFill>
          <a:blip r:embed="rId2"/>
          <a:stretch>
            <a:fillRect/>
          </a:stretch>
        </p:blipFill>
        <p:spPr>
          <a:xfrm>
            <a:off x="794431" y="2870119"/>
            <a:ext cx="185075" cy="185075"/>
          </a:xfrm>
          <a:prstGeom prst="rect">
            <a:avLst/>
          </a:prstGeom>
        </p:spPr>
      </p:pic>
      <p:sp>
        <p:nvSpPr>
          <p:cNvPr id="16" name="Text 12"/>
          <p:cNvSpPr txBox="1"/>
          <p:nvPr/>
        </p:nvSpPr>
        <p:spPr>
          <a:xfrm>
            <a:off x="1234440" y="2734056"/>
            <a:ext cx="3200400" cy="457200"/>
          </a:xfrm>
          <a:prstGeom prst="rect">
            <a:avLst/>
          </a:prstGeom>
          <a:noFill/>
          <a:ln/>
        </p:spPr>
        <p:txBody>
          <a:bodyPr wrap="square" lIns="0" tIns="0" rIns="0" bIns="0" rtlCol="0" anchor="ctr"/>
          <a:lstStyle/>
          <a:p>
            <a:pPr indent="0" marL="0">
              <a:buNone/>
            </a:pPr>
            <a:r>
              <a:rPr lang="en-US" sz="1400" b="1" dirty="0">
                <a:solidFill>
                  <a:srgbClr val="0F2A1D"/>
                </a:solidFill>
                <a:latin typeface="Calibri" pitchFamily="34" charset="0"/>
                <a:ea typeface="Calibri" pitchFamily="34" charset="-122"/>
                <a:cs typeface="Calibri" pitchFamily="34" charset="-120"/>
              </a:rPr>
              <a:t>Leafly Management</a:t>
            </a:r>
            <a:endParaRPr lang="en-US" sz="1400" dirty="0"/>
          </a:p>
        </p:txBody>
      </p:sp>
      <p:sp>
        <p:nvSpPr>
          <p:cNvPr id="17" name="Text 13"/>
          <p:cNvSpPr txBox="1"/>
          <p:nvPr/>
        </p:nvSpPr>
        <p:spPr>
          <a:xfrm>
            <a:off x="4526280" y="2734056"/>
            <a:ext cx="5653735" cy="457200"/>
          </a:xfrm>
          <a:prstGeom prst="rect">
            <a:avLst/>
          </a:prstGeom>
          <a:noFill/>
          <a:ln/>
        </p:spPr>
        <p:txBody>
          <a:bodyPr wrap="square" lIns="0" tIns="0" rIns="0" bIns="0" rtlCol="0" anchor="ctr"/>
          <a:lstStyle/>
          <a:p>
            <a:pPr indent="0" marL="0">
              <a:buNone/>
            </a:pPr>
            <a:r>
              <a:rPr lang="en-US" sz="1100" dirty="0">
                <a:solidFill>
                  <a:srgbClr val="16211B"/>
                </a:solidFill>
                <a:latin typeface="Calibri" pitchFamily="34" charset="0"/>
                <a:ea typeface="Calibri" pitchFamily="34" charset="-122"/>
                <a:cs typeface="Calibri" pitchFamily="34" charset="-120"/>
              </a:rPr>
              <a:t>Menu sync with POS, Leafly ads, deal activations, review management.</a:t>
            </a:r>
            <a:endParaRPr lang="en-US" sz="1100" dirty="0"/>
          </a:p>
        </p:txBody>
      </p:sp>
      <p:sp>
        <p:nvSpPr>
          <p:cNvPr id="18" name="Shape 14"/>
          <p:cNvSpPr/>
          <p:nvPr/>
        </p:nvSpPr>
        <p:spPr>
          <a:xfrm>
            <a:off x="10362895" y="2807208"/>
            <a:ext cx="1143000" cy="310896"/>
          </a:xfrm>
          <a:prstGeom prst="roundRect">
            <a:avLst>
              <a:gd name="adj" fmla="val 50000"/>
            </a:avLst>
          </a:prstGeom>
          <a:solidFill>
            <a:srgbClr val="C8F04A"/>
          </a:solidFill>
          <a:ln w="12700">
            <a:solidFill>
              <a:srgbClr val="C8F04A"/>
            </a:solidFill>
            <a:prstDash val="solid"/>
          </a:ln>
        </p:spPr>
      </p:sp>
      <p:sp>
        <p:nvSpPr>
          <p:cNvPr id="19" name="Text 15"/>
          <p:cNvSpPr txBox="1"/>
          <p:nvPr/>
        </p:nvSpPr>
        <p:spPr>
          <a:xfrm>
            <a:off x="10362895" y="2807208"/>
            <a:ext cx="1143000" cy="310896"/>
          </a:xfrm>
          <a:prstGeom prst="rect">
            <a:avLst/>
          </a:prstGeom>
          <a:noFill/>
          <a:ln/>
        </p:spPr>
        <p:txBody>
          <a:bodyPr wrap="square" lIns="0" tIns="0" rIns="0" bIns="0" rtlCol="0" anchor="ctr"/>
          <a:lstStyle/>
          <a:p>
            <a:pPr algn="ctr" indent="0" marL="0">
              <a:buNone/>
            </a:pPr>
            <a:r>
              <a:rPr lang="en-US" sz="950" b="1" spc="100" kern="0" dirty="0">
                <a:solidFill>
                  <a:srgbClr val="0F2A1D"/>
                </a:solidFill>
                <a:latin typeface="Calibri" pitchFamily="34" charset="0"/>
                <a:ea typeface="Calibri" pitchFamily="34" charset="-122"/>
                <a:cs typeface="Calibri" pitchFamily="34" charset="-120"/>
              </a:rPr>
              <a:t>INCLUDED</a:t>
            </a:r>
            <a:endParaRPr lang="en-US" sz="950" dirty="0"/>
          </a:p>
        </p:txBody>
      </p:sp>
      <p:sp>
        <p:nvSpPr>
          <p:cNvPr id="20" name="Shape 16"/>
          <p:cNvSpPr/>
          <p:nvPr/>
        </p:nvSpPr>
        <p:spPr>
          <a:xfrm>
            <a:off x="548640" y="3355848"/>
            <a:ext cx="11094415" cy="603504"/>
          </a:xfrm>
          <a:prstGeom prst="roundRect">
            <a:avLst>
              <a:gd name="adj" fmla="val 18182"/>
            </a:avLst>
          </a:prstGeom>
          <a:solidFill>
            <a:srgbClr val="F4F7F2"/>
          </a:solidFill>
          <a:ln w="6350">
            <a:solidFill>
              <a:srgbClr val="F4F7F2"/>
            </a:solidFill>
            <a:prstDash val="solid"/>
          </a:ln>
        </p:spPr>
      </p:sp>
      <p:sp>
        <p:nvSpPr>
          <p:cNvPr id="21" name="Shape 17"/>
          <p:cNvSpPr/>
          <p:nvPr/>
        </p:nvSpPr>
        <p:spPr>
          <a:xfrm>
            <a:off x="685800" y="3456432"/>
            <a:ext cx="402336" cy="402336"/>
          </a:xfrm>
          <a:prstGeom prst="ellipse">
            <a:avLst/>
          </a:prstGeom>
          <a:solidFill>
            <a:srgbClr val="1F6F43"/>
          </a:solidFill>
          <a:ln w="12700">
            <a:solidFill>
              <a:srgbClr val="1F6F43"/>
            </a:solidFill>
            <a:prstDash val="solid"/>
          </a:ln>
        </p:spPr>
      </p:sp>
      <p:pic>
        <p:nvPicPr>
          <p:cNvPr id="22" name="Image 2" descr="preencoded.png">    </p:cNvPr>
          <p:cNvPicPr>
            <a:picLocks noChangeAspect="1"/>
          </p:cNvPicPr>
          <p:nvPr/>
        </p:nvPicPr>
        <p:blipFill>
          <a:blip r:embed="rId3"/>
          <a:stretch>
            <a:fillRect/>
          </a:stretch>
        </p:blipFill>
        <p:spPr>
          <a:xfrm>
            <a:off x="794431" y="3565063"/>
            <a:ext cx="185075" cy="185075"/>
          </a:xfrm>
          <a:prstGeom prst="rect">
            <a:avLst/>
          </a:prstGeom>
        </p:spPr>
      </p:pic>
      <p:sp>
        <p:nvSpPr>
          <p:cNvPr id="23" name="Text 18"/>
          <p:cNvSpPr txBox="1"/>
          <p:nvPr/>
        </p:nvSpPr>
        <p:spPr>
          <a:xfrm>
            <a:off x="1234440" y="3429000"/>
            <a:ext cx="3200400" cy="457200"/>
          </a:xfrm>
          <a:prstGeom prst="rect">
            <a:avLst/>
          </a:prstGeom>
          <a:noFill/>
          <a:ln/>
        </p:spPr>
        <p:txBody>
          <a:bodyPr wrap="square" lIns="0" tIns="0" rIns="0" bIns="0" rtlCol="0" anchor="ctr"/>
          <a:lstStyle/>
          <a:p>
            <a:pPr indent="0" marL="0">
              <a:buNone/>
            </a:pPr>
            <a:r>
              <a:rPr lang="en-US" sz="1400" b="1" dirty="0">
                <a:solidFill>
                  <a:srgbClr val="0F2A1D"/>
                </a:solidFill>
                <a:latin typeface="Calibri" pitchFamily="34" charset="0"/>
                <a:ea typeface="Calibri" pitchFamily="34" charset="-122"/>
                <a:cs typeface="Calibri" pitchFamily="34" charset="-120"/>
              </a:rPr>
              <a:t>Yelp Management</a:t>
            </a:r>
            <a:endParaRPr lang="en-US" sz="1400" dirty="0"/>
          </a:p>
        </p:txBody>
      </p:sp>
      <p:sp>
        <p:nvSpPr>
          <p:cNvPr id="24" name="Text 19"/>
          <p:cNvSpPr txBox="1"/>
          <p:nvPr/>
        </p:nvSpPr>
        <p:spPr>
          <a:xfrm>
            <a:off x="4526280" y="3429000"/>
            <a:ext cx="5653735" cy="457200"/>
          </a:xfrm>
          <a:prstGeom prst="rect">
            <a:avLst/>
          </a:prstGeom>
          <a:noFill/>
          <a:ln/>
        </p:spPr>
        <p:txBody>
          <a:bodyPr wrap="square" lIns="0" tIns="0" rIns="0" bIns="0" rtlCol="0" anchor="ctr"/>
          <a:lstStyle/>
          <a:p>
            <a:pPr indent="0" marL="0">
              <a:buNone/>
            </a:pPr>
            <a:r>
              <a:rPr lang="en-US" sz="1100" dirty="0">
                <a:solidFill>
                  <a:srgbClr val="16211B"/>
                </a:solidFill>
                <a:latin typeface="Calibri" pitchFamily="34" charset="0"/>
                <a:ea typeface="Calibri" pitchFamily="34" charset="-122"/>
                <a:cs typeface="Calibri" pitchFamily="34" charset="-120"/>
              </a:rPr>
              <a:t>Yelp Ads (Certified Partner), profile optimization, review responses and removal requests, lead tracking.</a:t>
            </a:r>
            <a:endParaRPr lang="en-US" sz="1100" dirty="0"/>
          </a:p>
        </p:txBody>
      </p:sp>
      <p:sp>
        <p:nvSpPr>
          <p:cNvPr id="25" name="Shape 20"/>
          <p:cNvSpPr/>
          <p:nvPr/>
        </p:nvSpPr>
        <p:spPr>
          <a:xfrm>
            <a:off x="10362895" y="3502152"/>
            <a:ext cx="1143000" cy="310896"/>
          </a:xfrm>
          <a:prstGeom prst="roundRect">
            <a:avLst>
              <a:gd name="adj" fmla="val 50000"/>
            </a:avLst>
          </a:prstGeom>
          <a:solidFill>
            <a:srgbClr val="C8F04A"/>
          </a:solidFill>
          <a:ln w="12700">
            <a:solidFill>
              <a:srgbClr val="C8F04A"/>
            </a:solidFill>
            <a:prstDash val="solid"/>
          </a:ln>
        </p:spPr>
      </p:sp>
      <p:sp>
        <p:nvSpPr>
          <p:cNvPr id="26" name="Text 21"/>
          <p:cNvSpPr txBox="1"/>
          <p:nvPr/>
        </p:nvSpPr>
        <p:spPr>
          <a:xfrm>
            <a:off x="10362895" y="3502152"/>
            <a:ext cx="1143000" cy="310896"/>
          </a:xfrm>
          <a:prstGeom prst="rect">
            <a:avLst/>
          </a:prstGeom>
          <a:noFill/>
          <a:ln/>
        </p:spPr>
        <p:txBody>
          <a:bodyPr wrap="square" lIns="0" tIns="0" rIns="0" bIns="0" rtlCol="0" anchor="ctr"/>
          <a:lstStyle/>
          <a:p>
            <a:pPr algn="ctr" indent="0" marL="0">
              <a:buNone/>
            </a:pPr>
            <a:r>
              <a:rPr lang="en-US" sz="950" b="1" spc="100" kern="0" dirty="0">
                <a:solidFill>
                  <a:srgbClr val="0F2A1D"/>
                </a:solidFill>
                <a:latin typeface="Calibri" pitchFamily="34" charset="0"/>
                <a:ea typeface="Calibri" pitchFamily="34" charset="-122"/>
                <a:cs typeface="Calibri" pitchFamily="34" charset="-120"/>
              </a:rPr>
              <a:t>INCLUDED</a:t>
            </a:r>
            <a:endParaRPr lang="en-US" sz="950" dirty="0"/>
          </a:p>
        </p:txBody>
      </p:sp>
      <p:sp>
        <p:nvSpPr>
          <p:cNvPr id="27" name="Shape 22"/>
          <p:cNvSpPr/>
          <p:nvPr/>
        </p:nvSpPr>
        <p:spPr>
          <a:xfrm>
            <a:off x="548640" y="4050792"/>
            <a:ext cx="11094415" cy="603504"/>
          </a:xfrm>
          <a:prstGeom prst="roundRect">
            <a:avLst>
              <a:gd name="adj" fmla="val 18182"/>
            </a:avLst>
          </a:prstGeom>
          <a:solidFill>
            <a:srgbClr val="F4F7F2"/>
          </a:solidFill>
          <a:ln w="6350">
            <a:solidFill>
              <a:srgbClr val="F4F7F2"/>
            </a:solidFill>
            <a:prstDash val="solid"/>
          </a:ln>
        </p:spPr>
      </p:sp>
      <p:sp>
        <p:nvSpPr>
          <p:cNvPr id="28" name="Shape 23"/>
          <p:cNvSpPr/>
          <p:nvPr/>
        </p:nvSpPr>
        <p:spPr>
          <a:xfrm>
            <a:off x="685800" y="4151376"/>
            <a:ext cx="402336" cy="402336"/>
          </a:xfrm>
          <a:prstGeom prst="ellipse">
            <a:avLst/>
          </a:prstGeom>
          <a:solidFill>
            <a:srgbClr val="1F6F43"/>
          </a:solidFill>
          <a:ln w="12700">
            <a:solidFill>
              <a:srgbClr val="1F6F43"/>
            </a:solidFill>
            <a:prstDash val="solid"/>
          </a:ln>
        </p:spPr>
      </p:sp>
      <p:pic>
        <p:nvPicPr>
          <p:cNvPr id="29" name="Image 3" descr="preencoded.png">    </p:cNvPr>
          <p:cNvPicPr>
            <a:picLocks noChangeAspect="1"/>
          </p:cNvPicPr>
          <p:nvPr/>
        </p:nvPicPr>
        <p:blipFill>
          <a:blip r:embed="rId4"/>
          <a:stretch>
            <a:fillRect/>
          </a:stretch>
        </p:blipFill>
        <p:spPr>
          <a:xfrm>
            <a:off x="794431" y="4260007"/>
            <a:ext cx="185075" cy="185075"/>
          </a:xfrm>
          <a:prstGeom prst="rect">
            <a:avLst/>
          </a:prstGeom>
        </p:spPr>
      </p:pic>
      <p:sp>
        <p:nvSpPr>
          <p:cNvPr id="30" name="Text 24"/>
          <p:cNvSpPr txBox="1"/>
          <p:nvPr/>
        </p:nvSpPr>
        <p:spPr>
          <a:xfrm>
            <a:off x="1234440" y="4123944"/>
            <a:ext cx="3200400" cy="457200"/>
          </a:xfrm>
          <a:prstGeom prst="rect">
            <a:avLst/>
          </a:prstGeom>
          <a:noFill/>
          <a:ln/>
        </p:spPr>
        <p:txBody>
          <a:bodyPr wrap="square" lIns="0" tIns="0" rIns="0" bIns="0" rtlCol="0" anchor="ctr"/>
          <a:lstStyle/>
          <a:p>
            <a:pPr indent="0" marL="0">
              <a:buNone/>
            </a:pPr>
            <a:r>
              <a:rPr lang="en-US" sz="1400" b="1" dirty="0">
                <a:solidFill>
                  <a:srgbClr val="0F2A1D"/>
                </a:solidFill>
                <a:latin typeface="Calibri" pitchFamily="34" charset="0"/>
                <a:ea typeface="Calibri" pitchFamily="34" charset="-122"/>
                <a:cs typeface="Calibri" pitchFamily="34" charset="-120"/>
              </a:rPr>
              <a:t>Google (GBP) Management</a:t>
            </a:r>
            <a:endParaRPr lang="en-US" sz="1400" dirty="0"/>
          </a:p>
        </p:txBody>
      </p:sp>
      <p:sp>
        <p:nvSpPr>
          <p:cNvPr id="31" name="Text 25"/>
          <p:cNvSpPr txBox="1"/>
          <p:nvPr/>
        </p:nvSpPr>
        <p:spPr>
          <a:xfrm>
            <a:off x="4526280" y="4123944"/>
            <a:ext cx="5653735" cy="457200"/>
          </a:xfrm>
          <a:prstGeom prst="rect">
            <a:avLst/>
          </a:prstGeom>
          <a:noFill/>
          <a:ln/>
        </p:spPr>
        <p:txBody>
          <a:bodyPr wrap="square" lIns="0" tIns="0" rIns="0" bIns="0" rtlCol="0" anchor="ctr"/>
          <a:lstStyle/>
          <a:p>
            <a:pPr indent="0" marL="0">
              <a:buNone/>
            </a:pPr>
            <a:r>
              <a:rPr lang="en-US" sz="1100" dirty="0">
                <a:solidFill>
                  <a:srgbClr val="16211B"/>
                </a:solidFill>
                <a:latin typeface="Calibri" pitchFamily="34" charset="0"/>
                <a:ea typeface="Calibri" pitchFamily="34" charset="-122"/>
                <a:cs typeface="Calibri" pitchFamily="34" charset="-120"/>
              </a:rPr>
              <a:t>Claim &amp; optimize GBP, weekly Google Posts, photo refresh, Q&amp;A, review response. Target: Maps 3-pack in 90 days.</a:t>
            </a:r>
            <a:endParaRPr lang="en-US" sz="1100" dirty="0"/>
          </a:p>
        </p:txBody>
      </p:sp>
      <p:sp>
        <p:nvSpPr>
          <p:cNvPr id="32" name="Shape 26"/>
          <p:cNvSpPr/>
          <p:nvPr/>
        </p:nvSpPr>
        <p:spPr>
          <a:xfrm>
            <a:off x="10362895" y="4197096"/>
            <a:ext cx="1143000" cy="310896"/>
          </a:xfrm>
          <a:prstGeom prst="roundRect">
            <a:avLst>
              <a:gd name="adj" fmla="val 50000"/>
            </a:avLst>
          </a:prstGeom>
          <a:solidFill>
            <a:srgbClr val="C8F04A"/>
          </a:solidFill>
          <a:ln w="12700">
            <a:solidFill>
              <a:srgbClr val="C8F04A"/>
            </a:solidFill>
            <a:prstDash val="solid"/>
          </a:ln>
        </p:spPr>
      </p:sp>
      <p:sp>
        <p:nvSpPr>
          <p:cNvPr id="33" name="Text 27"/>
          <p:cNvSpPr txBox="1"/>
          <p:nvPr/>
        </p:nvSpPr>
        <p:spPr>
          <a:xfrm>
            <a:off x="10362895" y="4197096"/>
            <a:ext cx="1143000" cy="310896"/>
          </a:xfrm>
          <a:prstGeom prst="rect">
            <a:avLst/>
          </a:prstGeom>
          <a:noFill/>
          <a:ln/>
        </p:spPr>
        <p:txBody>
          <a:bodyPr wrap="square" lIns="0" tIns="0" rIns="0" bIns="0" rtlCol="0" anchor="ctr"/>
          <a:lstStyle/>
          <a:p>
            <a:pPr algn="ctr" indent="0" marL="0">
              <a:buNone/>
            </a:pPr>
            <a:r>
              <a:rPr lang="en-US" sz="950" b="1" spc="100" kern="0" dirty="0">
                <a:solidFill>
                  <a:srgbClr val="0F2A1D"/>
                </a:solidFill>
                <a:latin typeface="Calibri" pitchFamily="34" charset="0"/>
                <a:ea typeface="Calibri" pitchFamily="34" charset="-122"/>
                <a:cs typeface="Calibri" pitchFamily="34" charset="-120"/>
              </a:rPr>
              <a:t>INCLUDED</a:t>
            </a:r>
            <a:endParaRPr lang="en-US" sz="950" dirty="0"/>
          </a:p>
        </p:txBody>
      </p:sp>
      <p:sp>
        <p:nvSpPr>
          <p:cNvPr id="34" name="Shape 28"/>
          <p:cNvSpPr/>
          <p:nvPr/>
        </p:nvSpPr>
        <p:spPr>
          <a:xfrm>
            <a:off x="548640" y="4745736"/>
            <a:ext cx="11094415" cy="603504"/>
          </a:xfrm>
          <a:prstGeom prst="roundRect">
            <a:avLst>
              <a:gd name="adj" fmla="val 18182"/>
            </a:avLst>
          </a:prstGeom>
          <a:solidFill>
            <a:srgbClr val="F4F7F2"/>
          </a:solidFill>
          <a:ln w="6350">
            <a:solidFill>
              <a:srgbClr val="F4F7F2"/>
            </a:solidFill>
            <a:prstDash val="solid"/>
          </a:ln>
        </p:spPr>
      </p:sp>
      <p:sp>
        <p:nvSpPr>
          <p:cNvPr id="35" name="Shape 29"/>
          <p:cNvSpPr/>
          <p:nvPr/>
        </p:nvSpPr>
        <p:spPr>
          <a:xfrm>
            <a:off x="685800" y="4846320"/>
            <a:ext cx="402336" cy="402336"/>
          </a:xfrm>
          <a:prstGeom prst="ellipse">
            <a:avLst/>
          </a:prstGeom>
          <a:solidFill>
            <a:srgbClr val="1F6F43"/>
          </a:solidFill>
          <a:ln w="12700">
            <a:solidFill>
              <a:srgbClr val="1F6F43"/>
            </a:solidFill>
            <a:prstDash val="solid"/>
          </a:ln>
        </p:spPr>
      </p:sp>
      <p:pic>
        <p:nvPicPr>
          <p:cNvPr id="36" name="Image 4" descr="preencoded.png">    </p:cNvPr>
          <p:cNvPicPr>
            <a:picLocks noChangeAspect="1"/>
          </p:cNvPicPr>
          <p:nvPr/>
        </p:nvPicPr>
        <p:blipFill>
          <a:blip r:embed="rId5"/>
          <a:stretch>
            <a:fillRect/>
          </a:stretch>
        </p:blipFill>
        <p:spPr>
          <a:xfrm>
            <a:off x="794431" y="4954951"/>
            <a:ext cx="185075" cy="185075"/>
          </a:xfrm>
          <a:prstGeom prst="rect">
            <a:avLst/>
          </a:prstGeom>
        </p:spPr>
      </p:pic>
      <p:sp>
        <p:nvSpPr>
          <p:cNvPr id="37" name="Text 30"/>
          <p:cNvSpPr txBox="1"/>
          <p:nvPr/>
        </p:nvSpPr>
        <p:spPr>
          <a:xfrm>
            <a:off x="1234440" y="4818888"/>
            <a:ext cx="3200400" cy="457200"/>
          </a:xfrm>
          <a:prstGeom prst="rect">
            <a:avLst/>
          </a:prstGeom>
          <a:noFill/>
          <a:ln/>
        </p:spPr>
        <p:txBody>
          <a:bodyPr wrap="square" lIns="0" tIns="0" rIns="0" bIns="0" rtlCol="0" anchor="ctr"/>
          <a:lstStyle/>
          <a:p>
            <a:pPr indent="0" marL="0">
              <a:buNone/>
            </a:pPr>
            <a:r>
              <a:rPr lang="en-US" sz="1400" b="1" dirty="0">
                <a:solidFill>
                  <a:srgbClr val="0F2A1D"/>
                </a:solidFill>
                <a:latin typeface="Calibri" pitchFamily="34" charset="0"/>
                <a:ea typeface="Calibri" pitchFamily="34" charset="-122"/>
                <a:cs typeface="Calibri" pitchFamily="34" charset="-120"/>
              </a:rPr>
              <a:t>Local SEO</a:t>
            </a:r>
            <a:endParaRPr lang="en-US" sz="1400" dirty="0"/>
          </a:p>
        </p:txBody>
      </p:sp>
      <p:sp>
        <p:nvSpPr>
          <p:cNvPr id="38" name="Text 31"/>
          <p:cNvSpPr txBox="1"/>
          <p:nvPr/>
        </p:nvSpPr>
        <p:spPr>
          <a:xfrm>
            <a:off x="4526280" y="4818888"/>
            <a:ext cx="5653735" cy="457200"/>
          </a:xfrm>
          <a:prstGeom prst="rect">
            <a:avLst/>
          </a:prstGeom>
          <a:noFill/>
          <a:ln/>
        </p:spPr>
        <p:txBody>
          <a:bodyPr wrap="square" lIns="0" tIns="0" rIns="0" bIns="0" rtlCol="0" anchor="ctr"/>
          <a:lstStyle/>
          <a:p>
            <a:pPr indent="0" marL="0">
              <a:buNone/>
            </a:pPr>
            <a:r>
              <a:rPr lang="en-US" sz="1100" dirty="0">
                <a:solidFill>
                  <a:srgbClr val="16211B"/>
                </a:solidFill>
                <a:latin typeface="Calibri" pitchFamily="34" charset="0"/>
                <a:ea typeface="Calibri" pitchFamily="34" charset="-122"/>
                <a:cs typeface="Calibri" pitchFamily="34" charset="-120"/>
              </a:rPr>
              <a:t>NAP cleanup and citations across 50+ directories, voice-assistant visibility.</a:t>
            </a:r>
            <a:endParaRPr lang="en-US" sz="1100" dirty="0"/>
          </a:p>
        </p:txBody>
      </p:sp>
      <p:sp>
        <p:nvSpPr>
          <p:cNvPr id="39" name="Shape 32"/>
          <p:cNvSpPr/>
          <p:nvPr/>
        </p:nvSpPr>
        <p:spPr>
          <a:xfrm>
            <a:off x="10362895" y="4892040"/>
            <a:ext cx="1143000" cy="310896"/>
          </a:xfrm>
          <a:prstGeom prst="roundRect">
            <a:avLst>
              <a:gd name="adj" fmla="val 50000"/>
            </a:avLst>
          </a:prstGeom>
          <a:solidFill>
            <a:srgbClr val="C8F04A"/>
          </a:solidFill>
          <a:ln w="12700">
            <a:solidFill>
              <a:srgbClr val="C8F04A"/>
            </a:solidFill>
            <a:prstDash val="solid"/>
          </a:ln>
        </p:spPr>
      </p:sp>
      <p:sp>
        <p:nvSpPr>
          <p:cNvPr id="40" name="Text 33"/>
          <p:cNvSpPr txBox="1"/>
          <p:nvPr/>
        </p:nvSpPr>
        <p:spPr>
          <a:xfrm>
            <a:off x="10362895" y="4892040"/>
            <a:ext cx="1143000" cy="310896"/>
          </a:xfrm>
          <a:prstGeom prst="rect">
            <a:avLst/>
          </a:prstGeom>
          <a:noFill/>
          <a:ln/>
        </p:spPr>
        <p:txBody>
          <a:bodyPr wrap="square" lIns="0" tIns="0" rIns="0" bIns="0" rtlCol="0" anchor="ctr"/>
          <a:lstStyle/>
          <a:p>
            <a:pPr algn="ctr" indent="0" marL="0">
              <a:buNone/>
            </a:pPr>
            <a:r>
              <a:rPr lang="en-US" sz="950" b="1" spc="100" kern="0" dirty="0">
                <a:solidFill>
                  <a:srgbClr val="0F2A1D"/>
                </a:solidFill>
                <a:latin typeface="Calibri" pitchFamily="34" charset="0"/>
                <a:ea typeface="Calibri" pitchFamily="34" charset="-122"/>
                <a:cs typeface="Calibri" pitchFamily="34" charset="-120"/>
              </a:rPr>
              <a:t>INCLUDED</a:t>
            </a:r>
            <a:endParaRPr lang="en-US" sz="950" dirty="0"/>
          </a:p>
        </p:txBody>
      </p:sp>
      <p:sp>
        <p:nvSpPr>
          <p:cNvPr id="41" name="Shape 34"/>
          <p:cNvSpPr/>
          <p:nvPr/>
        </p:nvSpPr>
        <p:spPr>
          <a:xfrm>
            <a:off x="548640" y="5440680"/>
            <a:ext cx="11094415" cy="603504"/>
          </a:xfrm>
          <a:prstGeom prst="roundRect">
            <a:avLst>
              <a:gd name="adj" fmla="val 18182"/>
            </a:avLst>
          </a:prstGeom>
          <a:solidFill>
            <a:srgbClr val="F4F7F2"/>
          </a:solidFill>
          <a:ln w="6350">
            <a:solidFill>
              <a:srgbClr val="F4F7F2"/>
            </a:solidFill>
            <a:prstDash val="solid"/>
          </a:ln>
        </p:spPr>
      </p:sp>
      <p:sp>
        <p:nvSpPr>
          <p:cNvPr id="42" name="Shape 35"/>
          <p:cNvSpPr/>
          <p:nvPr/>
        </p:nvSpPr>
        <p:spPr>
          <a:xfrm>
            <a:off x="685800" y="5541264"/>
            <a:ext cx="402336" cy="402336"/>
          </a:xfrm>
          <a:prstGeom prst="ellipse">
            <a:avLst/>
          </a:prstGeom>
          <a:solidFill>
            <a:srgbClr val="1F6F43"/>
          </a:solidFill>
          <a:ln w="12700">
            <a:solidFill>
              <a:srgbClr val="1F6F43"/>
            </a:solidFill>
            <a:prstDash val="solid"/>
          </a:ln>
        </p:spPr>
      </p:sp>
      <p:pic>
        <p:nvPicPr>
          <p:cNvPr id="43" name="Image 5" descr="preencoded.png">    </p:cNvPr>
          <p:cNvPicPr>
            <a:picLocks noChangeAspect="1"/>
          </p:cNvPicPr>
          <p:nvPr/>
        </p:nvPicPr>
        <p:blipFill>
          <a:blip r:embed="rId6"/>
          <a:stretch>
            <a:fillRect/>
          </a:stretch>
        </p:blipFill>
        <p:spPr>
          <a:xfrm>
            <a:off x="794431" y="5649895"/>
            <a:ext cx="185075" cy="185075"/>
          </a:xfrm>
          <a:prstGeom prst="rect">
            <a:avLst/>
          </a:prstGeom>
        </p:spPr>
      </p:pic>
      <p:sp>
        <p:nvSpPr>
          <p:cNvPr id="44" name="Text 36"/>
          <p:cNvSpPr txBox="1"/>
          <p:nvPr/>
        </p:nvSpPr>
        <p:spPr>
          <a:xfrm>
            <a:off x="1234440" y="5513832"/>
            <a:ext cx="3200400" cy="457200"/>
          </a:xfrm>
          <a:prstGeom prst="rect">
            <a:avLst/>
          </a:prstGeom>
          <a:noFill/>
          <a:ln/>
        </p:spPr>
        <p:txBody>
          <a:bodyPr wrap="square" lIns="0" tIns="0" rIns="0" bIns="0" rtlCol="0" anchor="ctr"/>
          <a:lstStyle/>
          <a:p>
            <a:pPr indent="0" marL="0">
              <a:buNone/>
            </a:pPr>
            <a:r>
              <a:rPr lang="en-US" sz="1400" b="1" dirty="0">
                <a:solidFill>
                  <a:srgbClr val="0F2A1D"/>
                </a:solidFill>
                <a:latin typeface="Calibri" pitchFamily="34" charset="0"/>
                <a:ea typeface="Calibri" pitchFamily="34" charset="-122"/>
                <a:cs typeface="Calibri" pitchFamily="34" charset="-120"/>
              </a:rPr>
              <a:t>Programmatic Advertising</a:t>
            </a:r>
            <a:endParaRPr lang="en-US" sz="1400" dirty="0"/>
          </a:p>
        </p:txBody>
      </p:sp>
      <p:sp>
        <p:nvSpPr>
          <p:cNvPr id="45" name="Text 37"/>
          <p:cNvSpPr txBox="1"/>
          <p:nvPr/>
        </p:nvSpPr>
        <p:spPr>
          <a:xfrm>
            <a:off x="4526280" y="5513832"/>
            <a:ext cx="5653735" cy="457200"/>
          </a:xfrm>
          <a:prstGeom prst="rect">
            <a:avLst/>
          </a:prstGeom>
          <a:noFill/>
          <a:ln/>
        </p:spPr>
        <p:txBody>
          <a:bodyPr wrap="square" lIns="0" tIns="0" rIns="0" bIns="0" rtlCol="0" anchor="ctr"/>
          <a:lstStyle/>
          <a:p>
            <a:pPr indent="0" marL="0">
              <a:buNone/>
            </a:pPr>
            <a:r>
              <a:rPr lang="en-US" sz="1100" dirty="0">
                <a:solidFill>
                  <a:srgbClr val="16211B"/>
                </a:solidFill>
                <a:latin typeface="Calibri" pitchFamily="34" charset="0"/>
                <a:ea typeface="Calibri" pitchFamily="34" charset="-122"/>
                <a:cs typeface="Calibri" pitchFamily="34" charset="-120"/>
              </a:rPr>
              <a:t>Geo-fenced display + CTV within 5 miles via compliant DSPs; retargeting listing visitors.</a:t>
            </a:r>
            <a:endParaRPr lang="en-US" sz="1100" dirty="0"/>
          </a:p>
        </p:txBody>
      </p:sp>
      <p:sp>
        <p:nvSpPr>
          <p:cNvPr id="46" name="Shape 38"/>
          <p:cNvSpPr/>
          <p:nvPr/>
        </p:nvSpPr>
        <p:spPr>
          <a:xfrm>
            <a:off x="10362895" y="5586984"/>
            <a:ext cx="1143000" cy="310896"/>
          </a:xfrm>
          <a:prstGeom prst="roundRect">
            <a:avLst>
              <a:gd name="adj" fmla="val 50000"/>
            </a:avLst>
          </a:prstGeom>
          <a:solidFill>
            <a:srgbClr val="C8F04A"/>
          </a:solidFill>
          <a:ln w="12700">
            <a:solidFill>
              <a:srgbClr val="C8F04A"/>
            </a:solidFill>
            <a:prstDash val="solid"/>
          </a:ln>
        </p:spPr>
      </p:sp>
      <p:sp>
        <p:nvSpPr>
          <p:cNvPr id="47" name="Text 39"/>
          <p:cNvSpPr txBox="1"/>
          <p:nvPr/>
        </p:nvSpPr>
        <p:spPr>
          <a:xfrm>
            <a:off x="10362895" y="5586984"/>
            <a:ext cx="1143000" cy="310896"/>
          </a:xfrm>
          <a:prstGeom prst="rect">
            <a:avLst/>
          </a:prstGeom>
          <a:noFill/>
          <a:ln/>
        </p:spPr>
        <p:txBody>
          <a:bodyPr wrap="square" lIns="0" tIns="0" rIns="0" bIns="0" rtlCol="0" anchor="ctr"/>
          <a:lstStyle/>
          <a:p>
            <a:pPr algn="ctr" indent="0" marL="0">
              <a:buNone/>
            </a:pPr>
            <a:r>
              <a:rPr lang="en-US" sz="950" b="1" spc="100" kern="0" dirty="0">
                <a:solidFill>
                  <a:srgbClr val="0F2A1D"/>
                </a:solidFill>
                <a:latin typeface="Calibri" pitchFamily="34" charset="0"/>
                <a:ea typeface="Calibri" pitchFamily="34" charset="-122"/>
                <a:cs typeface="Calibri" pitchFamily="34" charset="-120"/>
              </a:rPr>
              <a:t>INCLUDED</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2A1D"/>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C8F04A"/>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C8F04A"/>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The results our clients see</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C8F04A"/>
                </a:solidFill>
                <a:latin typeface="Calibri" pitchFamily="34" charset="0"/>
                <a:ea typeface="Calibri" pitchFamily="34" charset="-122"/>
                <a:cs typeface="Calibri" pitchFamily="34" charset="-120"/>
              </a:rPr>
              <a:t>Averages across Sparks-managed accounts.</a:t>
            </a:r>
            <a:endParaRPr lang="en-US" sz="1600" dirty="0"/>
          </a:p>
        </p:txBody>
      </p:sp>
      <p:sp>
        <p:nvSpPr>
          <p:cNvPr id="6" name="Shape 4"/>
          <p:cNvSpPr/>
          <p:nvPr/>
        </p:nvSpPr>
        <p:spPr>
          <a:xfrm>
            <a:off x="548640" y="2194560"/>
            <a:ext cx="2567864" cy="3108960"/>
          </a:xfrm>
          <a:prstGeom prst="roundRect">
            <a:avLst>
              <a:gd name="adj" fmla="val 4273"/>
            </a:avLst>
          </a:prstGeom>
          <a:solidFill>
            <a:srgbClr val="163826"/>
          </a:solidFill>
          <a:ln w="6350">
            <a:solidFill>
              <a:srgbClr val="163826"/>
            </a:solidFill>
            <a:prstDash val="solid"/>
          </a:ln>
        </p:spPr>
      </p:sp>
      <p:sp>
        <p:nvSpPr>
          <p:cNvPr id="7" name="Text 5"/>
          <p:cNvSpPr txBox="1"/>
          <p:nvPr/>
        </p:nvSpPr>
        <p:spPr>
          <a:xfrm>
            <a:off x="822960" y="2423160"/>
            <a:ext cx="2202104" cy="1280160"/>
          </a:xfrm>
          <a:prstGeom prst="rect">
            <a:avLst/>
          </a:prstGeom>
          <a:noFill/>
          <a:ln/>
        </p:spPr>
        <p:txBody>
          <a:bodyPr wrap="square" lIns="0" tIns="0" rIns="0" bIns="0" rtlCol="0" anchor="t"/>
          <a:lstStyle/>
          <a:p>
            <a:pPr indent="0" marL="0">
              <a:buNone/>
            </a:pPr>
            <a:r>
              <a:rPr lang="en-US" sz="5000" b="1" dirty="0">
                <a:solidFill>
                  <a:srgbClr val="C8F04A"/>
                </a:solidFill>
                <a:latin typeface="Cambria" pitchFamily="34" charset="0"/>
                <a:ea typeface="Cambria" pitchFamily="34" charset="-122"/>
                <a:cs typeface="Cambria" pitchFamily="34" charset="-120"/>
              </a:rPr>
              <a:t>88%</a:t>
            </a:r>
            <a:endParaRPr lang="en-US" sz="5000" dirty="0"/>
          </a:p>
        </p:txBody>
      </p:sp>
      <p:sp>
        <p:nvSpPr>
          <p:cNvPr id="8" name="Text 6"/>
          <p:cNvSpPr txBox="1"/>
          <p:nvPr/>
        </p:nvSpPr>
        <p:spPr>
          <a:xfrm>
            <a:off x="822960" y="3794760"/>
            <a:ext cx="2019224" cy="12801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avg. increase in order conversions in the first 90 days</a:t>
            </a:r>
            <a:endParaRPr lang="en-US" sz="1400" dirty="0"/>
          </a:p>
        </p:txBody>
      </p:sp>
      <p:sp>
        <p:nvSpPr>
          <p:cNvPr id="9" name="Shape 7"/>
          <p:cNvSpPr/>
          <p:nvPr/>
        </p:nvSpPr>
        <p:spPr>
          <a:xfrm>
            <a:off x="3390824" y="2194560"/>
            <a:ext cx="2567864" cy="3108960"/>
          </a:xfrm>
          <a:prstGeom prst="roundRect">
            <a:avLst>
              <a:gd name="adj" fmla="val 4273"/>
            </a:avLst>
          </a:prstGeom>
          <a:solidFill>
            <a:srgbClr val="163826"/>
          </a:solidFill>
          <a:ln w="6350">
            <a:solidFill>
              <a:srgbClr val="163826"/>
            </a:solidFill>
            <a:prstDash val="solid"/>
          </a:ln>
        </p:spPr>
      </p:sp>
      <p:sp>
        <p:nvSpPr>
          <p:cNvPr id="10" name="Text 8"/>
          <p:cNvSpPr txBox="1"/>
          <p:nvPr/>
        </p:nvSpPr>
        <p:spPr>
          <a:xfrm>
            <a:off x="3665144" y="2423160"/>
            <a:ext cx="2202104" cy="1280160"/>
          </a:xfrm>
          <a:prstGeom prst="rect">
            <a:avLst/>
          </a:prstGeom>
          <a:noFill/>
          <a:ln/>
        </p:spPr>
        <p:txBody>
          <a:bodyPr wrap="square" lIns="0" tIns="0" rIns="0" bIns="0" rtlCol="0" anchor="t"/>
          <a:lstStyle/>
          <a:p>
            <a:pPr indent="0" marL="0">
              <a:buNone/>
            </a:pPr>
            <a:r>
              <a:rPr lang="en-US" sz="5000" b="1" dirty="0">
                <a:solidFill>
                  <a:srgbClr val="C8F04A"/>
                </a:solidFill>
                <a:latin typeface="Cambria" pitchFamily="34" charset="0"/>
                <a:ea typeface="Cambria" pitchFamily="34" charset="-122"/>
                <a:cs typeface="Cambria" pitchFamily="34" charset="-120"/>
              </a:rPr>
              <a:t>$17</a:t>
            </a:r>
            <a:endParaRPr lang="en-US" sz="5000" dirty="0"/>
          </a:p>
        </p:txBody>
      </p:sp>
      <p:sp>
        <p:nvSpPr>
          <p:cNvPr id="11" name="Text 9"/>
          <p:cNvSpPr txBox="1"/>
          <p:nvPr/>
        </p:nvSpPr>
        <p:spPr>
          <a:xfrm>
            <a:off x="3665144" y="3794760"/>
            <a:ext cx="2019224" cy="12801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avg. return on every $1 of Weedmaps ad spend</a:t>
            </a:r>
            <a:endParaRPr lang="en-US" sz="1400" dirty="0"/>
          </a:p>
        </p:txBody>
      </p:sp>
      <p:sp>
        <p:nvSpPr>
          <p:cNvPr id="12" name="Shape 10"/>
          <p:cNvSpPr/>
          <p:nvPr/>
        </p:nvSpPr>
        <p:spPr>
          <a:xfrm>
            <a:off x="6233008" y="2194560"/>
            <a:ext cx="2567864" cy="3108960"/>
          </a:xfrm>
          <a:prstGeom prst="roundRect">
            <a:avLst>
              <a:gd name="adj" fmla="val 4273"/>
            </a:avLst>
          </a:prstGeom>
          <a:solidFill>
            <a:srgbClr val="163826"/>
          </a:solidFill>
          <a:ln w="6350">
            <a:solidFill>
              <a:srgbClr val="163826"/>
            </a:solidFill>
            <a:prstDash val="solid"/>
          </a:ln>
        </p:spPr>
      </p:sp>
      <p:sp>
        <p:nvSpPr>
          <p:cNvPr id="13" name="Text 11"/>
          <p:cNvSpPr txBox="1"/>
          <p:nvPr/>
        </p:nvSpPr>
        <p:spPr>
          <a:xfrm>
            <a:off x="6507328" y="2423160"/>
            <a:ext cx="2202104" cy="1280160"/>
          </a:xfrm>
          <a:prstGeom prst="rect">
            <a:avLst/>
          </a:prstGeom>
          <a:noFill/>
          <a:ln/>
        </p:spPr>
        <p:txBody>
          <a:bodyPr wrap="square" lIns="0" tIns="0" rIns="0" bIns="0" rtlCol="0" anchor="t"/>
          <a:lstStyle/>
          <a:p>
            <a:pPr indent="0" marL="0">
              <a:buNone/>
            </a:pPr>
            <a:r>
              <a:rPr lang="en-US" sz="5000" b="1" dirty="0">
                <a:solidFill>
                  <a:srgbClr val="C8F04A"/>
                </a:solidFill>
                <a:latin typeface="Cambria" pitchFamily="34" charset="0"/>
                <a:ea typeface="Cambria" pitchFamily="34" charset="-122"/>
                <a:cs typeface="Cambria" pitchFamily="34" charset="-120"/>
              </a:rPr>
              <a:t>25%</a:t>
            </a:r>
            <a:endParaRPr lang="en-US" sz="5000" dirty="0"/>
          </a:p>
        </p:txBody>
      </p:sp>
      <p:sp>
        <p:nvSpPr>
          <p:cNvPr id="14" name="Text 12"/>
          <p:cNvSpPr txBox="1"/>
          <p:nvPr/>
        </p:nvSpPr>
        <p:spPr>
          <a:xfrm>
            <a:off x="6507328" y="3794760"/>
            <a:ext cx="2019224" cy="12801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higher average order value than non-managed accounts</a:t>
            </a:r>
            <a:endParaRPr lang="en-US" sz="1400" dirty="0"/>
          </a:p>
        </p:txBody>
      </p:sp>
      <p:sp>
        <p:nvSpPr>
          <p:cNvPr id="15" name="Shape 13"/>
          <p:cNvSpPr/>
          <p:nvPr/>
        </p:nvSpPr>
        <p:spPr>
          <a:xfrm>
            <a:off x="9075191" y="2194560"/>
            <a:ext cx="2567864" cy="3108960"/>
          </a:xfrm>
          <a:prstGeom prst="roundRect">
            <a:avLst>
              <a:gd name="adj" fmla="val 4273"/>
            </a:avLst>
          </a:prstGeom>
          <a:solidFill>
            <a:srgbClr val="163826"/>
          </a:solidFill>
          <a:ln w="6350">
            <a:solidFill>
              <a:srgbClr val="163826"/>
            </a:solidFill>
            <a:prstDash val="solid"/>
          </a:ln>
        </p:spPr>
      </p:sp>
      <p:sp>
        <p:nvSpPr>
          <p:cNvPr id="16" name="Text 14"/>
          <p:cNvSpPr txBox="1"/>
          <p:nvPr/>
        </p:nvSpPr>
        <p:spPr>
          <a:xfrm>
            <a:off x="9349511" y="2423160"/>
            <a:ext cx="2202104" cy="1280160"/>
          </a:xfrm>
          <a:prstGeom prst="rect">
            <a:avLst/>
          </a:prstGeom>
          <a:noFill/>
          <a:ln/>
        </p:spPr>
        <p:txBody>
          <a:bodyPr wrap="square" lIns="0" tIns="0" rIns="0" bIns="0" rtlCol="0" anchor="t"/>
          <a:lstStyle/>
          <a:p>
            <a:pPr indent="0" marL="0">
              <a:buNone/>
            </a:pPr>
            <a:r>
              <a:rPr lang="en-US" sz="5000" b="1" dirty="0">
                <a:solidFill>
                  <a:srgbClr val="C8F04A"/>
                </a:solidFill>
                <a:latin typeface="Cambria" pitchFamily="34" charset="0"/>
                <a:ea typeface="Cambria" pitchFamily="34" charset="-122"/>
                <a:cs typeface="Cambria" pitchFamily="34" charset="-120"/>
              </a:rPr>
              <a:t>100+</a:t>
            </a:r>
            <a:endParaRPr lang="en-US" sz="5000" dirty="0"/>
          </a:p>
        </p:txBody>
      </p:sp>
      <p:sp>
        <p:nvSpPr>
          <p:cNvPr id="17" name="Text 15"/>
          <p:cNvSpPr txBox="1"/>
          <p:nvPr/>
        </p:nvSpPr>
        <p:spPr>
          <a:xfrm>
            <a:off x="9349511" y="3794760"/>
            <a:ext cx="2019224" cy="12801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dispensaries, deliveries &amp; brands managed</a:t>
            </a:r>
            <a:endParaRPr lang="en-US" sz="1400" dirty="0"/>
          </a:p>
        </p:txBody>
      </p:sp>
      <p:sp>
        <p:nvSpPr>
          <p:cNvPr id="18" name="Text 16"/>
          <p:cNvSpPr txBox="1"/>
          <p:nvPr/>
        </p:nvSpPr>
        <p:spPr>
          <a:xfrm>
            <a:off x="548640" y="5577840"/>
            <a:ext cx="11094415" cy="457200"/>
          </a:xfrm>
          <a:prstGeom prst="rect">
            <a:avLst/>
          </a:prstGeom>
          <a:noFill/>
          <a:ln/>
        </p:spPr>
        <p:txBody>
          <a:bodyPr wrap="square" lIns="0" tIns="0" rIns="0" bIns="0" rtlCol="0" anchor="t"/>
          <a:lstStyle/>
          <a:p>
            <a:pPr indent="0" marL="0">
              <a:buNone/>
            </a:pPr>
            <a:r>
              <a:rPr lang="en-US" sz="1300" i="1" dirty="0">
                <a:solidFill>
                  <a:srgbClr val="D9E5DD"/>
                </a:solidFill>
                <a:latin typeface="Calibri" pitchFamily="34" charset="0"/>
                <a:ea typeface="Calibri" pitchFamily="34" charset="-122"/>
                <a:cs typeface="Calibri" pitchFamily="34" charset="-120"/>
              </a:rPr>
              <a:t>Significant conversion gains typically show within 60–90 days as optimizations compound across every channel.</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0F2A1D"/>
                </a:solidFill>
                <a:latin typeface="Cambria" pitchFamily="34" charset="0"/>
                <a:ea typeface="Cambria" pitchFamily="34" charset="-122"/>
                <a:cs typeface="Cambria" pitchFamily="34" charset="-120"/>
              </a:rPr>
              <a:t>Case studies</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What full ownership of listings looks like in practice.</a:t>
            </a:r>
            <a:endParaRPr lang="en-US" sz="1600" dirty="0"/>
          </a:p>
        </p:txBody>
      </p:sp>
      <p:sp>
        <p:nvSpPr>
          <p:cNvPr id="6" name="Shape 4"/>
          <p:cNvSpPr/>
          <p:nvPr/>
        </p:nvSpPr>
        <p:spPr>
          <a:xfrm>
            <a:off x="548640" y="2011680"/>
            <a:ext cx="5387188" cy="4114800"/>
          </a:xfrm>
          <a:prstGeom prst="roundRect">
            <a:avLst>
              <a:gd name="adj" fmla="val 2667"/>
            </a:avLst>
          </a:prstGeom>
          <a:solidFill>
            <a:srgbClr val="F4F7F2"/>
          </a:solidFill>
          <a:ln w="6350">
            <a:solidFill>
              <a:srgbClr val="F4F7F2"/>
            </a:solidFill>
            <a:prstDash val="solid"/>
          </a:ln>
        </p:spPr>
      </p:sp>
      <p:sp>
        <p:nvSpPr>
          <p:cNvPr id="7" name="Text 5"/>
          <p:cNvSpPr txBox="1"/>
          <p:nvPr/>
        </p:nvSpPr>
        <p:spPr>
          <a:xfrm>
            <a:off x="868680" y="2286000"/>
            <a:ext cx="4747108" cy="411480"/>
          </a:xfrm>
          <a:prstGeom prst="rect">
            <a:avLst/>
          </a:prstGeom>
          <a:noFill/>
          <a:ln/>
        </p:spPr>
        <p:txBody>
          <a:bodyPr wrap="square" lIns="0" tIns="0" rIns="0" bIns="0" rtlCol="0" anchor="t"/>
          <a:lstStyle/>
          <a:p>
            <a:pPr indent="0" marL="0">
              <a:buNone/>
            </a:pPr>
            <a:r>
              <a:rPr lang="en-US" sz="2000" b="1" dirty="0">
                <a:solidFill>
                  <a:srgbClr val="0F2A1D"/>
                </a:solidFill>
                <a:latin typeface="Calibri" pitchFamily="34" charset="0"/>
                <a:ea typeface="Calibri" pitchFamily="34" charset="-122"/>
                <a:cs typeface="Calibri" pitchFamily="34" charset="-120"/>
              </a:rPr>
              <a:t>Purple Lotus</a:t>
            </a:r>
            <a:endParaRPr lang="en-US" sz="2000" dirty="0"/>
          </a:p>
        </p:txBody>
      </p:sp>
      <p:sp>
        <p:nvSpPr>
          <p:cNvPr id="8" name="Text 6"/>
          <p:cNvSpPr txBox="1"/>
          <p:nvPr/>
        </p:nvSpPr>
        <p:spPr>
          <a:xfrm>
            <a:off x="868680" y="2697480"/>
            <a:ext cx="4747108" cy="320040"/>
          </a:xfrm>
          <a:prstGeom prst="rect">
            <a:avLst/>
          </a:prstGeom>
          <a:noFill/>
          <a:ln/>
        </p:spPr>
        <p:txBody>
          <a:bodyPr wrap="square" lIns="0" tIns="0" rIns="0" bIns="0" rtlCol="0" anchor="t"/>
          <a:lstStyle/>
          <a:p>
            <a:pPr indent="0" marL="0">
              <a:buNone/>
            </a:pPr>
            <a:r>
              <a:rPr lang="en-US" sz="1200" dirty="0">
                <a:solidFill>
                  <a:srgbClr val="6B7A70"/>
                </a:solidFill>
                <a:latin typeface="Calibri" pitchFamily="34" charset="0"/>
                <a:ea typeface="Calibri" pitchFamily="34" charset="-122"/>
                <a:cs typeface="Calibri" pitchFamily="34" charset="-120"/>
              </a:rPr>
              <a:t>Dispensary · San Jose, CA</a:t>
            </a:r>
            <a:endParaRPr lang="en-US" sz="1200" dirty="0"/>
          </a:p>
        </p:txBody>
      </p:sp>
      <p:sp>
        <p:nvSpPr>
          <p:cNvPr id="9" name="Text 7"/>
          <p:cNvSpPr txBox="1"/>
          <p:nvPr/>
        </p:nvSpPr>
        <p:spPr>
          <a:xfrm>
            <a:off x="868680" y="3108960"/>
            <a:ext cx="4747108" cy="731520"/>
          </a:xfrm>
          <a:prstGeom prst="rect">
            <a:avLst/>
          </a:prstGeom>
          <a:noFill/>
          <a:ln/>
        </p:spPr>
        <p:txBody>
          <a:bodyPr wrap="square" lIns="0" tIns="0" rIns="0" bIns="0" rtlCol="0" anchor="t"/>
          <a:lstStyle/>
          <a:p>
            <a:pPr indent="0" marL="0">
              <a:buNone/>
            </a:pPr>
            <a:r>
              <a:rPr lang="en-US" sz="1200" b="1" dirty="0">
                <a:solidFill>
                  <a:srgbClr val="1F6F43"/>
                </a:solidFill>
                <a:latin typeface="Calibri" pitchFamily="34" charset="0"/>
                <a:ea typeface="Calibri" pitchFamily="34" charset="-122"/>
                <a:cs typeface="Calibri" pitchFamily="34" charset="-120"/>
              </a:rPr>
              <a:t>Situation  </a:t>
            </a:r>
            <a:pPr indent="0" marL="0">
              <a:buNone/>
            </a:pPr>
            <a:r>
              <a:rPr lang="en-US" sz="1200" dirty="0">
                <a:solidFill>
                  <a:srgbClr val="16211B"/>
                </a:solidFill>
                <a:latin typeface="Calibri" pitchFamily="34" charset="0"/>
                <a:ea typeface="Calibri" pitchFamily="34" charset="-122"/>
                <a:cs typeface="Calibri" pitchFamily="34" charset="-120"/>
              </a:rPr>
              <a:t>10+ years on Weedmaps, Leafly and Yelp; hundreds of thousands spent on ads with weak returns.</a:t>
            </a:r>
            <a:endParaRPr lang="en-US" sz="1200" dirty="0"/>
          </a:p>
        </p:txBody>
      </p:sp>
      <p:sp>
        <p:nvSpPr>
          <p:cNvPr id="10" name="Text 8"/>
          <p:cNvSpPr txBox="1"/>
          <p:nvPr/>
        </p:nvSpPr>
        <p:spPr>
          <a:xfrm>
            <a:off x="868680" y="3840480"/>
            <a:ext cx="4747108" cy="868680"/>
          </a:xfrm>
          <a:prstGeom prst="rect">
            <a:avLst/>
          </a:prstGeom>
          <a:noFill/>
          <a:ln/>
        </p:spPr>
        <p:txBody>
          <a:bodyPr wrap="square" lIns="0" tIns="0" rIns="0" bIns="0" rtlCol="0" anchor="t"/>
          <a:lstStyle/>
          <a:p>
            <a:pPr indent="0" marL="0">
              <a:buNone/>
            </a:pPr>
            <a:r>
              <a:rPr lang="en-US" sz="1200" b="1" dirty="0">
                <a:solidFill>
                  <a:srgbClr val="1F6F43"/>
                </a:solidFill>
                <a:latin typeface="Calibri" pitchFamily="34" charset="0"/>
                <a:ea typeface="Calibri" pitchFamily="34" charset="-122"/>
                <a:cs typeface="Calibri" pitchFamily="34" charset="-120"/>
              </a:rPr>
              <a:t>What we did  </a:t>
            </a:r>
            <a:pPr indent="0" marL="0">
              <a:buNone/>
            </a:pPr>
            <a:r>
              <a:rPr lang="en-US" sz="1200" dirty="0">
                <a:solidFill>
                  <a:srgbClr val="16211B"/>
                </a:solidFill>
                <a:latin typeface="Calibri" pitchFamily="34" charset="0"/>
                <a:ea typeface="Calibri" pitchFamily="34" charset="-122"/>
                <a:cs typeface="Calibri" pitchFamily="34" charset="-120"/>
              </a:rPr>
              <a:t>Reorganized ad positions, adjusted pricing and ranks, rebuilt deal strategy, added display ads, verified every product.</a:t>
            </a:r>
            <a:endParaRPr lang="en-US" sz="1200" dirty="0"/>
          </a:p>
        </p:txBody>
      </p:sp>
      <p:sp>
        <p:nvSpPr>
          <p:cNvPr id="11" name="Text 9"/>
          <p:cNvSpPr txBox="1"/>
          <p:nvPr/>
        </p:nvSpPr>
        <p:spPr>
          <a:xfrm>
            <a:off x="868680" y="4754880"/>
            <a:ext cx="1490929" cy="685800"/>
          </a:xfrm>
          <a:prstGeom prst="rect">
            <a:avLst/>
          </a:prstGeom>
          <a:noFill/>
          <a:ln/>
        </p:spPr>
        <p:txBody>
          <a:bodyPr wrap="square" lIns="0" tIns="0" rIns="0" bIns="0" rtlCol="0" anchor="ctr"/>
          <a:lstStyle/>
          <a:p>
            <a:pPr indent="0" marL="0">
              <a:buNone/>
            </a:pPr>
            <a:r>
              <a:rPr lang="en-US" sz="2400" b="1" dirty="0">
                <a:solidFill>
                  <a:srgbClr val="1F6F43"/>
                </a:solidFill>
                <a:latin typeface="Cambria" pitchFamily="34" charset="0"/>
                <a:ea typeface="Cambria" pitchFamily="34" charset="-122"/>
                <a:cs typeface="Cambria" pitchFamily="34" charset="-120"/>
              </a:rPr>
              <a:t>+63%</a:t>
            </a:r>
            <a:endParaRPr lang="en-US" sz="2400" dirty="0"/>
          </a:p>
        </p:txBody>
      </p:sp>
      <p:sp>
        <p:nvSpPr>
          <p:cNvPr id="12" name="Text 10"/>
          <p:cNvSpPr txBox="1"/>
          <p:nvPr/>
        </p:nvSpPr>
        <p:spPr>
          <a:xfrm>
            <a:off x="868680" y="5413248"/>
            <a:ext cx="1445209" cy="640080"/>
          </a:xfrm>
          <a:prstGeom prst="rect">
            <a:avLst/>
          </a:prstGeom>
          <a:noFill/>
          <a:ln/>
        </p:spPr>
        <p:txBody>
          <a:bodyPr wrap="square" lIns="0" tIns="0" rIns="0" bIns="0" rtlCol="0" anchor="t"/>
          <a:lstStyle/>
          <a:p>
            <a:pPr indent="0" marL="0">
              <a:buNone/>
            </a:pPr>
            <a:r>
              <a:rPr lang="en-US" sz="1100" dirty="0">
                <a:solidFill>
                  <a:srgbClr val="16211B"/>
                </a:solidFill>
                <a:latin typeface="Calibri" pitchFamily="34" charset="0"/>
                <a:ea typeface="Calibri" pitchFamily="34" charset="-122"/>
                <a:cs typeface="Calibri" pitchFamily="34" charset="-120"/>
              </a:rPr>
              <a:t>conversion rate</a:t>
            </a:r>
            <a:endParaRPr lang="en-US" sz="1100" dirty="0"/>
          </a:p>
        </p:txBody>
      </p:sp>
      <p:sp>
        <p:nvSpPr>
          <p:cNvPr id="13" name="Text 11"/>
          <p:cNvSpPr txBox="1"/>
          <p:nvPr/>
        </p:nvSpPr>
        <p:spPr>
          <a:xfrm>
            <a:off x="2451049" y="4754880"/>
            <a:ext cx="1490929" cy="685800"/>
          </a:xfrm>
          <a:prstGeom prst="rect">
            <a:avLst/>
          </a:prstGeom>
          <a:noFill/>
          <a:ln/>
        </p:spPr>
        <p:txBody>
          <a:bodyPr wrap="square" lIns="0" tIns="0" rIns="0" bIns="0" rtlCol="0" anchor="ctr"/>
          <a:lstStyle/>
          <a:p>
            <a:pPr indent="0" marL="0">
              <a:buNone/>
            </a:pPr>
            <a:r>
              <a:rPr lang="en-US" sz="2400" b="1" dirty="0">
                <a:solidFill>
                  <a:srgbClr val="1F6F43"/>
                </a:solidFill>
                <a:latin typeface="Cambria" pitchFamily="34" charset="0"/>
                <a:ea typeface="Cambria" pitchFamily="34" charset="-122"/>
                <a:cs typeface="Cambria" pitchFamily="34" charset="-120"/>
              </a:rPr>
              <a:t>2x</a:t>
            </a:r>
            <a:endParaRPr lang="en-US" sz="2400" dirty="0"/>
          </a:p>
        </p:txBody>
      </p:sp>
      <p:sp>
        <p:nvSpPr>
          <p:cNvPr id="14" name="Text 12"/>
          <p:cNvSpPr txBox="1"/>
          <p:nvPr/>
        </p:nvSpPr>
        <p:spPr>
          <a:xfrm>
            <a:off x="2451049" y="5413248"/>
            <a:ext cx="1445209" cy="640080"/>
          </a:xfrm>
          <a:prstGeom prst="rect">
            <a:avLst/>
          </a:prstGeom>
          <a:noFill/>
          <a:ln/>
        </p:spPr>
        <p:txBody>
          <a:bodyPr wrap="square" lIns="0" tIns="0" rIns="0" bIns="0" rtlCol="0" anchor="t"/>
          <a:lstStyle/>
          <a:p>
            <a:pPr indent="0" marL="0">
              <a:buNone/>
            </a:pPr>
            <a:r>
              <a:rPr lang="en-US" sz="1100" dirty="0">
                <a:solidFill>
                  <a:srgbClr val="16211B"/>
                </a:solidFill>
                <a:latin typeface="Calibri" pitchFamily="34" charset="0"/>
                <a:ea typeface="Calibri" pitchFamily="34" charset="-122"/>
                <a:cs typeface="Calibri" pitchFamily="34" charset="-120"/>
              </a:rPr>
              <a:t>on-platform ROAS in 3 months</a:t>
            </a:r>
            <a:endParaRPr lang="en-US" sz="1100" dirty="0"/>
          </a:p>
        </p:txBody>
      </p:sp>
      <p:sp>
        <p:nvSpPr>
          <p:cNvPr id="15" name="Text 13"/>
          <p:cNvSpPr txBox="1"/>
          <p:nvPr/>
        </p:nvSpPr>
        <p:spPr>
          <a:xfrm>
            <a:off x="4033418" y="4754880"/>
            <a:ext cx="1490929" cy="685800"/>
          </a:xfrm>
          <a:prstGeom prst="rect">
            <a:avLst/>
          </a:prstGeom>
          <a:noFill/>
          <a:ln/>
        </p:spPr>
        <p:txBody>
          <a:bodyPr wrap="square" lIns="0" tIns="0" rIns="0" bIns="0" rtlCol="0" anchor="ctr"/>
          <a:lstStyle/>
          <a:p>
            <a:pPr indent="0" marL="0">
              <a:buNone/>
            </a:pPr>
            <a:r>
              <a:rPr lang="en-US" sz="2400" b="1" dirty="0">
                <a:solidFill>
                  <a:srgbClr val="1F6F43"/>
                </a:solidFill>
                <a:latin typeface="Cambria" pitchFamily="34" charset="0"/>
                <a:ea typeface="Cambria" pitchFamily="34" charset="-122"/>
                <a:cs typeface="Cambria" pitchFamily="34" charset="-120"/>
              </a:rPr>
              <a:t>2x</a:t>
            </a:r>
            <a:endParaRPr lang="en-US" sz="2400" dirty="0"/>
          </a:p>
        </p:txBody>
      </p:sp>
      <p:sp>
        <p:nvSpPr>
          <p:cNvPr id="16" name="Text 14"/>
          <p:cNvSpPr txBox="1"/>
          <p:nvPr/>
        </p:nvSpPr>
        <p:spPr>
          <a:xfrm>
            <a:off x="4033418" y="5413248"/>
            <a:ext cx="1445209" cy="640080"/>
          </a:xfrm>
          <a:prstGeom prst="rect">
            <a:avLst/>
          </a:prstGeom>
          <a:noFill/>
          <a:ln/>
        </p:spPr>
        <p:txBody>
          <a:bodyPr wrap="square" lIns="0" tIns="0" rIns="0" bIns="0" rtlCol="0" anchor="t"/>
          <a:lstStyle/>
          <a:p>
            <a:pPr indent="0" marL="0">
              <a:buNone/>
            </a:pPr>
            <a:r>
              <a:rPr lang="en-US" sz="1100" dirty="0">
                <a:solidFill>
                  <a:srgbClr val="16211B"/>
                </a:solidFill>
                <a:latin typeface="Calibri" pitchFamily="34" charset="0"/>
                <a:ea typeface="Calibri" pitchFamily="34" charset="-122"/>
                <a:cs typeface="Calibri" pitchFamily="34" charset="-120"/>
              </a:rPr>
              <a:t>total return in 6 months</a:t>
            </a:r>
            <a:endParaRPr lang="en-US" sz="1100" dirty="0"/>
          </a:p>
        </p:txBody>
      </p:sp>
      <p:sp>
        <p:nvSpPr>
          <p:cNvPr id="17" name="Shape 15"/>
          <p:cNvSpPr/>
          <p:nvPr/>
        </p:nvSpPr>
        <p:spPr>
          <a:xfrm>
            <a:off x="6255868" y="2011680"/>
            <a:ext cx="5387188" cy="4114800"/>
          </a:xfrm>
          <a:prstGeom prst="roundRect">
            <a:avLst>
              <a:gd name="adj" fmla="val 2667"/>
            </a:avLst>
          </a:prstGeom>
          <a:solidFill>
            <a:srgbClr val="F4F7F2"/>
          </a:solidFill>
          <a:ln w="6350">
            <a:solidFill>
              <a:srgbClr val="F4F7F2"/>
            </a:solidFill>
            <a:prstDash val="solid"/>
          </a:ln>
        </p:spPr>
      </p:sp>
      <p:sp>
        <p:nvSpPr>
          <p:cNvPr id="18" name="Text 16"/>
          <p:cNvSpPr txBox="1"/>
          <p:nvPr/>
        </p:nvSpPr>
        <p:spPr>
          <a:xfrm>
            <a:off x="6575908" y="2286000"/>
            <a:ext cx="4747108" cy="411480"/>
          </a:xfrm>
          <a:prstGeom prst="rect">
            <a:avLst/>
          </a:prstGeom>
          <a:noFill/>
          <a:ln/>
        </p:spPr>
        <p:txBody>
          <a:bodyPr wrap="square" lIns="0" tIns="0" rIns="0" bIns="0" rtlCol="0" anchor="t"/>
          <a:lstStyle/>
          <a:p>
            <a:pPr indent="0" marL="0">
              <a:buNone/>
            </a:pPr>
            <a:r>
              <a:rPr lang="en-US" sz="2000" b="1" dirty="0">
                <a:solidFill>
                  <a:srgbClr val="0F2A1D"/>
                </a:solidFill>
                <a:latin typeface="Calibri" pitchFamily="34" charset="0"/>
                <a:ea typeface="Calibri" pitchFamily="34" charset="-122"/>
                <a:cs typeface="Calibri" pitchFamily="34" charset="-120"/>
              </a:rPr>
              <a:t>Nuna Harvest</a:t>
            </a:r>
            <a:endParaRPr lang="en-US" sz="2000" dirty="0"/>
          </a:p>
        </p:txBody>
      </p:sp>
      <p:sp>
        <p:nvSpPr>
          <p:cNvPr id="19" name="Text 17"/>
          <p:cNvSpPr txBox="1"/>
          <p:nvPr/>
        </p:nvSpPr>
        <p:spPr>
          <a:xfrm>
            <a:off x="6575908" y="2697480"/>
            <a:ext cx="4747108" cy="320040"/>
          </a:xfrm>
          <a:prstGeom prst="rect">
            <a:avLst/>
          </a:prstGeom>
          <a:noFill/>
          <a:ln/>
        </p:spPr>
        <p:txBody>
          <a:bodyPr wrap="square" lIns="0" tIns="0" rIns="0" bIns="0" rtlCol="0" anchor="t"/>
          <a:lstStyle/>
          <a:p>
            <a:pPr indent="0" marL="0">
              <a:buNone/>
            </a:pPr>
            <a:r>
              <a:rPr lang="en-US" sz="1200" dirty="0">
                <a:solidFill>
                  <a:srgbClr val="6B7A70"/>
                </a:solidFill>
                <a:latin typeface="Calibri" pitchFamily="34" charset="0"/>
                <a:ea typeface="Calibri" pitchFamily="34" charset="-122"/>
                <a:cs typeface="Calibri" pitchFamily="34" charset="-120"/>
              </a:rPr>
              <a:t>Dispensary + Delivery · New York</a:t>
            </a:r>
            <a:endParaRPr lang="en-US" sz="1200" dirty="0"/>
          </a:p>
        </p:txBody>
      </p:sp>
      <p:sp>
        <p:nvSpPr>
          <p:cNvPr id="20" name="Text 18"/>
          <p:cNvSpPr txBox="1"/>
          <p:nvPr/>
        </p:nvSpPr>
        <p:spPr>
          <a:xfrm>
            <a:off x="6575908" y="3108960"/>
            <a:ext cx="4747108" cy="731520"/>
          </a:xfrm>
          <a:prstGeom prst="rect">
            <a:avLst/>
          </a:prstGeom>
          <a:noFill/>
          <a:ln/>
        </p:spPr>
        <p:txBody>
          <a:bodyPr wrap="square" lIns="0" tIns="0" rIns="0" bIns="0" rtlCol="0" anchor="t"/>
          <a:lstStyle/>
          <a:p>
            <a:pPr indent="0" marL="0">
              <a:buNone/>
            </a:pPr>
            <a:r>
              <a:rPr lang="en-US" sz="1200" b="1" dirty="0">
                <a:solidFill>
                  <a:srgbClr val="1F6F43"/>
                </a:solidFill>
                <a:latin typeface="Calibri" pitchFamily="34" charset="0"/>
                <a:ea typeface="Calibri" pitchFamily="34" charset="-122"/>
                <a:cs typeface="Calibri" pitchFamily="34" charset="-120"/>
              </a:rPr>
              <a:t>Situation  </a:t>
            </a:r>
            <a:pPr indent="0" marL="0">
              <a:buNone/>
            </a:pPr>
            <a:r>
              <a:rPr lang="en-US" sz="1200" dirty="0">
                <a:solidFill>
                  <a:srgbClr val="16211B"/>
                </a:solidFill>
                <a:latin typeface="Calibri" pitchFamily="34" charset="0"/>
                <a:ea typeface="Calibri" pitchFamily="34" charset="-122"/>
                <a:cs typeface="Calibri" pitchFamily="34" charset="-120"/>
              </a:rPr>
              <a:t>New York retail and delivery operation competing in a fast-growing market.</a:t>
            </a:r>
            <a:endParaRPr lang="en-US" sz="1200" dirty="0"/>
          </a:p>
        </p:txBody>
      </p:sp>
      <p:sp>
        <p:nvSpPr>
          <p:cNvPr id="21" name="Text 19"/>
          <p:cNvSpPr txBox="1"/>
          <p:nvPr/>
        </p:nvSpPr>
        <p:spPr>
          <a:xfrm>
            <a:off x="6575908" y="3840480"/>
            <a:ext cx="4747108" cy="868680"/>
          </a:xfrm>
          <a:prstGeom prst="rect">
            <a:avLst/>
          </a:prstGeom>
          <a:noFill/>
          <a:ln/>
        </p:spPr>
        <p:txBody>
          <a:bodyPr wrap="square" lIns="0" tIns="0" rIns="0" bIns="0" rtlCol="0" anchor="t"/>
          <a:lstStyle/>
          <a:p>
            <a:pPr indent="0" marL="0">
              <a:buNone/>
            </a:pPr>
            <a:r>
              <a:rPr lang="en-US" sz="1200" b="1" dirty="0">
                <a:solidFill>
                  <a:srgbClr val="1F6F43"/>
                </a:solidFill>
                <a:latin typeface="Calibri" pitchFamily="34" charset="0"/>
                <a:ea typeface="Calibri" pitchFamily="34" charset="-122"/>
                <a:cs typeface="Calibri" pitchFamily="34" charset="-120"/>
              </a:rPr>
              <a:t>What we did  </a:t>
            </a:r>
            <a:pPr indent="0" marL="0">
              <a:buNone/>
            </a:pPr>
            <a:r>
              <a:rPr lang="en-US" sz="1200" dirty="0">
                <a:solidFill>
                  <a:srgbClr val="16211B"/>
                </a:solidFill>
                <a:latin typeface="Calibri" pitchFamily="34" charset="0"/>
                <a:ea typeface="Calibri" pitchFamily="34" charset="-122"/>
                <a:cs typeface="Calibri" pitchFamily="34" charset="-120"/>
              </a:rPr>
              <a:t>Full listing management across Weedmaps, Leafly and Yelp with deal activations and review management.</a:t>
            </a:r>
            <a:endParaRPr lang="en-US" sz="1200" dirty="0"/>
          </a:p>
        </p:txBody>
      </p:sp>
      <p:sp>
        <p:nvSpPr>
          <p:cNvPr id="22" name="Text 20"/>
          <p:cNvSpPr txBox="1"/>
          <p:nvPr/>
        </p:nvSpPr>
        <p:spPr>
          <a:xfrm>
            <a:off x="6575908" y="4754880"/>
            <a:ext cx="1490929" cy="685800"/>
          </a:xfrm>
          <a:prstGeom prst="rect">
            <a:avLst/>
          </a:prstGeom>
          <a:noFill/>
          <a:ln/>
        </p:spPr>
        <p:txBody>
          <a:bodyPr wrap="square" lIns="0" tIns="0" rIns="0" bIns="0" rtlCol="0" anchor="ctr"/>
          <a:lstStyle/>
          <a:p>
            <a:pPr indent="0" marL="0">
              <a:buNone/>
            </a:pPr>
            <a:r>
              <a:rPr lang="en-US" sz="2400" b="1" dirty="0">
                <a:solidFill>
                  <a:srgbClr val="1F6F43"/>
                </a:solidFill>
                <a:latin typeface="Cambria" pitchFamily="34" charset="0"/>
                <a:ea typeface="Cambria" pitchFamily="34" charset="-122"/>
                <a:cs typeface="Cambria" pitchFamily="34" charset="-120"/>
              </a:rPr>
              <a:t>+638%</a:t>
            </a:r>
            <a:endParaRPr lang="en-US" sz="2400" dirty="0"/>
          </a:p>
        </p:txBody>
      </p:sp>
      <p:sp>
        <p:nvSpPr>
          <p:cNvPr id="23" name="Text 21"/>
          <p:cNvSpPr txBox="1"/>
          <p:nvPr/>
        </p:nvSpPr>
        <p:spPr>
          <a:xfrm>
            <a:off x="6575908" y="5413248"/>
            <a:ext cx="1445209" cy="640080"/>
          </a:xfrm>
          <a:prstGeom prst="rect">
            <a:avLst/>
          </a:prstGeom>
          <a:noFill/>
          <a:ln/>
        </p:spPr>
        <p:txBody>
          <a:bodyPr wrap="square" lIns="0" tIns="0" rIns="0" bIns="0" rtlCol="0" anchor="t"/>
          <a:lstStyle/>
          <a:p>
            <a:pPr indent="0" marL="0">
              <a:buNone/>
            </a:pPr>
            <a:r>
              <a:rPr lang="en-US" sz="1100" dirty="0">
                <a:solidFill>
                  <a:srgbClr val="16211B"/>
                </a:solidFill>
                <a:latin typeface="Calibri" pitchFamily="34" charset="0"/>
                <a:ea typeface="Calibri" pitchFamily="34" charset="-122"/>
                <a:cs typeface="Calibri" pitchFamily="34" charset="-120"/>
              </a:rPr>
              <a:t>Weedmaps ROAS in 6 months</a:t>
            </a:r>
            <a:endParaRPr lang="en-US" sz="1100" dirty="0"/>
          </a:p>
        </p:txBody>
      </p:sp>
      <p:sp>
        <p:nvSpPr>
          <p:cNvPr id="24" name="Text 22"/>
          <p:cNvSpPr txBox="1"/>
          <p:nvPr/>
        </p:nvSpPr>
        <p:spPr>
          <a:xfrm>
            <a:off x="8158277" y="4754880"/>
            <a:ext cx="1490929" cy="685800"/>
          </a:xfrm>
          <a:prstGeom prst="rect">
            <a:avLst/>
          </a:prstGeom>
          <a:noFill/>
          <a:ln/>
        </p:spPr>
        <p:txBody>
          <a:bodyPr wrap="square" lIns="0" tIns="0" rIns="0" bIns="0" rtlCol="0" anchor="ctr"/>
          <a:lstStyle/>
          <a:p>
            <a:pPr indent="0" marL="0">
              <a:buNone/>
            </a:pPr>
            <a:r>
              <a:rPr lang="en-US" sz="2400" b="1" dirty="0">
                <a:solidFill>
                  <a:srgbClr val="1F6F43"/>
                </a:solidFill>
                <a:latin typeface="Cambria" pitchFamily="34" charset="0"/>
                <a:ea typeface="Cambria" pitchFamily="34" charset="-122"/>
                <a:cs typeface="Cambria" pitchFamily="34" charset="-120"/>
              </a:rPr>
              <a:t>+44%</a:t>
            </a:r>
            <a:endParaRPr lang="en-US" sz="2400" dirty="0"/>
          </a:p>
        </p:txBody>
      </p:sp>
      <p:sp>
        <p:nvSpPr>
          <p:cNvPr id="25" name="Text 23"/>
          <p:cNvSpPr txBox="1"/>
          <p:nvPr/>
        </p:nvSpPr>
        <p:spPr>
          <a:xfrm>
            <a:off x="8158277" y="5413248"/>
            <a:ext cx="1445209" cy="640080"/>
          </a:xfrm>
          <a:prstGeom prst="rect">
            <a:avLst/>
          </a:prstGeom>
          <a:noFill/>
          <a:ln/>
        </p:spPr>
        <p:txBody>
          <a:bodyPr wrap="square" lIns="0" tIns="0" rIns="0" bIns="0" rtlCol="0" anchor="t"/>
          <a:lstStyle/>
          <a:p>
            <a:pPr indent="0" marL="0">
              <a:buNone/>
            </a:pPr>
            <a:r>
              <a:rPr lang="en-US" sz="1100" dirty="0">
                <a:solidFill>
                  <a:srgbClr val="16211B"/>
                </a:solidFill>
                <a:latin typeface="Calibri" pitchFamily="34" charset="0"/>
                <a:ea typeface="Calibri" pitchFamily="34" charset="-122"/>
                <a:cs typeface="Calibri" pitchFamily="34" charset="-120"/>
              </a:rPr>
              <a:t>Leafly ROAS</a:t>
            </a:r>
            <a:endParaRPr lang="en-US" sz="1100" dirty="0"/>
          </a:p>
        </p:txBody>
      </p:sp>
      <p:sp>
        <p:nvSpPr>
          <p:cNvPr id="26" name="Text 24"/>
          <p:cNvSpPr txBox="1"/>
          <p:nvPr/>
        </p:nvSpPr>
        <p:spPr>
          <a:xfrm>
            <a:off x="9740646" y="4754880"/>
            <a:ext cx="1490929" cy="685800"/>
          </a:xfrm>
          <a:prstGeom prst="rect">
            <a:avLst/>
          </a:prstGeom>
          <a:noFill/>
          <a:ln/>
        </p:spPr>
        <p:txBody>
          <a:bodyPr wrap="square" lIns="0" tIns="0" rIns="0" bIns="0" rtlCol="0" anchor="ctr"/>
          <a:lstStyle/>
          <a:p>
            <a:pPr indent="0" marL="0">
              <a:buNone/>
            </a:pPr>
            <a:r>
              <a:rPr lang="en-US" sz="2400" b="1" dirty="0">
                <a:solidFill>
                  <a:srgbClr val="1F6F43"/>
                </a:solidFill>
                <a:latin typeface="Cambria" pitchFamily="34" charset="0"/>
                <a:ea typeface="Cambria" pitchFamily="34" charset="-122"/>
                <a:cs typeface="Cambria" pitchFamily="34" charset="-120"/>
              </a:rPr>
              <a:t>+109%</a:t>
            </a:r>
            <a:endParaRPr lang="en-US" sz="2400" dirty="0"/>
          </a:p>
        </p:txBody>
      </p:sp>
      <p:sp>
        <p:nvSpPr>
          <p:cNvPr id="27" name="Text 25"/>
          <p:cNvSpPr txBox="1"/>
          <p:nvPr/>
        </p:nvSpPr>
        <p:spPr>
          <a:xfrm>
            <a:off x="9740646" y="5413248"/>
            <a:ext cx="1445209" cy="640080"/>
          </a:xfrm>
          <a:prstGeom prst="rect">
            <a:avLst/>
          </a:prstGeom>
          <a:noFill/>
          <a:ln/>
        </p:spPr>
        <p:txBody>
          <a:bodyPr wrap="square" lIns="0" tIns="0" rIns="0" bIns="0" rtlCol="0" anchor="t"/>
          <a:lstStyle/>
          <a:p>
            <a:pPr indent="0" marL="0">
              <a:buNone/>
            </a:pPr>
            <a:r>
              <a:rPr lang="en-US" sz="1100" dirty="0">
                <a:solidFill>
                  <a:srgbClr val="16211B"/>
                </a:solidFill>
                <a:latin typeface="Calibri" pitchFamily="34" charset="0"/>
                <a:ea typeface="Calibri" pitchFamily="34" charset="-122"/>
                <a:cs typeface="Calibri" pitchFamily="34" charset="-120"/>
              </a:rPr>
              <a:t>Yelp leads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0F2A1D"/>
                </a:solidFill>
                <a:latin typeface="Cambria" pitchFamily="34" charset="0"/>
                <a:ea typeface="Cambria" pitchFamily="34" charset="-122"/>
                <a:cs typeface="Cambria" pitchFamily="34" charset="-120"/>
              </a:rPr>
              <a:t>Your options</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How the alternatives compare.</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4415" cy="914400"/>
        </p:xfrm>
        <a:graphic>
          <a:graphicData uri="http://schemas.openxmlformats.org/drawingml/2006/table">
            <a:tbl>
              <a:tblPr/>
              <a:tblGrid>
                <a:gridCol w="3566160"/>
                <a:gridCol w="1874520"/>
                <a:gridCol w="1874520"/>
                <a:gridCol w="1874520"/>
                <a:gridCol w="1901952"/>
              </a:tblGrid>
              <a:tr h="457200">
                <a:tc>
                  <a:txBody>
                    <a:bodyPr/>
                    <a:lstStyle/>
                    <a:p>
                      <a:pPr algn="ctr" indent="0" marL="0">
                        <a:buNone/>
                      </a:pPr>
                      <a:endParaRPr lang="en-US" sz="125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0F2A1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In-house</a:t>
                      </a:r>
                      <a:endParaRPr lang="en-US" sz="125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0F2A1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Platform reps</a:t>
                      </a:r>
                      <a:endParaRPr lang="en-US" sz="125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0F2A1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General agency</a:t>
                      </a:r>
                      <a:endParaRPr lang="en-US" sz="125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0F2A1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Sparks</a:t>
                      </a:r>
                      <a:endParaRPr lang="en-US" sz="125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1F6F43"/>
                    </a:solidFill>
                  </a:tcPr>
                </a:tc>
              </a:tr>
              <a:tr h="457200">
                <a:tc>
                  <a:txBody>
                    <a:bodyPr/>
                    <a:lstStyle/>
                    <a:p>
                      <a:pPr algn="l" indent="0" marL="0">
                        <a:buNone/>
                      </a:pPr>
                      <a:r>
                        <a:rPr lang="en-US" sz="1200" b="1" dirty="0">
                          <a:solidFill>
                            <a:srgbClr val="0F2A1D"/>
                          </a:solidFill>
                          <a:latin typeface="Calibri" pitchFamily="34" charset="0"/>
                          <a:ea typeface="Calibri" pitchFamily="34" charset="-122"/>
                          <a:cs typeface="Calibri" pitchFamily="34" charset="-120"/>
                        </a:rPr>
                        <a:t>Covers Weedmaps, Leafly, Yelp &amp; Google</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6B7A70"/>
                          </a:solidFill>
                          <a:latin typeface="Calibri" pitchFamily="34" charset="0"/>
                          <a:ea typeface="Calibri" pitchFamily="34" charset="-122"/>
                          <a:cs typeface="Calibri" pitchFamily="34" charset="-120"/>
                        </a:rPr>
                        <a:t>Partially</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6B7A70"/>
                          </a:solidFill>
                          <a:latin typeface="Calibri" pitchFamily="34" charset="0"/>
                          <a:ea typeface="Calibri" pitchFamily="34" charset="-122"/>
                          <a:cs typeface="Calibri" pitchFamily="34" charset="-120"/>
                        </a:rPr>
                        <a:t>Rarely</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E9F7DC"/>
                    </a:solidFill>
                  </a:tcPr>
                </a:tc>
              </a:tr>
              <a:tr h="457200">
                <a:tc>
                  <a:txBody>
                    <a:bodyPr/>
                    <a:lstStyle/>
                    <a:p>
                      <a:pPr algn="l" indent="0" marL="0">
                        <a:buNone/>
                      </a:pPr>
                      <a:r>
                        <a:rPr lang="en-US" sz="1200" b="1" dirty="0">
                          <a:solidFill>
                            <a:srgbClr val="0F2A1D"/>
                          </a:solidFill>
                          <a:latin typeface="Calibri" pitchFamily="34" charset="0"/>
                          <a:ea typeface="Calibri" pitchFamily="34" charset="-122"/>
                          <a:cs typeface="Calibri" pitchFamily="34" charset="-120"/>
                        </a:rPr>
                        <a:t>Marketplace auction &amp; bidding expertise</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6B7A70"/>
                          </a:solidFill>
                          <a:latin typeface="Calibri" pitchFamily="34" charset="0"/>
                          <a:ea typeface="Calibri" pitchFamily="34" charset="-122"/>
                          <a:cs typeface="Calibri" pitchFamily="34" charset="-120"/>
                        </a:rPr>
                        <a:t>One platform</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E9F7DC"/>
                    </a:solidFill>
                  </a:tcPr>
                </a:tc>
              </a:tr>
              <a:tr h="457200">
                <a:tc>
                  <a:txBody>
                    <a:bodyPr/>
                    <a:lstStyle/>
                    <a:p>
                      <a:pPr algn="l" indent="0" marL="0">
                        <a:buNone/>
                      </a:pPr>
                      <a:r>
                        <a:rPr lang="en-US" sz="1200" b="1" dirty="0">
                          <a:solidFill>
                            <a:srgbClr val="0F2A1D"/>
                          </a:solidFill>
                          <a:latin typeface="Calibri" pitchFamily="34" charset="0"/>
                          <a:ea typeface="Calibri" pitchFamily="34" charset="-122"/>
                          <a:cs typeface="Calibri" pitchFamily="34" charset="-120"/>
                        </a:rPr>
                        <a:t>Incentive aligned to your ROAS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6B7A70"/>
                          </a:solidFill>
                          <a:latin typeface="Calibri" pitchFamily="34" charset="0"/>
                          <a:ea typeface="Calibri" pitchFamily="34" charset="-122"/>
                          <a:cs typeface="Calibri" pitchFamily="34" charset="-120"/>
                        </a:rPr>
                        <a:t>Varies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E9F7DC"/>
                    </a:solidFill>
                  </a:tcPr>
                </a:tc>
              </a:tr>
              <a:tr h="457200">
                <a:tc>
                  <a:txBody>
                    <a:bodyPr/>
                    <a:lstStyle/>
                    <a:p>
                      <a:pPr algn="l" indent="0" marL="0">
                        <a:buNone/>
                      </a:pPr>
                      <a:r>
                        <a:rPr lang="en-US" sz="1200" b="1" dirty="0">
                          <a:solidFill>
                            <a:srgbClr val="0F2A1D"/>
                          </a:solidFill>
                          <a:latin typeface="Calibri" pitchFamily="34" charset="0"/>
                          <a:ea typeface="Calibri" pitchFamily="34" charset="-122"/>
                          <a:cs typeface="Calibri" pitchFamily="34" charset="-120"/>
                        </a:rPr>
                        <a:t>Cannabis compliance know-how</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6B7A70"/>
                          </a:solidFill>
                          <a:latin typeface="Calibri" pitchFamily="34" charset="0"/>
                          <a:ea typeface="Calibri" pitchFamily="34" charset="-122"/>
                          <a:cs typeface="Calibri" pitchFamily="34" charset="-120"/>
                        </a:rPr>
                        <a:t>Varies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E9F7DC"/>
                    </a:solidFill>
                  </a:tcPr>
                </a:tc>
              </a:tr>
              <a:tr h="457200">
                <a:tc>
                  <a:txBody>
                    <a:bodyPr/>
                    <a:lstStyle/>
                    <a:p>
                      <a:pPr algn="l" indent="0" marL="0">
                        <a:buNone/>
                      </a:pPr>
                      <a:r>
                        <a:rPr lang="en-US" sz="1200" b="1" dirty="0">
                          <a:solidFill>
                            <a:srgbClr val="0F2A1D"/>
                          </a:solidFill>
                          <a:latin typeface="Calibri" pitchFamily="34" charset="0"/>
                          <a:ea typeface="Calibri" pitchFamily="34" charset="-122"/>
                          <a:cs typeface="Calibri" pitchFamily="34" charset="-120"/>
                        </a:rPr>
                        <a:t>POS-integrated attribution dashboard</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E9F7DC"/>
                    </a:solidFill>
                  </a:tcPr>
                </a:tc>
              </a:tr>
              <a:tr h="457200">
                <a:tc>
                  <a:txBody>
                    <a:bodyPr/>
                    <a:lstStyle/>
                    <a:p>
                      <a:pPr algn="l" indent="0" marL="0">
                        <a:buNone/>
                      </a:pPr>
                      <a:r>
                        <a:rPr lang="en-US" sz="1200" b="1" dirty="0">
                          <a:solidFill>
                            <a:srgbClr val="0F2A1D"/>
                          </a:solidFill>
                          <a:latin typeface="Calibri" pitchFamily="34" charset="0"/>
                          <a:ea typeface="Calibri" pitchFamily="34" charset="-122"/>
                          <a:cs typeface="Calibri" pitchFamily="34" charset="-120"/>
                        </a:rPr>
                        <a:t>Weekly menu, deal &amp; review cadence</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6B7A70"/>
                          </a:solidFill>
                          <a:latin typeface="Calibri" pitchFamily="34" charset="0"/>
                          <a:ea typeface="Calibri" pitchFamily="34" charset="-122"/>
                          <a:cs typeface="Calibri" pitchFamily="34" charset="-120"/>
                        </a:rPr>
                        <a:t>If staffed</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E9F7DC"/>
                    </a:solidFill>
                  </a:tcPr>
                </a:tc>
              </a:tr>
              <a:tr h="457200">
                <a:tc>
                  <a:txBody>
                    <a:bodyPr/>
                    <a:lstStyle/>
                    <a:p>
                      <a:pPr algn="l" indent="0" marL="0">
                        <a:buNone/>
                      </a:pPr>
                      <a:r>
                        <a:rPr lang="en-US" sz="1200" b="1" dirty="0">
                          <a:solidFill>
                            <a:srgbClr val="0F2A1D"/>
                          </a:solidFill>
                          <a:latin typeface="Calibri" pitchFamily="34" charset="0"/>
                          <a:ea typeface="Calibri" pitchFamily="34" charset="-122"/>
                          <a:cs typeface="Calibri" pitchFamily="34" charset="-120"/>
                        </a:rPr>
                        <a:t>Results guarantee</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dirty="0">
                          <a:solidFill>
                            <a:srgbClr val="B0453A"/>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tcPr>
                </a:tc>
                <a:tc>
                  <a:txBody>
                    <a:bodyPr/>
                    <a:lstStyle/>
                    <a:p>
                      <a:pPr algn="ctr" indent="0" marL="0">
                        <a:buNone/>
                      </a:pPr>
                      <a:r>
                        <a:rPr lang="en-US" sz="1200" b="1" dirty="0">
                          <a:solidFill>
                            <a:srgbClr val="1F6F43"/>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DDE5DF"/>
                      </a:solidFill>
                      <a:prstDash val="solid"/>
                      <a:round/>
                      <a:headEnd type="none" w="med" len="med"/>
                      <a:tailEnd type="none" w="med" len="med"/>
                    </a:lnL>
                    <a:lnR w="9525" cap="flat" cmpd="sng" algn="ctr">
                      <a:solidFill>
                        <a:srgbClr val="DDE5DF"/>
                      </a:solidFill>
                      <a:prstDash val="solid"/>
                      <a:round/>
                      <a:headEnd type="none" w="med" len="med"/>
                      <a:tailEnd type="none" w="med" len="med"/>
                    </a:lnR>
                    <a:lnT w="9525" cap="flat" cmpd="sng" algn="ctr">
                      <a:solidFill>
                        <a:srgbClr val="DDE5DF"/>
                      </a:solidFill>
                      <a:prstDash val="solid"/>
                      <a:round/>
                      <a:headEnd type="none" w="med" len="med"/>
                      <a:tailEnd type="none" w="med" len="med"/>
                    </a:lnT>
                    <a:lnB w="9525" cap="flat" cmpd="sng" algn="ctr">
                      <a:solidFill>
                        <a:srgbClr val="DDE5DF"/>
                      </a:solidFill>
                      <a:prstDash val="solid"/>
                      <a:round/>
                      <a:headEnd type="none" w="med" len="med"/>
                      <a:tailEnd type="none" w="med" len="med"/>
                    </a:lnB>
                    <a:solidFill>
                      <a:srgbClr val="E9F7DC"/>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1D"/>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C8F04A"/>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C8F04A"/>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Why Sparks</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C8F04A"/>
                </a:solidFill>
                <a:latin typeface="Calibri" pitchFamily="34" charset="0"/>
                <a:ea typeface="Calibri" pitchFamily="34" charset="-122"/>
                <a:cs typeface="Calibri" pitchFamily="34" charset="-120"/>
              </a:rPr>
              <a:t>Competitive advantages you can verify.</a:t>
            </a:r>
            <a:endParaRPr lang="en-US" sz="1600" dirty="0"/>
          </a:p>
        </p:txBody>
      </p:sp>
      <p:sp>
        <p:nvSpPr>
          <p:cNvPr id="6" name="Shape 4"/>
          <p:cNvSpPr/>
          <p:nvPr/>
        </p:nvSpPr>
        <p:spPr>
          <a:xfrm>
            <a:off x="548640" y="2057400"/>
            <a:ext cx="5410048" cy="1783080"/>
          </a:xfrm>
          <a:prstGeom prst="roundRect">
            <a:avLst>
              <a:gd name="adj" fmla="val 6154"/>
            </a:avLst>
          </a:prstGeom>
          <a:solidFill>
            <a:srgbClr val="163826"/>
          </a:solidFill>
          <a:ln w="6350">
            <a:solidFill>
              <a:srgbClr val="163826"/>
            </a:solidFill>
            <a:prstDash val="solid"/>
          </a:ln>
        </p:spPr>
      </p:sp>
      <p:sp>
        <p:nvSpPr>
          <p:cNvPr id="7" name="Shape 5"/>
          <p:cNvSpPr/>
          <p:nvPr/>
        </p:nvSpPr>
        <p:spPr>
          <a:xfrm>
            <a:off x="822960" y="2331720"/>
            <a:ext cx="548640" cy="548640"/>
          </a:xfrm>
          <a:prstGeom prst="ellipse">
            <a:avLst/>
          </a:prstGeom>
          <a:solidFill>
            <a:srgbClr val="C8F04A"/>
          </a:solidFill>
          <a:ln w="12700">
            <a:solidFill>
              <a:srgbClr val="C8F04A"/>
            </a:solidFill>
            <a:prstDash val="solid"/>
          </a:ln>
        </p:spPr>
      </p:sp>
      <p:pic>
        <p:nvPicPr>
          <p:cNvPr id="8" name="Image 0" descr="preencoded.png">    </p:cNvPr>
          <p:cNvPicPr>
            <a:picLocks noChangeAspect="1"/>
          </p:cNvPicPr>
          <p:nvPr/>
        </p:nvPicPr>
        <p:blipFill>
          <a:blip r:embed="rId1"/>
          <a:stretch>
            <a:fillRect/>
          </a:stretch>
        </p:blipFill>
        <p:spPr>
          <a:xfrm>
            <a:off x="971093" y="2479853"/>
            <a:ext cx="252374" cy="252374"/>
          </a:xfrm>
          <a:prstGeom prst="rect">
            <a:avLst/>
          </a:prstGeom>
        </p:spPr>
      </p:pic>
      <p:sp>
        <p:nvSpPr>
          <p:cNvPr id="9" name="Text 6"/>
          <p:cNvSpPr txBox="1"/>
          <p:nvPr/>
        </p:nvSpPr>
        <p:spPr>
          <a:xfrm>
            <a:off x="1554480" y="2331720"/>
            <a:ext cx="4129888" cy="5486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Built by ex-Weedmaps operators</a:t>
            </a:r>
            <a:endParaRPr lang="en-US" sz="1600" dirty="0"/>
          </a:p>
        </p:txBody>
      </p:sp>
      <p:sp>
        <p:nvSpPr>
          <p:cNvPr id="10" name="Text 7"/>
          <p:cNvSpPr txBox="1"/>
          <p:nvPr/>
        </p:nvSpPr>
        <p:spPr>
          <a:xfrm>
            <a:off x="1554480" y="2880360"/>
            <a:ext cx="4129888" cy="91440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Four years inside Weedmaps working with the largest dispensaries. We know how the auction, ranking and menu systems actually work.</a:t>
            </a:r>
            <a:endParaRPr lang="en-US" sz="1200" dirty="0"/>
          </a:p>
        </p:txBody>
      </p:sp>
      <p:sp>
        <p:nvSpPr>
          <p:cNvPr id="11" name="Shape 8"/>
          <p:cNvSpPr/>
          <p:nvPr/>
        </p:nvSpPr>
        <p:spPr>
          <a:xfrm>
            <a:off x="6233008" y="2057400"/>
            <a:ext cx="5410048" cy="1783080"/>
          </a:xfrm>
          <a:prstGeom prst="roundRect">
            <a:avLst>
              <a:gd name="adj" fmla="val 6154"/>
            </a:avLst>
          </a:prstGeom>
          <a:solidFill>
            <a:srgbClr val="163826"/>
          </a:solidFill>
          <a:ln w="6350">
            <a:solidFill>
              <a:srgbClr val="163826"/>
            </a:solidFill>
            <a:prstDash val="solid"/>
          </a:ln>
        </p:spPr>
      </p:sp>
      <p:sp>
        <p:nvSpPr>
          <p:cNvPr id="12" name="Shape 9"/>
          <p:cNvSpPr/>
          <p:nvPr/>
        </p:nvSpPr>
        <p:spPr>
          <a:xfrm>
            <a:off x="6507328" y="2331720"/>
            <a:ext cx="548640" cy="548640"/>
          </a:xfrm>
          <a:prstGeom prst="ellipse">
            <a:avLst/>
          </a:prstGeom>
          <a:solidFill>
            <a:srgbClr val="C8F04A"/>
          </a:solidFill>
          <a:ln w="12700">
            <a:solidFill>
              <a:srgbClr val="C8F04A"/>
            </a:solidFill>
            <a:prstDash val="solid"/>
          </a:ln>
        </p:spPr>
      </p:sp>
      <p:pic>
        <p:nvPicPr>
          <p:cNvPr id="13" name="Image 1" descr="preencoded.png">    </p:cNvPr>
          <p:cNvPicPr>
            <a:picLocks noChangeAspect="1"/>
          </p:cNvPicPr>
          <p:nvPr/>
        </p:nvPicPr>
        <p:blipFill>
          <a:blip r:embed="rId2"/>
          <a:stretch>
            <a:fillRect/>
          </a:stretch>
        </p:blipFill>
        <p:spPr>
          <a:xfrm>
            <a:off x="6655460" y="2479853"/>
            <a:ext cx="252374" cy="252374"/>
          </a:xfrm>
          <a:prstGeom prst="rect">
            <a:avLst/>
          </a:prstGeom>
        </p:spPr>
      </p:pic>
      <p:sp>
        <p:nvSpPr>
          <p:cNvPr id="14" name="Text 10"/>
          <p:cNvSpPr txBox="1"/>
          <p:nvPr/>
        </p:nvSpPr>
        <p:spPr>
          <a:xfrm>
            <a:off x="7238848" y="2331720"/>
            <a:ext cx="4129888" cy="5486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All four platforms + 50 directories</a:t>
            </a:r>
            <a:endParaRPr lang="en-US" sz="1600" dirty="0"/>
          </a:p>
        </p:txBody>
      </p:sp>
      <p:sp>
        <p:nvSpPr>
          <p:cNvPr id="15" name="Text 11"/>
          <p:cNvSpPr txBox="1"/>
          <p:nvPr/>
        </p:nvSpPr>
        <p:spPr>
          <a:xfrm>
            <a:off x="7238848" y="2880360"/>
            <a:ext cx="4129888" cy="91440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One team, one strategy, one report across Weedmaps, Leafly, Yelp, Google and every citation that feeds local SEO.</a:t>
            </a:r>
            <a:endParaRPr lang="en-US" sz="1200" dirty="0"/>
          </a:p>
        </p:txBody>
      </p:sp>
      <p:sp>
        <p:nvSpPr>
          <p:cNvPr id="16" name="Shape 12"/>
          <p:cNvSpPr/>
          <p:nvPr/>
        </p:nvSpPr>
        <p:spPr>
          <a:xfrm>
            <a:off x="548640" y="4114800"/>
            <a:ext cx="5410048" cy="1783080"/>
          </a:xfrm>
          <a:prstGeom prst="roundRect">
            <a:avLst>
              <a:gd name="adj" fmla="val 6154"/>
            </a:avLst>
          </a:prstGeom>
          <a:solidFill>
            <a:srgbClr val="163826"/>
          </a:solidFill>
          <a:ln w="6350">
            <a:solidFill>
              <a:srgbClr val="163826"/>
            </a:solidFill>
            <a:prstDash val="solid"/>
          </a:ln>
        </p:spPr>
      </p:sp>
      <p:sp>
        <p:nvSpPr>
          <p:cNvPr id="17" name="Shape 13"/>
          <p:cNvSpPr/>
          <p:nvPr/>
        </p:nvSpPr>
        <p:spPr>
          <a:xfrm>
            <a:off x="822960" y="4389120"/>
            <a:ext cx="548640" cy="548640"/>
          </a:xfrm>
          <a:prstGeom prst="ellipse">
            <a:avLst/>
          </a:prstGeom>
          <a:solidFill>
            <a:srgbClr val="C8F04A"/>
          </a:solidFill>
          <a:ln w="12700">
            <a:solidFill>
              <a:srgbClr val="C8F04A"/>
            </a:solidFill>
            <a:prstDash val="solid"/>
          </a:ln>
        </p:spPr>
      </p:sp>
      <p:pic>
        <p:nvPicPr>
          <p:cNvPr id="18" name="Image 2" descr="preencoded.png">    </p:cNvPr>
          <p:cNvPicPr>
            <a:picLocks noChangeAspect="1"/>
          </p:cNvPicPr>
          <p:nvPr/>
        </p:nvPicPr>
        <p:blipFill>
          <a:blip r:embed="rId3"/>
          <a:stretch>
            <a:fillRect/>
          </a:stretch>
        </p:blipFill>
        <p:spPr>
          <a:xfrm>
            <a:off x="971093" y="4537253"/>
            <a:ext cx="252374" cy="252374"/>
          </a:xfrm>
          <a:prstGeom prst="rect">
            <a:avLst/>
          </a:prstGeom>
        </p:spPr>
      </p:pic>
      <p:sp>
        <p:nvSpPr>
          <p:cNvPr id="19" name="Text 14"/>
          <p:cNvSpPr txBox="1"/>
          <p:nvPr/>
        </p:nvSpPr>
        <p:spPr>
          <a:xfrm>
            <a:off x="1554480" y="4389120"/>
            <a:ext cx="4129888" cy="5486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POS-integrated attribution</a:t>
            </a:r>
            <a:endParaRPr lang="en-US" sz="1600" dirty="0"/>
          </a:p>
        </p:txBody>
      </p:sp>
      <p:sp>
        <p:nvSpPr>
          <p:cNvPr id="20" name="Text 15"/>
          <p:cNvSpPr txBox="1"/>
          <p:nvPr/>
        </p:nvSpPr>
        <p:spPr>
          <a:xfrm>
            <a:off x="1554480" y="4937760"/>
            <a:ext cx="4129888" cy="91440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Treez, Dutchie and other POS data joined with ad spend and platform metrics — you see which platform, campaign and deal drove revenue.</a:t>
            </a:r>
            <a:endParaRPr lang="en-US" sz="1200" dirty="0"/>
          </a:p>
        </p:txBody>
      </p:sp>
      <p:sp>
        <p:nvSpPr>
          <p:cNvPr id="21" name="Shape 16"/>
          <p:cNvSpPr/>
          <p:nvPr/>
        </p:nvSpPr>
        <p:spPr>
          <a:xfrm>
            <a:off x="6233008" y="4114800"/>
            <a:ext cx="5410048" cy="1783080"/>
          </a:xfrm>
          <a:prstGeom prst="roundRect">
            <a:avLst>
              <a:gd name="adj" fmla="val 6154"/>
            </a:avLst>
          </a:prstGeom>
          <a:solidFill>
            <a:srgbClr val="163826"/>
          </a:solidFill>
          <a:ln w="6350">
            <a:solidFill>
              <a:srgbClr val="163826"/>
            </a:solidFill>
            <a:prstDash val="solid"/>
          </a:ln>
        </p:spPr>
      </p:sp>
      <p:sp>
        <p:nvSpPr>
          <p:cNvPr id="22" name="Shape 17"/>
          <p:cNvSpPr/>
          <p:nvPr/>
        </p:nvSpPr>
        <p:spPr>
          <a:xfrm>
            <a:off x="6507328" y="4389120"/>
            <a:ext cx="548640" cy="548640"/>
          </a:xfrm>
          <a:prstGeom prst="ellipse">
            <a:avLst/>
          </a:prstGeom>
          <a:solidFill>
            <a:srgbClr val="C8F04A"/>
          </a:solidFill>
          <a:ln w="12700">
            <a:solidFill>
              <a:srgbClr val="C8F04A"/>
            </a:solidFill>
            <a:prstDash val="solid"/>
          </a:ln>
        </p:spPr>
      </p:sp>
      <p:pic>
        <p:nvPicPr>
          <p:cNvPr id="23" name="Image 3" descr="preencoded.png">    </p:cNvPr>
          <p:cNvPicPr>
            <a:picLocks noChangeAspect="1"/>
          </p:cNvPicPr>
          <p:nvPr/>
        </p:nvPicPr>
        <p:blipFill>
          <a:blip r:embed="rId4"/>
          <a:stretch>
            <a:fillRect/>
          </a:stretch>
        </p:blipFill>
        <p:spPr>
          <a:xfrm>
            <a:off x="6655460" y="4537253"/>
            <a:ext cx="252374" cy="252374"/>
          </a:xfrm>
          <a:prstGeom prst="rect">
            <a:avLst/>
          </a:prstGeom>
        </p:spPr>
      </p:pic>
      <p:sp>
        <p:nvSpPr>
          <p:cNvPr id="24" name="Text 18"/>
          <p:cNvSpPr txBox="1"/>
          <p:nvPr/>
        </p:nvSpPr>
        <p:spPr>
          <a:xfrm>
            <a:off x="7238848" y="4389120"/>
            <a:ext cx="4129888" cy="5486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Results in 30 days or your money back.</a:t>
            </a:r>
            <a:endParaRPr lang="en-US" sz="1600" dirty="0"/>
          </a:p>
        </p:txBody>
      </p:sp>
      <p:sp>
        <p:nvSpPr>
          <p:cNvPr id="25" name="Text 19"/>
          <p:cNvSpPr txBox="1"/>
          <p:nvPr/>
        </p:nvSpPr>
        <p:spPr>
          <a:xfrm>
            <a:off x="7238848" y="4937760"/>
            <a:ext cx="4129888" cy="91440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We've done this for 100+ businesses. If the first 30 days don't show results, you don't pay.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0F2A1D"/>
                </a:solidFill>
                <a:latin typeface="Cambria" pitchFamily="34" charset="0"/>
                <a:ea typeface="Cambria" pitchFamily="34" charset="-122"/>
                <a:cs typeface="Cambria" pitchFamily="34" charset="-120"/>
              </a:rPr>
              <a:t>Team</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The people who will run your account.</a:t>
            </a:r>
            <a:endParaRPr lang="en-US" sz="1600" dirty="0"/>
          </a:p>
        </p:txBody>
      </p:sp>
      <p:sp>
        <p:nvSpPr>
          <p:cNvPr id="6" name="Shape 4"/>
          <p:cNvSpPr/>
          <p:nvPr/>
        </p:nvSpPr>
        <p:spPr>
          <a:xfrm>
            <a:off x="548640" y="2103120"/>
            <a:ext cx="3657600" cy="3840480"/>
          </a:xfrm>
          <a:prstGeom prst="roundRect">
            <a:avLst>
              <a:gd name="adj" fmla="val 3000"/>
            </a:avLst>
          </a:prstGeom>
          <a:solidFill>
            <a:srgbClr val="F4F7F2"/>
          </a:solidFill>
          <a:ln w="6350">
            <a:solidFill>
              <a:srgbClr val="F4F7F2"/>
            </a:solidFill>
            <a:prstDash val="solid"/>
          </a:ln>
        </p:spPr>
      </p:sp>
      <p:sp>
        <p:nvSpPr>
          <p:cNvPr id="7" name="Shape 5"/>
          <p:cNvSpPr/>
          <p:nvPr/>
        </p:nvSpPr>
        <p:spPr>
          <a:xfrm>
            <a:off x="868680" y="2423160"/>
            <a:ext cx="1005840" cy="1005840"/>
          </a:xfrm>
          <a:prstGeom prst="ellipse">
            <a:avLst/>
          </a:prstGeom>
          <a:solidFill>
            <a:srgbClr val="1F6F43"/>
          </a:solidFill>
          <a:ln w="12700">
            <a:solidFill>
              <a:srgbClr val="1F6F43"/>
            </a:solidFill>
            <a:prstDash val="solid"/>
          </a:ln>
        </p:spPr>
      </p:sp>
      <p:sp>
        <p:nvSpPr>
          <p:cNvPr id="8" name="Text 6"/>
          <p:cNvSpPr txBox="1"/>
          <p:nvPr/>
        </p:nvSpPr>
        <p:spPr>
          <a:xfrm>
            <a:off x="868680" y="2423160"/>
            <a:ext cx="1005840" cy="10058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KS</a:t>
            </a:r>
            <a:endParaRPr lang="en-US" sz="2800" dirty="0"/>
          </a:p>
        </p:txBody>
      </p:sp>
      <p:sp>
        <p:nvSpPr>
          <p:cNvPr id="9" name="Text 7"/>
          <p:cNvSpPr txBox="1"/>
          <p:nvPr/>
        </p:nvSpPr>
        <p:spPr>
          <a:xfrm>
            <a:off x="868680" y="3611880"/>
            <a:ext cx="3017520" cy="411480"/>
          </a:xfrm>
          <a:prstGeom prst="rect">
            <a:avLst/>
          </a:prstGeom>
          <a:noFill/>
          <a:ln/>
        </p:spPr>
        <p:txBody>
          <a:bodyPr wrap="square" lIns="0" tIns="0" rIns="0" bIns="0" rtlCol="0" anchor="t"/>
          <a:lstStyle/>
          <a:p>
            <a:pPr indent="0" marL="0">
              <a:buNone/>
            </a:pPr>
            <a:r>
              <a:rPr lang="en-US" sz="1800" b="1" dirty="0">
                <a:solidFill>
                  <a:srgbClr val="0F2A1D"/>
                </a:solidFill>
                <a:latin typeface="Calibri" pitchFamily="34" charset="0"/>
                <a:ea typeface="Calibri" pitchFamily="34" charset="-122"/>
                <a:cs typeface="Calibri" pitchFamily="34" charset="-120"/>
              </a:rPr>
              <a:t>Kevin Sparks</a:t>
            </a:r>
            <a:endParaRPr lang="en-US" sz="1800" dirty="0"/>
          </a:p>
        </p:txBody>
      </p:sp>
      <p:sp>
        <p:nvSpPr>
          <p:cNvPr id="10" name="Text 8"/>
          <p:cNvSpPr txBox="1"/>
          <p:nvPr/>
        </p:nvSpPr>
        <p:spPr>
          <a:xfrm>
            <a:off x="868680" y="4023360"/>
            <a:ext cx="3017520" cy="320040"/>
          </a:xfrm>
          <a:prstGeom prst="rect">
            <a:avLst/>
          </a:prstGeom>
          <a:noFill/>
          <a:ln/>
        </p:spPr>
        <p:txBody>
          <a:bodyPr wrap="square" lIns="0" tIns="0" rIns="0" bIns="0" rtlCol="0" anchor="t"/>
          <a:lstStyle/>
          <a:p>
            <a:pPr indent="0" marL="0">
              <a:buNone/>
            </a:pPr>
            <a:r>
              <a:rPr lang="en-US" sz="1200" b="1" dirty="0">
                <a:solidFill>
                  <a:srgbClr val="1F6F43"/>
                </a:solidFill>
                <a:latin typeface="Calibri" pitchFamily="34" charset="0"/>
                <a:ea typeface="Calibri" pitchFamily="34" charset="-122"/>
                <a:cs typeface="Calibri" pitchFamily="34" charset="-120"/>
              </a:rPr>
              <a:t>Founder &amp; CEO</a:t>
            </a:r>
            <a:endParaRPr lang="en-US" sz="1200" dirty="0"/>
          </a:p>
        </p:txBody>
      </p:sp>
      <p:sp>
        <p:nvSpPr>
          <p:cNvPr id="11" name="Text 9"/>
          <p:cNvSpPr txBox="1"/>
          <p:nvPr/>
        </p:nvSpPr>
        <p:spPr>
          <a:xfrm>
            <a:off x="868680" y="4434840"/>
            <a:ext cx="3017520" cy="1371600"/>
          </a:xfrm>
          <a:prstGeom prst="rect">
            <a:avLst/>
          </a:prstGeom>
          <a:noFill/>
          <a:ln/>
        </p:spPr>
        <p:txBody>
          <a:bodyPr wrap="square" lIns="0" tIns="0" rIns="0" bIns="0" rtlCol="0" anchor="t"/>
          <a:lstStyle/>
          <a:p>
            <a:pPr indent="0" marL="0">
              <a:buNone/>
            </a:pPr>
            <a:r>
              <a:rPr lang="en-US" sz="1150" dirty="0">
                <a:solidFill>
                  <a:srgbClr val="16211B"/>
                </a:solidFill>
                <a:latin typeface="Calibri" pitchFamily="34" charset="0"/>
                <a:ea typeface="Calibri" pitchFamily="34" charset="-122"/>
                <a:cs typeface="Calibri" pitchFamily="34" charset="-120"/>
              </a:rPr>
              <a:t>4 years at Weedmaps working with the largest dispensaries in the world, then 3 years running listing management for Purple Lotus before founding Sparks in 2022.</a:t>
            </a:r>
            <a:endParaRPr lang="en-US" sz="1150" dirty="0"/>
          </a:p>
        </p:txBody>
      </p:sp>
      <p:sp>
        <p:nvSpPr>
          <p:cNvPr id="12" name="Shape 10"/>
          <p:cNvSpPr/>
          <p:nvPr/>
        </p:nvSpPr>
        <p:spPr>
          <a:xfrm>
            <a:off x="4663440" y="2103120"/>
            <a:ext cx="6979615" cy="3840480"/>
          </a:xfrm>
          <a:prstGeom prst="roundRect">
            <a:avLst>
              <a:gd name="adj" fmla="val 2857"/>
            </a:avLst>
          </a:prstGeom>
          <a:solidFill>
            <a:srgbClr val="0F2A1D"/>
          </a:solidFill>
          <a:ln w="6350">
            <a:solidFill>
              <a:srgbClr val="0F2A1D"/>
            </a:solidFill>
            <a:prstDash val="solid"/>
          </a:ln>
        </p:spPr>
      </p:sp>
      <p:sp>
        <p:nvSpPr>
          <p:cNvPr id="13" name="Text 11"/>
          <p:cNvSpPr txBox="1"/>
          <p:nvPr/>
        </p:nvSpPr>
        <p:spPr>
          <a:xfrm>
            <a:off x="4983480" y="2377440"/>
            <a:ext cx="6339535" cy="320040"/>
          </a:xfrm>
          <a:prstGeom prst="rect">
            <a:avLst/>
          </a:prstGeom>
          <a:noFill/>
          <a:ln/>
        </p:spPr>
        <p:txBody>
          <a:bodyPr wrap="square" lIns="0" tIns="0" rIns="0" bIns="0" rtlCol="0" anchor="t"/>
          <a:lstStyle/>
          <a:p>
            <a:pPr indent="0" marL="0">
              <a:buNone/>
            </a:pPr>
            <a:r>
              <a:rPr lang="en-US" sz="1100" b="1" spc="400" kern="0" dirty="0">
                <a:solidFill>
                  <a:srgbClr val="C8F04A"/>
                </a:solidFill>
                <a:latin typeface="Calibri" pitchFamily="34" charset="0"/>
                <a:ea typeface="Calibri" pitchFamily="34" charset="-122"/>
                <a:cs typeface="Calibri" pitchFamily="34" charset="-120"/>
              </a:rPr>
              <a:t>YOUR ACCOUNT TEAM</a:t>
            </a:r>
            <a:endParaRPr lang="en-US" sz="1100" dirty="0"/>
          </a:p>
        </p:txBody>
      </p:sp>
      <p:sp>
        <p:nvSpPr>
          <p:cNvPr id="14" name="Text 12"/>
          <p:cNvSpPr txBox="1"/>
          <p:nvPr/>
        </p:nvSpPr>
        <p:spPr>
          <a:xfrm>
            <a:off x="4846320" y="2788920"/>
            <a:ext cx="6522415" cy="3017520"/>
          </a:xfrm>
          <a:prstGeom prst="rect">
            <a:avLst/>
          </a:prstGeom>
          <a:noFill/>
          <a:ln/>
        </p:spPr>
        <p:txBody>
          <a:bodyPr wrap="square" rtlCol="0" anchor="t"/>
          <a:lstStyle/>
          <a:p>
            <a:pPr marL="177800" indent="-1778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Dedicated account lead and weekly performance report</a:t>
            </a:r>
            <a:endParaRPr lang="en-US" sz="1300" dirty="0"/>
          </a:p>
          <a:p>
            <a:pPr marL="177800" indent="-1778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Menu &amp; listing specialists working daily in your platforms</a:t>
            </a:r>
            <a:endParaRPr lang="en-US" sz="1300" dirty="0"/>
          </a:p>
          <a:p>
            <a:pPr marL="177800" indent="-1778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In-house creative for ads, deals and listing assets</a:t>
            </a:r>
            <a:endParaRPr lang="en-US" sz="1300" dirty="0"/>
          </a:p>
          <a:p>
            <a:pPr marL="177800" indent="-1778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Data team maintaining your POS-integrated dashboard</a:t>
            </a:r>
            <a:endParaRPr lang="en-US" sz="1300" dirty="0"/>
          </a:p>
          <a:p>
            <a:pPr marL="177800" indent="-1778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Direct line to leadership — no ticket queues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B7A70"/>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A70"/>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0F2A1D"/>
                </a:solidFill>
                <a:latin typeface="Cambria" pitchFamily="34" charset="0"/>
                <a:ea typeface="Cambria" pitchFamily="34" charset="-122"/>
                <a:cs typeface="Cambria" pitchFamily="34" charset="-120"/>
              </a:rPr>
              <a:t>Recognition</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6B7A70"/>
                </a:solidFill>
                <a:latin typeface="Calibri" pitchFamily="34" charset="0"/>
                <a:ea typeface="Calibri" pitchFamily="34" charset="-122"/>
                <a:cs typeface="Calibri" pitchFamily="34" charset="-120"/>
              </a:rPr>
              <a:t>Press and partner credentials.</a:t>
            </a:r>
            <a:endParaRPr lang="en-US" sz="1600" dirty="0"/>
          </a:p>
        </p:txBody>
      </p:sp>
      <p:sp>
        <p:nvSpPr>
          <p:cNvPr id="6" name="Shape 4"/>
          <p:cNvSpPr/>
          <p:nvPr/>
        </p:nvSpPr>
        <p:spPr>
          <a:xfrm>
            <a:off x="548640" y="2057400"/>
            <a:ext cx="5410048" cy="1737360"/>
          </a:xfrm>
          <a:prstGeom prst="roundRect">
            <a:avLst>
              <a:gd name="adj" fmla="val 6316"/>
            </a:avLst>
          </a:prstGeom>
          <a:solidFill>
            <a:srgbClr val="F4F7F2"/>
          </a:solidFill>
          <a:ln w="6350">
            <a:solidFill>
              <a:srgbClr val="F4F7F2"/>
            </a:solidFill>
            <a:prstDash val="solid"/>
          </a:ln>
        </p:spPr>
      </p:sp>
      <p:sp>
        <p:nvSpPr>
          <p:cNvPr id="7" name="Shape 5"/>
          <p:cNvSpPr/>
          <p:nvPr/>
        </p:nvSpPr>
        <p:spPr>
          <a:xfrm>
            <a:off x="822960" y="2331720"/>
            <a:ext cx="548640" cy="548640"/>
          </a:xfrm>
          <a:prstGeom prst="ellipse">
            <a:avLst/>
          </a:prstGeom>
          <a:solidFill>
            <a:srgbClr val="1F6F43"/>
          </a:solidFill>
          <a:ln w="12700">
            <a:solidFill>
              <a:srgbClr val="1F6F43"/>
            </a:solidFill>
            <a:prstDash val="solid"/>
          </a:ln>
        </p:spPr>
      </p:sp>
      <p:pic>
        <p:nvPicPr>
          <p:cNvPr id="8" name="Image 0" descr="preencoded.png">    </p:cNvPr>
          <p:cNvPicPr>
            <a:picLocks noChangeAspect="1"/>
          </p:cNvPicPr>
          <p:nvPr/>
        </p:nvPicPr>
        <p:blipFill>
          <a:blip r:embed="rId1"/>
          <a:stretch>
            <a:fillRect/>
          </a:stretch>
        </p:blipFill>
        <p:spPr>
          <a:xfrm>
            <a:off x="971093" y="2479853"/>
            <a:ext cx="252374" cy="252374"/>
          </a:xfrm>
          <a:prstGeom prst="rect">
            <a:avLst/>
          </a:prstGeom>
        </p:spPr>
      </p:pic>
      <p:sp>
        <p:nvSpPr>
          <p:cNvPr id="9" name="Text 6"/>
          <p:cNvSpPr txBox="1"/>
          <p:nvPr/>
        </p:nvSpPr>
        <p:spPr>
          <a:xfrm>
            <a:off x="1554480" y="2331720"/>
            <a:ext cx="4129888" cy="54864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Top Cannabis Listing Management Agency 2026</a:t>
            </a:r>
            <a:endParaRPr lang="en-US" sz="1600" dirty="0"/>
          </a:p>
        </p:txBody>
      </p:sp>
      <p:sp>
        <p:nvSpPr>
          <p:cNvPr id="10" name="Text 7"/>
          <p:cNvSpPr txBox="1"/>
          <p:nvPr/>
        </p:nvSpPr>
        <p:spPr>
          <a:xfrm>
            <a:off x="1554480" y="2880360"/>
            <a:ext cx="4129888" cy="82296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Cannabis Business Insights Magazine, based on an editorial interview with CEO Kevin Sparks.</a:t>
            </a:r>
            <a:endParaRPr lang="en-US" sz="1200" dirty="0"/>
          </a:p>
        </p:txBody>
      </p:sp>
      <p:sp>
        <p:nvSpPr>
          <p:cNvPr id="11" name="Shape 8"/>
          <p:cNvSpPr/>
          <p:nvPr/>
        </p:nvSpPr>
        <p:spPr>
          <a:xfrm>
            <a:off x="6233008" y="2057400"/>
            <a:ext cx="5410048" cy="1737360"/>
          </a:xfrm>
          <a:prstGeom prst="roundRect">
            <a:avLst>
              <a:gd name="adj" fmla="val 6316"/>
            </a:avLst>
          </a:prstGeom>
          <a:solidFill>
            <a:srgbClr val="F4F7F2"/>
          </a:solidFill>
          <a:ln w="6350">
            <a:solidFill>
              <a:srgbClr val="F4F7F2"/>
            </a:solidFill>
            <a:prstDash val="solid"/>
          </a:ln>
        </p:spPr>
      </p:sp>
      <p:sp>
        <p:nvSpPr>
          <p:cNvPr id="12" name="Shape 9"/>
          <p:cNvSpPr/>
          <p:nvPr/>
        </p:nvSpPr>
        <p:spPr>
          <a:xfrm>
            <a:off x="6507328" y="2331720"/>
            <a:ext cx="548640" cy="548640"/>
          </a:xfrm>
          <a:prstGeom prst="ellipse">
            <a:avLst/>
          </a:prstGeom>
          <a:solidFill>
            <a:srgbClr val="1F6F43"/>
          </a:solidFill>
          <a:ln w="12700">
            <a:solidFill>
              <a:srgbClr val="1F6F43"/>
            </a:solidFill>
            <a:prstDash val="solid"/>
          </a:ln>
        </p:spPr>
      </p:sp>
      <p:pic>
        <p:nvPicPr>
          <p:cNvPr id="13" name="Image 1" descr="preencoded.png">    </p:cNvPr>
          <p:cNvPicPr>
            <a:picLocks noChangeAspect="1"/>
          </p:cNvPicPr>
          <p:nvPr/>
        </p:nvPicPr>
        <p:blipFill>
          <a:blip r:embed="rId2"/>
          <a:stretch>
            <a:fillRect/>
          </a:stretch>
        </p:blipFill>
        <p:spPr>
          <a:xfrm>
            <a:off x="6655460" y="2479853"/>
            <a:ext cx="252374" cy="252374"/>
          </a:xfrm>
          <a:prstGeom prst="rect">
            <a:avLst/>
          </a:prstGeom>
        </p:spPr>
      </p:pic>
      <p:sp>
        <p:nvSpPr>
          <p:cNvPr id="14" name="Text 10"/>
          <p:cNvSpPr txBox="1"/>
          <p:nvPr/>
        </p:nvSpPr>
        <p:spPr>
          <a:xfrm>
            <a:off x="7238848" y="2331720"/>
            <a:ext cx="4129888" cy="54864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Yelp Ads Certified Partner</a:t>
            </a:r>
            <a:endParaRPr lang="en-US" sz="1600" dirty="0"/>
          </a:p>
        </p:txBody>
      </p:sp>
      <p:sp>
        <p:nvSpPr>
          <p:cNvPr id="15" name="Text 11"/>
          <p:cNvSpPr txBox="1"/>
          <p:nvPr/>
        </p:nvSpPr>
        <p:spPr>
          <a:xfrm>
            <a:off x="7238848" y="2880360"/>
            <a:ext cx="4129888" cy="82296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One of the few cannabis partners recognized by Yelp, with direct access to Yelp Ads and review tools.</a:t>
            </a:r>
            <a:endParaRPr lang="en-US" sz="1200" dirty="0"/>
          </a:p>
        </p:txBody>
      </p:sp>
      <p:sp>
        <p:nvSpPr>
          <p:cNvPr id="16" name="Shape 12"/>
          <p:cNvSpPr/>
          <p:nvPr/>
        </p:nvSpPr>
        <p:spPr>
          <a:xfrm>
            <a:off x="548640" y="4069080"/>
            <a:ext cx="5410048" cy="1737360"/>
          </a:xfrm>
          <a:prstGeom prst="roundRect">
            <a:avLst>
              <a:gd name="adj" fmla="val 6316"/>
            </a:avLst>
          </a:prstGeom>
          <a:solidFill>
            <a:srgbClr val="F4F7F2"/>
          </a:solidFill>
          <a:ln w="6350">
            <a:solidFill>
              <a:srgbClr val="F4F7F2"/>
            </a:solidFill>
            <a:prstDash val="solid"/>
          </a:ln>
        </p:spPr>
      </p:sp>
      <p:sp>
        <p:nvSpPr>
          <p:cNvPr id="17" name="Shape 13"/>
          <p:cNvSpPr/>
          <p:nvPr/>
        </p:nvSpPr>
        <p:spPr>
          <a:xfrm>
            <a:off x="822960" y="4343400"/>
            <a:ext cx="548640" cy="548640"/>
          </a:xfrm>
          <a:prstGeom prst="ellipse">
            <a:avLst/>
          </a:prstGeom>
          <a:solidFill>
            <a:srgbClr val="1F6F43"/>
          </a:solidFill>
          <a:ln w="12700">
            <a:solidFill>
              <a:srgbClr val="1F6F43"/>
            </a:solidFill>
            <a:prstDash val="solid"/>
          </a:ln>
        </p:spPr>
      </p:sp>
      <p:pic>
        <p:nvPicPr>
          <p:cNvPr id="18" name="Image 2" descr="preencoded.png">    </p:cNvPr>
          <p:cNvPicPr>
            <a:picLocks noChangeAspect="1"/>
          </p:cNvPicPr>
          <p:nvPr/>
        </p:nvPicPr>
        <p:blipFill>
          <a:blip r:embed="rId3"/>
          <a:stretch>
            <a:fillRect/>
          </a:stretch>
        </p:blipFill>
        <p:spPr>
          <a:xfrm>
            <a:off x="971093" y="4491533"/>
            <a:ext cx="252374" cy="252374"/>
          </a:xfrm>
          <a:prstGeom prst="rect">
            <a:avLst/>
          </a:prstGeom>
        </p:spPr>
      </p:pic>
      <p:sp>
        <p:nvSpPr>
          <p:cNvPr id="19" name="Text 14"/>
          <p:cNvSpPr txBox="1"/>
          <p:nvPr/>
        </p:nvSpPr>
        <p:spPr>
          <a:xfrm>
            <a:off x="1554480" y="4343400"/>
            <a:ext cx="4129888" cy="54864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Respect My Region podcast partner</a:t>
            </a:r>
            <a:endParaRPr lang="en-US" sz="1600" dirty="0"/>
          </a:p>
        </p:txBody>
      </p:sp>
      <p:sp>
        <p:nvSpPr>
          <p:cNvPr id="20" name="Text 15"/>
          <p:cNvSpPr txBox="1"/>
          <p:nvPr/>
        </p:nvSpPr>
        <p:spPr>
          <a:xfrm>
            <a:off x="1554480" y="4892040"/>
            <a:ext cx="4129888" cy="82296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Three-episode series on optimizing Weedmaps, Leafly and Yelp for revenue.</a:t>
            </a:r>
            <a:endParaRPr lang="en-US" sz="1200" dirty="0"/>
          </a:p>
        </p:txBody>
      </p:sp>
      <p:sp>
        <p:nvSpPr>
          <p:cNvPr id="21" name="Shape 16"/>
          <p:cNvSpPr/>
          <p:nvPr/>
        </p:nvSpPr>
        <p:spPr>
          <a:xfrm>
            <a:off x="6233008" y="4069080"/>
            <a:ext cx="5410048" cy="1737360"/>
          </a:xfrm>
          <a:prstGeom prst="roundRect">
            <a:avLst>
              <a:gd name="adj" fmla="val 6316"/>
            </a:avLst>
          </a:prstGeom>
          <a:solidFill>
            <a:srgbClr val="F4F7F2"/>
          </a:solidFill>
          <a:ln w="6350">
            <a:solidFill>
              <a:srgbClr val="F4F7F2"/>
            </a:solidFill>
            <a:prstDash val="solid"/>
          </a:ln>
        </p:spPr>
      </p:sp>
      <p:sp>
        <p:nvSpPr>
          <p:cNvPr id="22" name="Shape 17"/>
          <p:cNvSpPr/>
          <p:nvPr/>
        </p:nvSpPr>
        <p:spPr>
          <a:xfrm>
            <a:off x="6507328" y="4343400"/>
            <a:ext cx="548640" cy="548640"/>
          </a:xfrm>
          <a:prstGeom prst="ellipse">
            <a:avLst/>
          </a:prstGeom>
          <a:solidFill>
            <a:srgbClr val="1F6F43"/>
          </a:solidFill>
          <a:ln w="12700">
            <a:solidFill>
              <a:srgbClr val="1F6F43"/>
            </a:solidFill>
            <a:prstDash val="solid"/>
          </a:ln>
        </p:spPr>
      </p:sp>
      <p:pic>
        <p:nvPicPr>
          <p:cNvPr id="23" name="Image 3" descr="preencoded.png">    </p:cNvPr>
          <p:cNvPicPr>
            <a:picLocks noChangeAspect="1"/>
          </p:cNvPicPr>
          <p:nvPr/>
        </p:nvPicPr>
        <p:blipFill>
          <a:blip r:embed="rId4"/>
          <a:stretch>
            <a:fillRect/>
          </a:stretch>
        </p:blipFill>
        <p:spPr>
          <a:xfrm>
            <a:off x="6655460" y="4491533"/>
            <a:ext cx="252374" cy="252374"/>
          </a:xfrm>
          <a:prstGeom prst="rect">
            <a:avLst/>
          </a:prstGeom>
        </p:spPr>
      </p:pic>
      <p:sp>
        <p:nvSpPr>
          <p:cNvPr id="24" name="Text 18"/>
          <p:cNvSpPr txBox="1"/>
          <p:nvPr/>
        </p:nvSpPr>
        <p:spPr>
          <a:xfrm>
            <a:off x="7238848" y="4343400"/>
            <a:ext cx="4129888" cy="548640"/>
          </a:xfrm>
          <a:prstGeom prst="rect">
            <a:avLst/>
          </a:prstGeom>
          <a:noFill/>
          <a:ln/>
        </p:spPr>
        <p:txBody>
          <a:bodyPr wrap="square" lIns="0" tIns="0" rIns="0" bIns="0" rtlCol="0" anchor="t"/>
          <a:lstStyle/>
          <a:p>
            <a:pPr indent="0" marL="0">
              <a:buNone/>
            </a:pPr>
            <a:r>
              <a:rPr lang="en-US" sz="1600" b="1" dirty="0">
                <a:solidFill>
                  <a:srgbClr val="0F2A1D"/>
                </a:solidFill>
                <a:latin typeface="Calibri" pitchFamily="34" charset="0"/>
                <a:ea typeface="Calibri" pitchFamily="34" charset="-122"/>
                <a:cs typeface="Calibri" pitchFamily="34" charset="-120"/>
              </a:rPr>
              <a:t>Weedmaps alumni-founded</a:t>
            </a:r>
            <a:endParaRPr lang="en-US" sz="1600" dirty="0"/>
          </a:p>
        </p:txBody>
      </p:sp>
      <p:sp>
        <p:nvSpPr>
          <p:cNvPr id="25" name="Text 19"/>
          <p:cNvSpPr txBox="1"/>
          <p:nvPr/>
        </p:nvSpPr>
        <p:spPr>
          <a:xfrm>
            <a:off x="7238848" y="4892040"/>
            <a:ext cx="4129888" cy="822960"/>
          </a:xfrm>
          <a:prstGeom prst="rect">
            <a:avLst/>
          </a:prstGeom>
          <a:noFill/>
          <a:ln/>
        </p:spPr>
        <p:txBody>
          <a:bodyPr wrap="square" lIns="0" tIns="0" rIns="0" bIns="0" rtlCol="0" anchor="t"/>
          <a:lstStyle/>
          <a:p>
            <a:pPr indent="0" marL="0">
              <a:buNone/>
            </a:pPr>
            <a:r>
              <a:rPr lang="en-US" sz="1200" dirty="0">
                <a:solidFill>
                  <a:srgbClr val="16211B"/>
                </a:solidFill>
                <a:latin typeface="Calibri" pitchFamily="34" charset="0"/>
                <a:ea typeface="Calibri" pitchFamily="34" charset="-122"/>
                <a:cs typeface="Calibri" pitchFamily="34" charset="-120"/>
              </a:rPr>
              <a:t>Founder spent four years inside Weedmaps before starting Sparks in 2022.</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A1D"/>
        </a:solidFill>
      </p:bgPr>
    </p:bg>
    <p:spTree>
      <p:nvGrpSpPr>
        <p:cNvPr id="1" name=""/>
        <p:cNvGrpSpPr/>
        <p:nvPr/>
      </p:nvGrpSpPr>
      <p:grpSpPr>
        <a:xfrm>
          <a:off x="0" y="0"/>
          <a:ext cx="0" cy="0"/>
          <a:chOff x="0" y="0"/>
          <a:chExt cx="0" cy="0"/>
        </a:xfrm>
      </p:grpSpPr>
      <p:sp>
        <p:nvSpPr>
          <p:cNvPr id="2" name="Text 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C8F04A"/>
                </a:solidFill>
                <a:latin typeface="Calibri" pitchFamily="34" charset="0"/>
                <a:ea typeface="Calibri" pitchFamily="34" charset="-122"/>
                <a:cs typeface="Calibri" pitchFamily="34" charset="-120"/>
              </a:rPr>
              <a:t>Sparks  ·  sparkscann.com</a:t>
            </a:r>
            <a:endParaRPr lang="en-US" sz="1000" dirty="0"/>
          </a:p>
        </p:txBody>
      </p:sp>
      <p:sp>
        <p:nvSpPr>
          <p:cNvPr id="3" name="Text 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C8F04A"/>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548640" y="502920"/>
            <a:ext cx="11094415" cy="6629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Investment &amp; next steps</a:t>
            </a:r>
            <a:endParaRPr lang="en-US" sz="3600" dirty="0"/>
          </a:p>
        </p:txBody>
      </p:sp>
      <p:sp>
        <p:nvSpPr>
          <p:cNvPr id="5" name="Text 3"/>
          <p:cNvSpPr txBox="1"/>
          <p:nvPr/>
        </p:nvSpPr>
        <p:spPr>
          <a:xfrm>
            <a:off x="548640" y="1275588"/>
            <a:ext cx="11094415" cy="457200"/>
          </a:xfrm>
          <a:prstGeom prst="rect">
            <a:avLst/>
          </a:prstGeom>
          <a:noFill/>
          <a:ln/>
        </p:spPr>
        <p:txBody>
          <a:bodyPr wrap="square" lIns="0" tIns="0" rIns="0" bIns="0" rtlCol="0" anchor="t"/>
          <a:lstStyle/>
          <a:p>
            <a:pPr indent="0" marL="0">
              <a:buNone/>
            </a:pPr>
            <a:r>
              <a:rPr lang="en-US" sz="1600" dirty="0">
                <a:solidFill>
                  <a:srgbClr val="C8F04A"/>
                </a:solidFill>
                <a:latin typeface="Calibri" pitchFamily="34" charset="0"/>
                <a:ea typeface="Calibri" pitchFamily="34" charset="-122"/>
                <a:cs typeface="Calibri" pitchFamily="34" charset="-120"/>
              </a:rPr>
              <a:t>A 90-day launch plan for Green Valley Dispensary.</a:t>
            </a:r>
            <a:endParaRPr lang="en-US" sz="1600" dirty="0"/>
          </a:p>
        </p:txBody>
      </p:sp>
      <p:sp>
        <p:nvSpPr>
          <p:cNvPr id="6" name="Shape 4"/>
          <p:cNvSpPr/>
          <p:nvPr/>
        </p:nvSpPr>
        <p:spPr>
          <a:xfrm>
            <a:off x="548640" y="2167128"/>
            <a:ext cx="502920" cy="502920"/>
          </a:xfrm>
          <a:prstGeom prst="ellipse">
            <a:avLst/>
          </a:prstGeom>
          <a:solidFill>
            <a:srgbClr val="C8F04A"/>
          </a:solidFill>
          <a:ln w="12700">
            <a:solidFill>
              <a:srgbClr val="C8F04A"/>
            </a:solidFill>
            <a:prstDash val="solid"/>
          </a:ln>
        </p:spPr>
      </p:sp>
      <p:sp>
        <p:nvSpPr>
          <p:cNvPr id="7" name="Text 5"/>
          <p:cNvSpPr txBox="1"/>
          <p:nvPr/>
        </p:nvSpPr>
        <p:spPr>
          <a:xfrm>
            <a:off x="548640" y="2167128"/>
            <a:ext cx="502920" cy="502920"/>
          </a:xfrm>
          <a:prstGeom prst="rect">
            <a:avLst/>
          </a:prstGeom>
          <a:noFill/>
          <a:ln/>
        </p:spPr>
        <p:txBody>
          <a:bodyPr wrap="square" lIns="0" tIns="0" rIns="0" bIns="0" rtlCol="0" anchor="ctr"/>
          <a:lstStyle/>
          <a:p>
            <a:pPr algn="ctr" indent="0" marL="0">
              <a:buNone/>
            </a:pPr>
            <a:r>
              <a:rPr lang="en-US" sz="1600" b="1" dirty="0">
                <a:solidFill>
                  <a:srgbClr val="0F2A1D"/>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1280160" y="2057400"/>
            <a:ext cx="594360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Days 1–30</a:t>
            </a:r>
            <a:endParaRPr lang="en-US" sz="1500" dirty="0"/>
          </a:p>
        </p:txBody>
      </p:sp>
      <p:sp>
        <p:nvSpPr>
          <p:cNvPr id="9" name="Text 7"/>
          <p:cNvSpPr txBox="1"/>
          <p:nvPr/>
        </p:nvSpPr>
        <p:spPr>
          <a:xfrm>
            <a:off x="1280160" y="2423160"/>
            <a:ext cx="5943600" cy="54864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Full audit, strategy, listing + menu clean-up, campaigns live</a:t>
            </a:r>
            <a:endParaRPr lang="en-US" sz="1200" dirty="0"/>
          </a:p>
        </p:txBody>
      </p:sp>
      <p:sp>
        <p:nvSpPr>
          <p:cNvPr id="10" name="Shape 8"/>
          <p:cNvSpPr/>
          <p:nvPr/>
        </p:nvSpPr>
        <p:spPr>
          <a:xfrm>
            <a:off x="548640" y="3172968"/>
            <a:ext cx="502920" cy="502920"/>
          </a:xfrm>
          <a:prstGeom prst="ellipse">
            <a:avLst/>
          </a:prstGeom>
          <a:solidFill>
            <a:srgbClr val="C8F04A"/>
          </a:solidFill>
          <a:ln w="12700">
            <a:solidFill>
              <a:srgbClr val="C8F04A"/>
            </a:solidFill>
            <a:prstDash val="solid"/>
          </a:ln>
        </p:spPr>
      </p:sp>
      <p:sp>
        <p:nvSpPr>
          <p:cNvPr id="11" name="Text 9"/>
          <p:cNvSpPr txBox="1"/>
          <p:nvPr/>
        </p:nvSpPr>
        <p:spPr>
          <a:xfrm>
            <a:off x="548640" y="3172968"/>
            <a:ext cx="502920" cy="502920"/>
          </a:xfrm>
          <a:prstGeom prst="rect">
            <a:avLst/>
          </a:prstGeom>
          <a:noFill/>
          <a:ln/>
        </p:spPr>
        <p:txBody>
          <a:bodyPr wrap="square" lIns="0" tIns="0" rIns="0" bIns="0" rtlCol="0" anchor="ctr"/>
          <a:lstStyle/>
          <a:p>
            <a:pPr algn="ctr" indent="0" marL="0">
              <a:buNone/>
            </a:pPr>
            <a:r>
              <a:rPr lang="en-US" sz="1600" b="1" dirty="0">
                <a:solidFill>
                  <a:srgbClr val="0F2A1D"/>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1280160" y="3063240"/>
            <a:ext cx="594360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Days 31–60</a:t>
            </a:r>
            <a:endParaRPr lang="en-US" sz="1500" dirty="0"/>
          </a:p>
        </p:txBody>
      </p:sp>
      <p:sp>
        <p:nvSpPr>
          <p:cNvPr id="13" name="Text 11"/>
          <p:cNvSpPr txBox="1"/>
          <p:nvPr/>
        </p:nvSpPr>
        <p:spPr>
          <a:xfrm>
            <a:off x="1280160" y="3429000"/>
            <a:ext cx="5943600" cy="54864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Bid &amp; deal optimization, review program, dashboard attribution</a:t>
            </a:r>
            <a:endParaRPr lang="en-US" sz="1200" dirty="0"/>
          </a:p>
        </p:txBody>
      </p:sp>
      <p:sp>
        <p:nvSpPr>
          <p:cNvPr id="14" name="Shape 12"/>
          <p:cNvSpPr/>
          <p:nvPr/>
        </p:nvSpPr>
        <p:spPr>
          <a:xfrm>
            <a:off x="548640" y="4178808"/>
            <a:ext cx="502920" cy="502920"/>
          </a:xfrm>
          <a:prstGeom prst="ellipse">
            <a:avLst/>
          </a:prstGeom>
          <a:solidFill>
            <a:srgbClr val="C8F04A"/>
          </a:solidFill>
          <a:ln w="12700">
            <a:solidFill>
              <a:srgbClr val="C8F04A"/>
            </a:solidFill>
            <a:prstDash val="solid"/>
          </a:ln>
        </p:spPr>
      </p:sp>
      <p:sp>
        <p:nvSpPr>
          <p:cNvPr id="15" name="Text 13"/>
          <p:cNvSpPr txBox="1"/>
          <p:nvPr/>
        </p:nvSpPr>
        <p:spPr>
          <a:xfrm>
            <a:off x="548640" y="4178808"/>
            <a:ext cx="502920" cy="502920"/>
          </a:xfrm>
          <a:prstGeom prst="rect">
            <a:avLst/>
          </a:prstGeom>
          <a:noFill/>
          <a:ln/>
        </p:spPr>
        <p:txBody>
          <a:bodyPr wrap="square" lIns="0" tIns="0" rIns="0" bIns="0" rtlCol="0" anchor="ctr"/>
          <a:lstStyle/>
          <a:p>
            <a:pPr algn="ctr" indent="0" marL="0">
              <a:buNone/>
            </a:pPr>
            <a:r>
              <a:rPr lang="en-US" sz="1600" b="1" dirty="0">
                <a:solidFill>
                  <a:srgbClr val="0F2A1D"/>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1280160" y="4069080"/>
            <a:ext cx="594360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Days 61–90</a:t>
            </a:r>
            <a:endParaRPr lang="en-US" sz="1500" dirty="0"/>
          </a:p>
        </p:txBody>
      </p:sp>
      <p:sp>
        <p:nvSpPr>
          <p:cNvPr id="17" name="Text 15"/>
          <p:cNvSpPr txBox="1"/>
          <p:nvPr/>
        </p:nvSpPr>
        <p:spPr>
          <a:xfrm>
            <a:off x="1280160" y="4434840"/>
            <a:ext cx="5943600" cy="548640"/>
          </a:xfrm>
          <a:prstGeom prst="rect">
            <a:avLst/>
          </a:prstGeom>
          <a:noFill/>
          <a:ln/>
        </p:spPr>
        <p:txBody>
          <a:bodyPr wrap="square" lIns="0" tIns="0" rIns="0" bIns="0" rtlCol="0" anchor="t"/>
          <a:lstStyle/>
          <a:p>
            <a:pPr indent="0" marL="0">
              <a:buNone/>
            </a:pPr>
            <a:r>
              <a:rPr lang="en-US" sz="1200" dirty="0">
                <a:solidFill>
                  <a:srgbClr val="D9E5DD"/>
                </a:solidFill>
                <a:latin typeface="Calibri" pitchFamily="34" charset="0"/>
                <a:ea typeface="Calibri" pitchFamily="34" charset="-122"/>
                <a:cs typeface="Calibri" pitchFamily="34" charset="-120"/>
              </a:rPr>
              <a:t>Scale winners, Maps 3-pack push, quarterly plan</a:t>
            </a:r>
            <a:endParaRPr lang="en-US" sz="1200" dirty="0"/>
          </a:p>
        </p:txBody>
      </p:sp>
      <p:sp>
        <p:nvSpPr>
          <p:cNvPr id="18" name="Text 16"/>
          <p:cNvSpPr txBox="1"/>
          <p:nvPr/>
        </p:nvSpPr>
        <p:spPr>
          <a:xfrm>
            <a:off x="548640" y="5120640"/>
            <a:ext cx="6675120" cy="365760"/>
          </a:xfrm>
          <a:prstGeom prst="rect">
            <a:avLst/>
          </a:prstGeom>
          <a:noFill/>
          <a:ln/>
        </p:spPr>
        <p:txBody>
          <a:bodyPr wrap="square" lIns="0" tIns="0" rIns="0" bIns="0" rtlCol="0" anchor="t"/>
          <a:lstStyle/>
          <a:p>
            <a:pPr indent="0" marL="0">
              <a:buNone/>
            </a:pPr>
            <a:r>
              <a:rPr lang="en-US" sz="1400" b="1" dirty="0">
                <a:solidFill>
                  <a:srgbClr val="C8F04A"/>
                </a:solidFill>
                <a:latin typeface="Calibri" pitchFamily="34" charset="0"/>
                <a:ea typeface="Calibri" pitchFamily="34" charset="-122"/>
                <a:cs typeface="Calibri" pitchFamily="34" charset="-120"/>
              </a:rPr>
              <a:t>Results in 30 days or your money back.</a:t>
            </a:r>
            <a:endParaRPr lang="en-US" sz="1400" dirty="0"/>
          </a:p>
        </p:txBody>
      </p:sp>
      <p:sp>
        <p:nvSpPr>
          <p:cNvPr id="19" name="Text 17"/>
          <p:cNvSpPr txBox="1"/>
          <p:nvPr/>
        </p:nvSpPr>
        <p:spPr>
          <a:xfrm>
            <a:off x="548640" y="5486400"/>
            <a:ext cx="6675120" cy="457200"/>
          </a:xfrm>
          <a:prstGeom prst="rect">
            <a:avLst/>
          </a:prstGeom>
          <a:noFill/>
          <a:ln/>
        </p:spPr>
        <p:txBody>
          <a:bodyPr wrap="square" lIns="0" tIns="0" rIns="0" bIns="0" rtlCol="0" anchor="t"/>
          <a:lstStyle/>
          <a:p>
            <a:pPr indent="0" marL="0">
              <a:buNone/>
            </a:pPr>
            <a:r>
              <a:rPr lang="en-US" sz="1100" i="1" dirty="0">
                <a:solidFill>
                  <a:srgbClr val="D9E5DD"/>
                </a:solidFill>
                <a:latin typeface="Calibri" pitchFamily="34" charset="0"/>
                <a:ea typeface="Calibri" pitchFamily="34" charset="-122"/>
                <a:cs typeface="Calibri" pitchFamily="34" charset="-120"/>
              </a:rPr>
              <a:t>Ad spend billed directly by platforms; Sparks manages allocation.</a:t>
            </a:r>
            <a:endParaRPr lang="en-US" sz="1100" dirty="0"/>
          </a:p>
        </p:txBody>
      </p:sp>
      <p:sp>
        <p:nvSpPr>
          <p:cNvPr id="20" name="Shape 18"/>
          <p:cNvSpPr/>
          <p:nvPr/>
        </p:nvSpPr>
        <p:spPr>
          <a:xfrm>
            <a:off x="7589520" y="2057400"/>
            <a:ext cx="4053535" cy="3931920"/>
          </a:xfrm>
          <a:prstGeom prst="roundRect">
            <a:avLst>
              <a:gd name="adj" fmla="val 2791"/>
            </a:avLst>
          </a:prstGeom>
          <a:solidFill>
            <a:srgbClr val="163826"/>
          </a:solidFill>
          <a:ln w="6350">
            <a:solidFill>
              <a:srgbClr val="163826"/>
            </a:solidFill>
            <a:prstDash val="solid"/>
          </a:ln>
        </p:spPr>
      </p:sp>
      <p:sp>
        <p:nvSpPr>
          <p:cNvPr id="21" name="Text 19"/>
          <p:cNvSpPr txBox="1"/>
          <p:nvPr/>
        </p:nvSpPr>
        <p:spPr>
          <a:xfrm>
            <a:off x="7909560" y="2286000"/>
            <a:ext cx="3413455" cy="320040"/>
          </a:xfrm>
          <a:prstGeom prst="rect">
            <a:avLst/>
          </a:prstGeom>
          <a:noFill/>
          <a:ln/>
        </p:spPr>
        <p:txBody>
          <a:bodyPr wrap="square" lIns="0" tIns="0" rIns="0" bIns="0" rtlCol="0" anchor="t"/>
          <a:lstStyle/>
          <a:p>
            <a:pPr indent="0" marL="0">
              <a:buNone/>
            </a:pPr>
            <a:r>
              <a:rPr lang="en-US" sz="1100" b="1" spc="400" kern="0" dirty="0">
                <a:solidFill>
                  <a:srgbClr val="C8F04A"/>
                </a:solidFill>
                <a:latin typeface="Calibri" pitchFamily="34" charset="0"/>
                <a:ea typeface="Calibri" pitchFamily="34" charset="-122"/>
                <a:cs typeface="Calibri" pitchFamily="34" charset="-120"/>
              </a:rPr>
              <a:t>INVESTMENT</a:t>
            </a:r>
            <a:endParaRPr lang="en-US" sz="1100" dirty="0"/>
          </a:p>
        </p:txBody>
      </p:sp>
      <p:sp>
        <p:nvSpPr>
          <p:cNvPr id="22" name="Text 20"/>
          <p:cNvSpPr txBox="1"/>
          <p:nvPr/>
        </p:nvSpPr>
        <p:spPr>
          <a:xfrm>
            <a:off x="7909560" y="2697480"/>
            <a:ext cx="1036015"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Launch</a:t>
            </a:r>
            <a:endParaRPr lang="en-US" sz="1400" dirty="0"/>
          </a:p>
        </p:txBody>
      </p:sp>
      <p:sp>
        <p:nvSpPr>
          <p:cNvPr id="23" name="Text 21"/>
          <p:cNvSpPr txBox="1"/>
          <p:nvPr/>
        </p:nvSpPr>
        <p:spPr>
          <a:xfrm>
            <a:off x="8854135" y="2697480"/>
            <a:ext cx="2468880" cy="329184"/>
          </a:xfrm>
          <a:prstGeom prst="rect">
            <a:avLst/>
          </a:prstGeom>
          <a:noFill/>
          <a:ln/>
        </p:spPr>
        <p:txBody>
          <a:bodyPr wrap="square" lIns="0" tIns="0" rIns="0" bIns="0" rtlCol="0" anchor="ctr"/>
          <a:lstStyle/>
          <a:p>
            <a:pPr algn="r" indent="0" marL="0">
              <a:buNone/>
            </a:pPr>
            <a:r>
              <a:rPr lang="en-US" sz="1400" b="1" dirty="0">
                <a:solidFill>
                  <a:srgbClr val="C8F04A"/>
                </a:solidFill>
                <a:latin typeface="Calibri" pitchFamily="34" charset="0"/>
                <a:ea typeface="Calibri" pitchFamily="34" charset="-122"/>
                <a:cs typeface="Calibri" pitchFamily="34" charset="-120"/>
              </a:rPr>
              <a:t>Custom</a:t>
            </a:r>
            <a:endParaRPr lang="en-US" sz="1400" dirty="0"/>
          </a:p>
        </p:txBody>
      </p:sp>
      <p:sp>
        <p:nvSpPr>
          <p:cNvPr id="24" name="Text 22"/>
          <p:cNvSpPr txBox="1"/>
          <p:nvPr/>
        </p:nvSpPr>
        <p:spPr>
          <a:xfrm>
            <a:off x="7909560" y="3026664"/>
            <a:ext cx="3413455" cy="365760"/>
          </a:xfrm>
          <a:prstGeom prst="rect">
            <a:avLst/>
          </a:prstGeom>
          <a:noFill/>
          <a:ln/>
        </p:spPr>
        <p:txBody>
          <a:bodyPr wrap="square" lIns="0" tIns="0" rIns="0" bIns="0" rtlCol="0" anchor="t"/>
          <a:lstStyle/>
          <a:p>
            <a:pPr indent="0" marL="0">
              <a:buNone/>
            </a:pPr>
            <a:r>
              <a:rPr lang="en-US" sz="1100" dirty="0">
                <a:solidFill>
                  <a:srgbClr val="D9E5DD"/>
                </a:solidFill>
                <a:latin typeface="Calibri" pitchFamily="34" charset="0"/>
                <a:ea typeface="Calibri" pitchFamily="34" charset="-122"/>
                <a:cs typeface="Calibri" pitchFamily="34" charset="-120"/>
              </a:rPr>
              <a:t>Weedmaps + Google</a:t>
            </a:r>
            <a:endParaRPr lang="en-US" sz="1100" dirty="0"/>
          </a:p>
        </p:txBody>
      </p:sp>
      <p:sp>
        <p:nvSpPr>
          <p:cNvPr id="25" name="Text 23"/>
          <p:cNvSpPr txBox="1"/>
          <p:nvPr/>
        </p:nvSpPr>
        <p:spPr>
          <a:xfrm>
            <a:off x="7909560" y="3429000"/>
            <a:ext cx="1036015"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Growth</a:t>
            </a:r>
            <a:endParaRPr lang="en-US" sz="1400" dirty="0"/>
          </a:p>
        </p:txBody>
      </p:sp>
      <p:sp>
        <p:nvSpPr>
          <p:cNvPr id="26" name="Text 24"/>
          <p:cNvSpPr txBox="1"/>
          <p:nvPr/>
        </p:nvSpPr>
        <p:spPr>
          <a:xfrm>
            <a:off x="8854135" y="3429000"/>
            <a:ext cx="2468880" cy="329184"/>
          </a:xfrm>
          <a:prstGeom prst="rect">
            <a:avLst/>
          </a:prstGeom>
          <a:noFill/>
          <a:ln/>
        </p:spPr>
        <p:txBody>
          <a:bodyPr wrap="square" lIns="0" tIns="0" rIns="0" bIns="0" rtlCol="0" anchor="ctr"/>
          <a:lstStyle/>
          <a:p>
            <a:pPr algn="r" indent="0" marL="0">
              <a:buNone/>
            </a:pPr>
            <a:r>
              <a:rPr lang="en-US" sz="1400" b="1" dirty="0">
                <a:solidFill>
                  <a:srgbClr val="C8F04A"/>
                </a:solidFill>
                <a:latin typeface="Calibri" pitchFamily="34" charset="0"/>
                <a:ea typeface="Calibri" pitchFamily="34" charset="-122"/>
                <a:cs typeface="Calibri" pitchFamily="34" charset="-120"/>
              </a:rPr>
              <a:t>Custom</a:t>
            </a:r>
            <a:endParaRPr lang="en-US" sz="1400" dirty="0"/>
          </a:p>
        </p:txBody>
      </p:sp>
      <p:sp>
        <p:nvSpPr>
          <p:cNvPr id="27" name="Text 25"/>
          <p:cNvSpPr txBox="1"/>
          <p:nvPr/>
        </p:nvSpPr>
        <p:spPr>
          <a:xfrm>
            <a:off x="7909560" y="3758184"/>
            <a:ext cx="3413455" cy="365760"/>
          </a:xfrm>
          <a:prstGeom prst="rect">
            <a:avLst/>
          </a:prstGeom>
          <a:noFill/>
          <a:ln/>
        </p:spPr>
        <p:txBody>
          <a:bodyPr wrap="square" lIns="0" tIns="0" rIns="0" bIns="0" rtlCol="0" anchor="t"/>
          <a:lstStyle/>
          <a:p>
            <a:pPr indent="0" marL="0">
              <a:buNone/>
            </a:pPr>
            <a:r>
              <a:rPr lang="en-US" sz="1100" dirty="0">
                <a:solidFill>
                  <a:srgbClr val="D9E5DD"/>
                </a:solidFill>
                <a:latin typeface="Calibri" pitchFamily="34" charset="0"/>
                <a:ea typeface="Calibri" pitchFamily="34" charset="-122"/>
                <a:cs typeface="Calibri" pitchFamily="34" charset="-120"/>
              </a:rPr>
              <a:t>Weedmaps + Leafly + Yelp + Google</a:t>
            </a:r>
            <a:endParaRPr lang="en-US" sz="1100" dirty="0"/>
          </a:p>
        </p:txBody>
      </p:sp>
      <p:sp>
        <p:nvSpPr>
          <p:cNvPr id="28" name="Text 26"/>
          <p:cNvSpPr txBox="1"/>
          <p:nvPr/>
        </p:nvSpPr>
        <p:spPr>
          <a:xfrm>
            <a:off x="7909560" y="4160520"/>
            <a:ext cx="1036015"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Dominate</a:t>
            </a:r>
            <a:endParaRPr lang="en-US" sz="1400" dirty="0"/>
          </a:p>
        </p:txBody>
      </p:sp>
      <p:sp>
        <p:nvSpPr>
          <p:cNvPr id="29" name="Text 27"/>
          <p:cNvSpPr txBox="1"/>
          <p:nvPr/>
        </p:nvSpPr>
        <p:spPr>
          <a:xfrm>
            <a:off x="8854135" y="4160520"/>
            <a:ext cx="2468880" cy="329184"/>
          </a:xfrm>
          <a:prstGeom prst="rect">
            <a:avLst/>
          </a:prstGeom>
          <a:noFill/>
          <a:ln/>
        </p:spPr>
        <p:txBody>
          <a:bodyPr wrap="square" lIns="0" tIns="0" rIns="0" bIns="0" rtlCol="0" anchor="ctr"/>
          <a:lstStyle/>
          <a:p>
            <a:pPr algn="r" indent="0" marL="0">
              <a:buNone/>
            </a:pPr>
            <a:r>
              <a:rPr lang="en-US" sz="1400" b="1" dirty="0">
                <a:solidFill>
                  <a:srgbClr val="C8F04A"/>
                </a:solidFill>
                <a:latin typeface="Calibri" pitchFamily="34" charset="0"/>
                <a:ea typeface="Calibri" pitchFamily="34" charset="-122"/>
                <a:cs typeface="Calibri" pitchFamily="34" charset="-120"/>
              </a:rPr>
              <a:t>Custom</a:t>
            </a:r>
            <a:endParaRPr lang="en-US" sz="1400" dirty="0"/>
          </a:p>
        </p:txBody>
      </p:sp>
      <p:sp>
        <p:nvSpPr>
          <p:cNvPr id="30" name="Text 28"/>
          <p:cNvSpPr txBox="1"/>
          <p:nvPr/>
        </p:nvSpPr>
        <p:spPr>
          <a:xfrm>
            <a:off x="7909560" y="4489704"/>
            <a:ext cx="3413455" cy="365760"/>
          </a:xfrm>
          <a:prstGeom prst="rect">
            <a:avLst/>
          </a:prstGeom>
          <a:noFill/>
          <a:ln/>
        </p:spPr>
        <p:txBody>
          <a:bodyPr wrap="square" lIns="0" tIns="0" rIns="0" bIns="0" rtlCol="0" anchor="t"/>
          <a:lstStyle/>
          <a:p>
            <a:pPr indent="0" marL="0">
              <a:buNone/>
            </a:pPr>
            <a:r>
              <a:rPr lang="en-US" sz="1100" dirty="0">
                <a:solidFill>
                  <a:srgbClr val="D9E5DD"/>
                </a:solidFill>
                <a:latin typeface="Calibri" pitchFamily="34" charset="0"/>
                <a:ea typeface="Calibri" pitchFamily="34" charset="-122"/>
                <a:cs typeface="Calibri" pitchFamily="34" charset="-120"/>
              </a:rPr>
              <a:t>All platforms + Local SEO + Programmatic</a:t>
            </a:r>
            <a:endParaRPr lang="en-US" sz="1100" dirty="0"/>
          </a:p>
        </p:txBody>
      </p:sp>
      <p:sp>
        <p:nvSpPr>
          <p:cNvPr id="31" name="Text 29"/>
          <p:cNvSpPr txBox="1"/>
          <p:nvPr/>
        </p:nvSpPr>
        <p:spPr>
          <a:xfrm>
            <a:off x="7909560" y="4983480"/>
            <a:ext cx="3413455"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Ready when you are.</a:t>
            </a:r>
            <a:endParaRPr lang="en-US" sz="1600" dirty="0"/>
          </a:p>
        </p:txBody>
      </p:sp>
      <p:sp>
        <p:nvSpPr>
          <p:cNvPr id="32" name="Text 30"/>
          <p:cNvSpPr txBox="1"/>
          <p:nvPr/>
        </p:nvSpPr>
        <p:spPr>
          <a:xfrm>
            <a:off x="7909560" y="5394960"/>
            <a:ext cx="3413455" cy="502920"/>
          </a:xfrm>
          <a:prstGeom prst="rect">
            <a:avLst/>
          </a:prstGeom>
          <a:noFill/>
          <a:ln/>
        </p:spPr>
        <p:txBody>
          <a:bodyPr wrap="square" lIns="0" tIns="0" rIns="0" bIns="0" rtlCol="0" anchor="t"/>
          <a:lstStyle/>
          <a:p>
            <a:pPr indent="0" marL="0">
              <a:buNone/>
            </a:pPr>
            <a:r>
              <a:rPr lang="en-US" sz="1100" dirty="0">
                <a:solidFill>
                  <a:srgbClr val="C8F04A"/>
                </a:solidFill>
                <a:latin typeface="Calibri" pitchFamily="34" charset="0"/>
                <a:ea typeface="Calibri" pitchFamily="34" charset="-122"/>
                <a:cs typeface="Calibri" pitchFamily="34" charset="-120"/>
              </a:rPr>
              <a:t>Kevin Sparks, Founder &amp; CEO  ·  kevin@sparkscann.com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Sparks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Sparks × Green Valley Dispensary</dc:title>
  <dc:subject>PptxGenJS Presentation</dc:subject>
  <dc:creator>Sparks</dc:creator>
  <cp:lastModifiedBy>Sparks</cp:lastModifiedBy>
  <cp:revision>1</cp:revision>
  <dcterms:created xsi:type="dcterms:W3CDTF">2026-09-14T17:43:24Z</dcterms:created>
  <dcterms:modified xsi:type="dcterms:W3CDTF">2026-09-14T17:43:24Z</dcterms:modified>
</cp:coreProperties>
</file>