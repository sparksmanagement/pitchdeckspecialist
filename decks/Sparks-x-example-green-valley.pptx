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one-liner. Green Valley Dispensary is a dispensary in Sacramento, CA. This deck is Weedmaps-first: the full pitch is Weedmaps management; the other platforms are add-ons at $495/mo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Airbnb's problem slide: plain-language pains. Tie each one to something you saw on the prospect's listings (the audit slide comes in the Weedmaps section).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 the prospect can repeat back. The tiles preview the deck's order: the focus platform in full, then each add-on.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Credibility before the audit. Say 'official partner' only for Yelp, Google and Apple Maps. For Weedmaps and Leafly, say we've worked inside and alongside them for 10+ years — not 'partner'. Founder timeline, in order: 3 years at Purple Lotus, then 4 years at Weedmaps as an executive, then 4+ years running Sparks.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it like a doctor reading a chart — calm, specific, no blame. Rows marked 'to confirm' could not be verified from outside the account; ask on the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seven Sparks pillars (spend, listing, menu, reviews, deals, creative, data) applied to every Weedmaps listing. Tie each line back to an audit finding. Scope notes: All listings on the platform: ad spend &amp; bid management, listing optimization, deal &amp; promotion activations, in-house graphics, menu management &amp; product verification, review responses, weekly reporting.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cite numbers published on sparkscann.com. ROAS is measured from on-platform conversions plus POS-integrated attribution in the Sparks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Purple Lotus is the 'decade-old account we doubled' story; Nuna Harvest is the 'new market, fast growth' story. Pick the one closest to the prospect.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Pricing for Weedmaps Management. Results in 30 days or your money back. Ad spend is billed by the platform; the fee covers management. Each add-on is $495/mo. Optional add-ons, priced separately and not in the package total: Review Generation ($100/mo per location — + messaging fees. We text your customers asking for reviews and gate negative feedback before it goes public.); Product Image Management ($10/hr — Our team finds, edits and uploads product images to your online menus.).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Leafly Management is included in this proposal. Scope notes: Menu sync with POS, Leafly ads, deal activations, review management..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Yelp Management is included in this proposal. Scope notes: Profile optimization, review responses and removal requests, lead tracking..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Google &amp; Apple Maps Management (GBP, Ads &amp; Local SEO) is included in this proposal. Scope notes: Claim &amp; optimize GBP, weekly Google Posts, photo refresh, Q&amp;A, review response. Target: Maps 3-pack in 90 days..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team members in brand/config.yml. Headshots can replace the initials circles in PowerPoint.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Close: restate the guarantee, propose a start date, and ask for Weedmaps admin access to begin the audit. Add-ons are $495/mo each. Can be switched on at any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8899855" y="914400"/>
            <a:ext cx="2743200" cy="3601205"/>
          </a:xfrm>
          <a:prstGeom prst="rect">
            <a:avLst/>
          </a:prstGeom>
        </p:spPr>
      </p:pic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"/>
            <a:ext cx="1920240" cy="1283685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48640" y="2148840"/>
            <a:ext cx="7863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Sparks × Green Valley Dispensary</a:t>
            </a:r>
            <a:endParaRPr lang="en-US" sz="48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393192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proposal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43434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manage your Weedmaps, Leafly, Yelp, and Google listings and ads so your dispensary gets found, clicked, and ordered from.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5349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Sacramento, CA   ·   October 16, 2026   ·   Prepared for Jordan Lee, Owner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Cannabis can't market like everyone else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225550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 are restricted, so the customer journey lives on pay-to-play platforms — and most listings are left on autopilot.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437" y="2538171"/>
            <a:ext cx="273406" cy="27340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22960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 advertising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mainstream ad networks and social platforms restrict cannabis. Discovery happens on Weedmaps, Leafly, Google Maps, Apple Maps and Yelp.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3390824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665144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5621" y="2538171"/>
            <a:ext cx="273406" cy="27340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665144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Listings decay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3665144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Menus drift from POS, deals expire, photos go stale, reviews sit unanswered. Every gap costs orders.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233008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507328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805" y="2538171"/>
            <a:ext cx="273406" cy="27340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507328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isn't managed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6507328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Budgets are set once and never optimized. Platform reps grow platform revenue, not your ROAS.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9075191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9349511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989" y="2538171"/>
            <a:ext cx="273406" cy="27340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9349511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owns it</a:t>
            </a:r>
            <a:endParaRPr lang="en-US" sz="1700" dirty="0"/>
          </a:p>
        </p:txBody>
      </p:sp>
      <p:sp>
        <p:nvSpPr>
          <p:cNvPr id="26" name="Text 19"/>
          <p:cNvSpPr txBox="1"/>
          <p:nvPr/>
        </p:nvSpPr>
        <p:spPr>
          <a:xfrm>
            <a:off x="9349511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GMs and budtenders juggle dashboards on the side with no attribution and no accountability.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run your Weedmaps listings and ads — and we're accountable for the orders.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103120"/>
            <a:ext cx="7132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Full-service listing management across the marketplaces, maps and directories your customers use: spend, listings, menus, reviews, deals, creative and data — handled by ex-Weedmaps operators. Start with the platform that matters most, add the rest when you're ready.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438351" y="4206240"/>
            <a:ext cx="3127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MARKETPLACES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438351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695" y="4709160"/>
            <a:ext cx="548640" cy="5486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438351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1438351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PROPOSAL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3084271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0615" y="4709160"/>
            <a:ext cx="548640" cy="5486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084271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3084271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19" name="Text 14"/>
          <p:cNvSpPr txBox="1"/>
          <p:nvPr/>
        </p:nvSpPr>
        <p:spPr>
          <a:xfrm>
            <a:off x="4977079" y="4206240"/>
            <a:ext cx="3127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</a:t>
            </a:r>
            <a:endParaRPr lang="en-US" sz="900" dirty="0"/>
          </a:p>
        </p:txBody>
      </p:sp>
      <p:sp>
        <p:nvSpPr>
          <p:cNvPr id="20" name="Shape 15"/>
          <p:cNvSpPr/>
          <p:nvPr/>
        </p:nvSpPr>
        <p:spPr>
          <a:xfrm>
            <a:off x="4977079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3423" y="4709160"/>
            <a:ext cx="548640" cy="54864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4977079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4977079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24" name="Shape 18"/>
          <p:cNvSpPr/>
          <p:nvPr/>
        </p:nvSpPr>
        <p:spPr>
          <a:xfrm>
            <a:off x="6622999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9343" y="4709160"/>
            <a:ext cx="548640" cy="54864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622999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6622999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28" name="Text 21"/>
          <p:cNvSpPr txBox="1"/>
          <p:nvPr/>
        </p:nvSpPr>
        <p:spPr>
          <a:xfrm>
            <a:off x="8515807" y="4206240"/>
            <a:ext cx="3127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DIRECTORIES</a:t>
            </a:r>
            <a:endParaRPr lang="en-US" sz="900" dirty="0"/>
          </a:p>
        </p:txBody>
      </p:sp>
      <p:sp>
        <p:nvSpPr>
          <p:cNvPr id="29" name="Shape 22"/>
          <p:cNvSpPr/>
          <p:nvPr/>
        </p:nvSpPr>
        <p:spPr>
          <a:xfrm>
            <a:off x="8515807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82151" y="4709160"/>
            <a:ext cx="548640" cy="54864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515807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</a:t>
            </a:r>
            <a:endParaRPr lang="en-US" sz="1300" dirty="0"/>
          </a:p>
        </p:txBody>
      </p:sp>
      <p:sp>
        <p:nvSpPr>
          <p:cNvPr id="32" name="Text 24"/>
          <p:cNvSpPr txBox="1"/>
          <p:nvPr/>
        </p:nvSpPr>
        <p:spPr>
          <a:xfrm>
            <a:off x="8515807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33" name="Shape 25"/>
          <p:cNvSpPr/>
          <p:nvPr/>
        </p:nvSpPr>
        <p:spPr>
          <a:xfrm>
            <a:off x="10161727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28071" y="4709160"/>
            <a:ext cx="548640" cy="548640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10161727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 directories</a:t>
            </a:r>
            <a:endParaRPr lang="en-US" sz="1150" dirty="0"/>
          </a:p>
        </p:txBody>
      </p:sp>
      <p:sp>
        <p:nvSpPr>
          <p:cNvPr id="36" name="Text 27"/>
          <p:cNvSpPr txBox="1"/>
          <p:nvPr/>
        </p:nvSpPr>
        <p:spPr>
          <a:xfrm>
            <a:off x="10161727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SPARKS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Sparks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 years in cannabis, 100+ dispensary listings managed — recognized, partnered, and led by a former Weedmaps executive.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432558"/>
            <a:ext cx="3515258" cy="1600200"/>
          </a:xfrm>
          <a:prstGeom prst="roundRect">
            <a:avLst>
              <a:gd name="adj" fmla="val 6857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2615438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100+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301238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dispensaries, deliveries and brands managed — the largest Weedmaps and directory management platform in cannabis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38218" y="2432558"/>
            <a:ext cx="3515258" cy="1600200"/>
          </a:xfrm>
          <a:prstGeom prst="roundRect">
            <a:avLst>
              <a:gd name="adj" fmla="val 6857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12538" y="2615438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4612538" y="3301238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Cannabis Listing Management Agency 2026 — Cannabis Business Insights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127797" y="2432558"/>
            <a:ext cx="3515258" cy="1600200"/>
          </a:xfrm>
          <a:prstGeom prst="roundRect">
            <a:avLst>
              <a:gd name="adj" fmla="val 6857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02117" y="2615438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10+ yrs</a:t>
            </a:r>
            <a:endParaRPr lang="en-US" sz="3600" dirty="0"/>
          </a:p>
        </p:txBody>
      </p:sp>
      <p:sp>
        <p:nvSpPr>
          <p:cNvPr id="16" name="Text 13"/>
          <p:cNvSpPr txBox="1"/>
          <p:nvPr/>
        </p:nvSpPr>
        <p:spPr>
          <a:xfrm>
            <a:off x="8402117" y="3301238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cannabis: 3 years running listings for Purple Lotus, 4 years as a Weedmaps executive, and 4+ years running Sparks.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4307078"/>
            <a:ext cx="5410048" cy="1819402"/>
          </a:xfrm>
          <a:prstGeom prst="roundRect">
            <a:avLst>
              <a:gd name="adj" fmla="val 6031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8680" y="4535678"/>
            <a:ext cx="476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868680" y="4855718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 programs with the directories and maps that decide local search.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868680" y="5312918"/>
            <a:ext cx="1468069" cy="539242"/>
          </a:xfrm>
          <a:prstGeom prst="roundRect">
            <a:avLst>
              <a:gd name="adj" fmla="val 2034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4115" y="5422646"/>
            <a:ext cx="457200" cy="45720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868680" y="5898134"/>
            <a:ext cx="146806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</a:t>
            </a:r>
            <a:endParaRPr lang="en-US" sz="1250" dirty="0"/>
          </a:p>
        </p:txBody>
      </p:sp>
      <p:sp>
        <p:nvSpPr>
          <p:cNvPr id="23" name="Text 19"/>
          <p:cNvSpPr txBox="1"/>
          <p:nvPr/>
        </p:nvSpPr>
        <p:spPr>
          <a:xfrm>
            <a:off x="868680" y="6135878"/>
            <a:ext cx="146806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</a:t>
            </a:r>
            <a:endParaRPr lang="en-US" sz="700" dirty="0"/>
          </a:p>
        </p:txBody>
      </p:sp>
      <p:sp>
        <p:nvSpPr>
          <p:cNvPr id="24" name="Shape 20"/>
          <p:cNvSpPr/>
          <p:nvPr/>
        </p:nvSpPr>
        <p:spPr>
          <a:xfrm>
            <a:off x="2519629" y="5312918"/>
            <a:ext cx="1468069" cy="539242"/>
          </a:xfrm>
          <a:prstGeom prst="roundRect">
            <a:avLst>
              <a:gd name="adj" fmla="val 2034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5064" y="5422646"/>
            <a:ext cx="457200" cy="45720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2519629" y="5898134"/>
            <a:ext cx="146806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250" dirty="0"/>
          </a:p>
        </p:txBody>
      </p:sp>
      <p:sp>
        <p:nvSpPr>
          <p:cNvPr id="27" name="Text 22"/>
          <p:cNvSpPr txBox="1"/>
          <p:nvPr/>
        </p:nvSpPr>
        <p:spPr>
          <a:xfrm>
            <a:off x="2519629" y="6135878"/>
            <a:ext cx="146806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</a:t>
            </a:r>
            <a:endParaRPr lang="en-US" sz="700" dirty="0"/>
          </a:p>
        </p:txBody>
      </p:sp>
      <p:sp>
        <p:nvSpPr>
          <p:cNvPr id="28" name="Shape 23"/>
          <p:cNvSpPr/>
          <p:nvPr/>
        </p:nvSpPr>
        <p:spPr>
          <a:xfrm>
            <a:off x="4170578" y="5312918"/>
            <a:ext cx="1468069" cy="539242"/>
          </a:xfrm>
          <a:prstGeom prst="roundRect">
            <a:avLst>
              <a:gd name="adj" fmla="val 2034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6013" y="5422646"/>
            <a:ext cx="457200" cy="45720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4170578" y="5898134"/>
            <a:ext cx="146806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</a:t>
            </a:r>
            <a:endParaRPr lang="en-US" sz="1250" dirty="0"/>
          </a:p>
        </p:txBody>
      </p:sp>
      <p:sp>
        <p:nvSpPr>
          <p:cNvPr id="31" name="Text 25"/>
          <p:cNvSpPr txBox="1"/>
          <p:nvPr/>
        </p:nvSpPr>
        <p:spPr>
          <a:xfrm>
            <a:off x="4170578" y="6135878"/>
            <a:ext cx="146806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</a:t>
            </a:r>
            <a:endParaRPr lang="en-US" sz="700" dirty="0"/>
          </a:p>
        </p:txBody>
      </p:sp>
      <p:sp>
        <p:nvSpPr>
          <p:cNvPr id="32" name="Shape 26"/>
          <p:cNvSpPr/>
          <p:nvPr/>
        </p:nvSpPr>
        <p:spPr>
          <a:xfrm>
            <a:off x="6233008" y="4307078"/>
            <a:ext cx="5410048" cy="772541"/>
          </a:xfrm>
          <a:prstGeom prst="roundRect">
            <a:avLst>
              <a:gd name="adj" fmla="val 14204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6507328" y="4441889"/>
            <a:ext cx="502920" cy="50292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4577677"/>
            <a:ext cx="231343" cy="231343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7193128" y="4444238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results of any Weedmaps advertiser</a:t>
            </a:r>
            <a:endParaRPr lang="en-US" sz="1350" dirty="0"/>
          </a:p>
        </p:txBody>
      </p:sp>
      <p:sp>
        <p:nvSpPr>
          <p:cNvPr id="36" name="Text 29"/>
          <p:cNvSpPr txBox="1"/>
          <p:nvPr/>
        </p:nvSpPr>
        <p:spPr>
          <a:xfrm>
            <a:off x="7193128" y="4718558"/>
            <a:ext cx="4221328" cy="269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 clients out-convert every other advertiser on the platform: 88% more orders in 90 days, $17 back per ad dollar.</a:t>
            </a:r>
            <a:endParaRPr lang="en-US" sz="1100" dirty="0"/>
          </a:p>
        </p:txBody>
      </p:sp>
      <p:sp>
        <p:nvSpPr>
          <p:cNvPr id="37" name="Shape 30"/>
          <p:cNvSpPr/>
          <p:nvPr/>
        </p:nvSpPr>
        <p:spPr>
          <a:xfrm>
            <a:off x="6233008" y="5353939"/>
            <a:ext cx="5410048" cy="772541"/>
          </a:xfrm>
          <a:prstGeom prst="roundRect">
            <a:avLst>
              <a:gd name="adj" fmla="val 14204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8" name="Shape 31"/>
          <p:cNvSpPr/>
          <p:nvPr/>
        </p:nvSpPr>
        <p:spPr>
          <a:xfrm>
            <a:off x="6507328" y="5488750"/>
            <a:ext cx="502920" cy="50292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5624538"/>
            <a:ext cx="231343" cy="231343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7193128" y="5491099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POS-integrated attribution</a:t>
            </a:r>
            <a:endParaRPr lang="en-US" sz="1350" dirty="0"/>
          </a:p>
        </p:txBody>
      </p:sp>
      <p:sp>
        <p:nvSpPr>
          <p:cNvPr id="41" name="Text 33"/>
          <p:cNvSpPr txBox="1"/>
          <p:nvPr/>
        </p:nvSpPr>
        <p:spPr>
          <a:xfrm>
            <a:off x="7193128" y="5765419"/>
            <a:ext cx="4221328" cy="269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Treez, Dutchie and other POS data joined with spend and platform metrics — you see which platform, campaign and deal drove revenue.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AUDIT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found on Green Valley Dispensary's Weedmaps listings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39598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is revenue currently left on the table.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7776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663440"/>
                <a:gridCol w="432511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we found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it's costing you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D5F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Weedmaps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Listing live but no paid placement; 40% of menu unverified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Buried below 6 competitors in the service zone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3435096"/>
            <a:ext cx="11094415" cy="1097280"/>
          </a:xfrm>
          <a:prstGeom prst="roundRect">
            <a:avLst>
              <a:gd name="adj" fmla="val 10000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68680" y="3617976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gap on Weedmaps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4002024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maps to a line on the next slide. All of them are fixed inside the first 30 days of the launch plan.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SCOPE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Sparks will manage on Weedmaps for Green Valley Dispensary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77698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below applies to every Green Valley Dispensary listing on Weedmaps, and to each platform you add to the engagement.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654808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845308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8453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746248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&amp; budget strategy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1325880" y="3020568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budget pacing and bid management for the most efficient placement in every service zone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233008" y="2654808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61608" y="2845308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61608" y="28453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010248" y="2746248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optimization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7010248" y="3020568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Hours, photos, attributes, description, and Q&amp;A kept accurate and conversion-ready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48640" y="3557016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77240" y="3747516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37475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325880" y="364845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&amp; product verification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1325880" y="3922776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management synced with your POS; every product verified and strain tagged, featured products kept current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6233008" y="3557016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61608" y="3747516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61608" y="37475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7010248" y="364845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Deals &amp; promotions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7010248" y="3922776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and monthly deal activations, BOGOs, promo codes, sales pricing and daily product mapping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48640" y="4459224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77240" y="4649724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7240" y="46497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1325880" y="4550664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graphics</a:t>
            </a:r>
            <a:endParaRPr lang="en-US" sz="1350" dirty="0"/>
          </a:p>
        </p:txBody>
      </p:sp>
      <p:sp>
        <p:nvSpPr>
          <p:cNvPr id="32" name="Text 29"/>
          <p:cNvSpPr txBox="1"/>
          <p:nvPr/>
        </p:nvSpPr>
        <p:spPr>
          <a:xfrm>
            <a:off x="1325880" y="4824984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Headers, deal tiles, and product imagery designed for every ad format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233008" y="4459224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461608" y="4649724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61608" y="46497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7010248" y="4550664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management</a:t>
            </a:r>
            <a:endParaRPr lang="en-US" sz="1350" dirty="0"/>
          </a:p>
        </p:txBody>
      </p:sp>
      <p:sp>
        <p:nvSpPr>
          <p:cNvPr id="37" name="Text 34"/>
          <p:cNvSpPr txBox="1"/>
          <p:nvPr/>
        </p:nvSpPr>
        <p:spPr>
          <a:xfrm>
            <a:off x="7010248" y="4824984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Same-day responses and removal requests for policy-breaking reviews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548640" y="5361432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77240" y="555193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7240" y="55519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41" name="Text 38"/>
          <p:cNvSpPr txBox="1"/>
          <p:nvPr/>
        </p:nvSpPr>
        <p:spPr>
          <a:xfrm>
            <a:off x="1325880" y="5452872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page management</a:t>
            </a:r>
            <a:endParaRPr lang="en-US" sz="1350" dirty="0"/>
          </a:p>
        </p:txBody>
      </p:sp>
      <p:sp>
        <p:nvSpPr>
          <p:cNvPr id="42" name="Text 39"/>
          <p:cNvSpPr txBox="1"/>
          <p:nvPr/>
        </p:nvSpPr>
        <p:spPr>
          <a:xfrm>
            <a:off x="1325880" y="5727192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page, retailer map, and product catalog for retailers who also own a brand</a:t>
            </a:r>
            <a:endParaRPr 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6233008" y="5361432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461608" y="555193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461608" y="55519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7010248" y="5452872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reporting</a:t>
            </a:r>
            <a:endParaRPr lang="en-US" sz="1350" dirty="0"/>
          </a:p>
        </p:txBody>
      </p:sp>
      <p:sp>
        <p:nvSpPr>
          <p:cNvPr id="47" name="Text 44"/>
          <p:cNvSpPr txBox="1"/>
          <p:nvPr/>
        </p:nvSpPr>
        <p:spPr>
          <a:xfrm>
            <a:off x="7010248" y="5727192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reporting with POS-attributed revenue and ROAS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RESULTS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results Sparks clients see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Averages across Sparks-managed accounts.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88%</a:t>
            </a:r>
            <a:endParaRPr lang="en-US" sz="48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increase in order conversions in the first 90 days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390824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665144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$17</a:t>
            </a:r>
            <a:endParaRPr lang="en-US" sz="4800" dirty="0"/>
          </a:p>
        </p:txBody>
      </p:sp>
      <p:sp>
        <p:nvSpPr>
          <p:cNvPr id="15" name="Text 12"/>
          <p:cNvSpPr txBox="1"/>
          <p:nvPr/>
        </p:nvSpPr>
        <p:spPr>
          <a:xfrm>
            <a:off x="3665144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return on every $1 of Weedmaps ad spend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233008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507328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4800" dirty="0"/>
          </a:p>
        </p:txBody>
      </p:sp>
      <p:sp>
        <p:nvSpPr>
          <p:cNvPr id="18" name="Text 15"/>
          <p:cNvSpPr txBox="1"/>
          <p:nvPr/>
        </p:nvSpPr>
        <p:spPr>
          <a:xfrm>
            <a:off x="6507328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average order value than non-managed accounts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9075191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349511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100+</a:t>
            </a:r>
            <a:endParaRPr lang="en-US" sz="4800" dirty="0"/>
          </a:p>
        </p:txBody>
      </p:sp>
      <p:sp>
        <p:nvSpPr>
          <p:cNvPr id="21" name="Text 18"/>
          <p:cNvSpPr txBox="1"/>
          <p:nvPr/>
        </p:nvSpPr>
        <p:spPr>
          <a:xfrm>
            <a:off x="9349511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dispensaries, deliveries &amp; brands managed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5321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 conversion gains typically show within 60–90 days as optimizations compound.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PROOF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Weedmaps case studies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full ownership of a listing looks like in practice.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5387188" cy="3949954"/>
          </a:xfrm>
          <a:prstGeom prst="roundRect">
            <a:avLst>
              <a:gd name="adj" fmla="val 277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" y="2450846"/>
            <a:ext cx="47471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Purple Lotus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862326"/>
            <a:ext cx="474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Dispensary · San Jose, CA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273806"/>
            <a:ext cx="47471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years on Weedmaps, Leafly and Yelp; hundreds of thousands spent on ads with weak returns.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4005326"/>
            <a:ext cx="47471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Reorganized ad positions, adjusted pricing and ranks, rebuilt deal strategy, added display ads, verified every product.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+63%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rate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2451049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2x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2451049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on-platform ROAS in 3 months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033418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2x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4033418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return in 6 months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255868" y="2176526"/>
            <a:ext cx="5387188" cy="3949954"/>
          </a:xfrm>
          <a:prstGeom prst="roundRect">
            <a:avLst>
              <a:gd name="adj" fmla="val 277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575908" y="2450846"/>
            <a:ext cx="47471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Nuna Harvest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6575908" y="2862326"/>
            <a:ext cx="474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Dispensary + Delivery · New York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575908" y="3273806"/>
            <a:ext cx="47471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York retail and delivery operation competing in a fast-growing market.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575908" y="4005326"/>
            <a:ext cx="47471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listing management across Weedmaps, Leafly and Yelp with deal activations and review management.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6575908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+638%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6575908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ROAS in 6 months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8158277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8158277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ROAS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9740646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+109%</a:t>
            </a:r>
            <a:endParaRPr lang="en-US" sz="2400" dirty="0"/>
          </a:p>
        </p:txBody>
      </p:sp>
      <p:sp>
        <p:nvSpPr>
          <p:cNvPr id="29" name="Text 26"/>
          <p:cNvSpPr txBox="1"/>
          <p:nvPr/>
        </p:nvSpPr>
        <p:spPr>
          <a:xfrm>
            <a:off x="9740646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leads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INVESTMENT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Weedmaps Management investment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Month-to-month after 90-day launch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103120"/>
            <a:ext cx="3515258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68680" y="22860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633472"/>
            <a:ext cx="28751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</a:t>
            </a:r>
            <a:endParaRPr lang="en-US" sz="32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3218688"/>
            <a:ext cx="2875178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+ Google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338218" y="2103120"/>
            <a:ext cx="3515258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658258" y="22860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4658258" y="2633472"/>
            <a:ext cx="28751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4658258" y="3218688"/>
            <a:ext cx="2875178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+ Leafly + Yelp + Google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127797" y="2103120"/>
            <a:ext cx="3515258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447837" y="22860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Dominate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447837" y="2633472"/>
            <a:ext cx="28751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</a:t>
            </a:r>
            <a:endParaRPr lang="en-US" sz="3200" dirty="0"/>
          </a:p>
        </p:txBody>
      </p:sp>
      <p:sp>
        <p:nvSpPr>
          <p:cNvPr id="21" name="Text 18"/>
          <p:cNvSpPr txBox="1"/>
          <p:nvPr/>
        </p:nvSpPr>
        <p:spPr>
          <a:xfrm>
            <a:off x="8447837" y="3218688"/>
            <a:ext cx="2875178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platforms + Local SEO + Programmatic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9028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ADD-ONS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2377440" y="4608576"/>
            <a:ext cx="4518508" cy="731520"/>
          </a:xfrm>
          <a:prstGeom prst="roundRect">
            <a:avLst>
              <a:gd name="adj" fmla="val 15000"/>
            </a:avLst>
          </a:prstGeom>
          <a:solidFill>
            <a:srgbClr val="B84C0C"/>
          </a:solidFill>
          <a:ln w="6350">
            <a:solidFill>
              <a:srgbClr val="F0B48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606040" y="4681728"/>
            <a:ext cx="40613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Generation  ·  $100/mo per location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2606040" y="4937760"/>
            <a:ext cx="40613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messaging fees. We text your customers asking for reviews and gate negative feedback before it goes public.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7124548" y="4608576"/>
            <a:ext cx="4518508" cy="731520"/>
          </a:xfrm>
          <a:prstGeom prst="roundRect">
            <a:avLst>
              <a:gd name="adj" fmla="val 15000"/>
            </a:avLst>
          </a:prstGeom>
          <a:solidFill>
            <a:srgbClr val="B84C0C"/>
          </a:solidFill>
          <a:ln w="6350">
            <a:solidFill>
              <a:srgbClr val="F0B48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353148" y="4681728"/>
            <a:ext cx="40613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Image Management  ·  $10/hr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7353148" y="4937760"/>
            <a:ext cx="40613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team finds, edits and uploads product images to your online menus.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543153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in 30 days or your money back.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48640" y="5815584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spend billed directly by platforms; Sparks manages allocation.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LEAFLY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Leafly Management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Strain-led discovery and the second marketplace most customers check.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400512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528893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286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Strain and product search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578862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shoppers arrive knowing the strain or product they want. A verified, well-tagged menu is what puts your store in front of them.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209713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4336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5620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319441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ads and deals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612049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placement, deal listings, and featured products work the same way as Weedmaps and are just as easy to leave unmanaged.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42901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66886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95268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52629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carry weight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45237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reviews surface in Google results for your store name, so unanswered reviews cost you off-platform too.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Leafly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last synced 3 weeks ago; no deals running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176526"/>
            <a:ext cx="4053535" cy="3949954"/>
          </a:xfrm>
          <a:prstGeom prst="roundRect">
            <a:avLst>
              <a:gd name="adj" fmla="val 2778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405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725166"/>
            <a:ext cx="3596335" cy="2121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sync &amp; tagging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Product tagging across strains, brands, and categories, synced with your POS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Ads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Ad strategy, budget, and creative built around ROAS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Deals &amp; featured products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Deal and featured-product activations kept current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optimization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Profile details and photo refresh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&amp; reporting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Review responses and monthly performance reporting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ROAS for Nuna Harvest in six months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YELP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Yelp Management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reviews decide, and where Sparks is one of the few cannabis partners recognized by Yelp.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400512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528893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286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rating is the pitch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578862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is where shoppers compare local options on rating alone. Unanswered one-star reviews and policy-breaking reviews pull the average down.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209713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4336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5620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319441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ranks in Google too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612049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Yelp page often outranks your own site for your store name. A complete, current profile is what people see before they ever reach your menu.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42901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66886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95268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52629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Leads, not just clicks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45237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drives calls, direction requests, and website clicks that never show up on a marketplace dashboard. We track them.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Yelp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unanswered 1-star reviews; profile incomplete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176526"/>
            <a:ext cx="4053535" cy="3949954"/>
          </a:xfrm>
          <a:prstGeom prst="roundRect">
            <a:avLst>
              <a:gd name="adj" fmla="val 2778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405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725166"/>
            <a:ext cx="3596335" cy="2121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optimization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Photos, categories, hours, highlights, and business details kept complete and current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management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Responses and removal requests for guideline-breaking reviews through Sparks' recognized partner access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tracking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Calls, direction requests, and site visits attributed to Yelp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&amp; updates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Specials, announcements, and photo refreshes to keep the page active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Monthly reporting alongside your marketplace results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+109%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leads for Nuna Harvest in six months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GOOGLE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504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&amp; Apple Maps Management (GBP, Ads &amp; Local SEO)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427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"Dispensary near me" is decided on Google Maps and Apple Maps.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049526"/>
            <a:ext cx="6766560" cy="965793"/>
          </a:xfrm>
          <a:prstGeom prst="roundRect">
            <a:avLst>
              <a:gd name="adj" fmla="val 11361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294678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423060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159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Maps 3-pack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451862"/>
            <a:ext cx="5760720" cy="508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local searches end in the top three Google Maps results. Getting there takes a clean Business Profile, review velocity, and citation authority.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125047"/>
            <a:ext cx="6766560" cy="965793"/>
          </a:xfrm>
          <a:prstGeom prst="roundRect">
            <a:avLst>
              <a:gd name="adj" fmla="val 11361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3701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4985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234775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 few free channels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527383"/>
            <a:ext cx="5760720" cy="508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paid reach for cannabis limited on most mainstream platforms, your Google Business Profile is one of the few free places to reach local customers at scale.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00567"/>
            <a:ext cx="6766560" cy="965793"/>
          </a:xfrm>
          <a:prstGeom prst="roundRect">
            <a:avLst>
              <a:gd name="adj" fmla="val 11361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45720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74101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10295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 and 20+ directories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02903"/>
            <a:ext cx="5760720" cy="508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iPhone users search in Apple Maps, Siri and CarPlay. Apple Business Connect plus consistent name, address and phone across 20+ directories is what tells every map you're the real one.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Google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GBP not claimed / wrong hours; 0 posts in 6 months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049526"/>
            <a:ext cx="4053535" cy="4076954"/>
          </a:xfrm>
          <a:prstGeom prst="roundRect">
            <a:avLst>
              <a:gd name="adj" fmla="val 2707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278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598166"/>
            <a:ext cx="3596335" cy="2248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Profile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Claim, cleanup, and optimization of your Google Business Profile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Posts, photos &amp; reviews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Weekly Google Posts, photo refresh, Q&amp;A, and review responses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Compliant campaigns where the market allows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 &amp; 20+ directories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Apple Business Connect (Apple Maps, Siri, CarPlay) plus NAP consistency across 20+ directories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Map-pack tracking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Ranking tracking with a Top 3 goal in 90 days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Maps ranking goal within 90 days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account team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225550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people who will run your listings.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3657600" cy="4114800"/>
          </a:xfrm>
          <a:prstGeom prst="roundRect">
            <a:avLst>
              <a:gd name="adj" fmla="val 3000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68680" y="2331720"/>
            <a:ext cx="1005840" cy="100584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" y="23317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5204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Sparks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9319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CEO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434340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 years in cannabis. 3 years running listing management for Purple Lotus, then 4 years at Weedmaps working with the largest dispensaries in the world, and 4+ years running Sparks for 100+ dispensaries, deliveries and brands.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663440" y="2011680"/>
            <a:ext cx="6979615" cy="4114800"/>
          </a:xfrm>
          <a:prstGeom prst="roundRect">
            <a:avLst>
              <a:gd name="adj" fmla="val 2667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983480" y="2286000"/>
            <a:ext cx="6339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WORK WITH YOU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846320" y="2697480"/>
            <a:ext cx="6522415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account lead and weekly performance report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&amp; listing specialists working daily in your platforms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creative for ads, deals and listing assets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team maintaining your POS-integrated dashboard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line to leadership — no ticket queues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225550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90-day Weedmaps launch plan for Green Valley Dispensary.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224028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1488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1–30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280160" y="251460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audit, strategy, listing + menu clean-up, campaigns live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48640" y="32004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3200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280160" y="310896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31–60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280160" y="347472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&amp; deal optimization, review program, dashboard attribution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48640" y="416052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4160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280160" y="40690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61–90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443484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winners, Maps 3-pack push, quarterly plan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512064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in 30 days or your money back.</a:t>
            </a:r>
            <a:endParaRPr lang="en-US" sz="14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623560"/>
            <a:ext cx="914400" cy="611278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7589520" y="2148840"/>
            <a:ext cx="4053535" cy="3840480"/>
          </a:xfrm>
          <a:prstGeom prst="roundRect">
            <a:avLst>
              <a:gd name="adj" fmla="val 2857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909560" y="2377440"/>
            <a:ext cx="2681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SUMMARY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7909560" y="274320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9859975" y="274320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7909560" y="309372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200" dirty="0"/>
          </a:p>
        </p:txBody>
      </p:sp>
      <p:sp>
        <p:nvSpPr>
          <p:cNvPr id="28" name="Text 24"/>
          <p:cNvSpPr txBox="1"/>
          <p:nvPr/>
        </p:nvSpPr>
        <p:spPr>
          <a:xfrm>
            <a:off x="9859975" y="309372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endParaRPr lang="en-US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7909560" y="344424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Dominate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9859975" y="344424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7909560" y="379476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Management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9859975" y="379476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3" name="Text 29"/>
          <p:cNvSpPr txBox="1"/>
          <p:nvPr/>
        </p:nvSpPr>
        <p:spPr>
          <a:xfrm>
            <a:off x="7909560" y="414528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Management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9859975" y="414528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5" name="Text 31"/>
          <p:cNvSpPr txBox="1"/>
          <p:nvPr/>
        </p:nvSpPr>
        <p:spPr>
          <a:xfrm>
            <a:off x="7909560" y="449580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&amp; Apple Maps Management</a:t>
            </a:r>
            <a:endParaRPr lang="en-US" sz="1200" dirty="0"/>
          </a:p>
        </p:txBody>
      </p:sp>
      <p:sp>
        <p:nvSpPr>
          <p:cNvPr id="36" name="Text 32"/>
          <p:cNvSpPr txBox="1"/>
          <p:nvPr/>
        </p:nvSpPr>
        <p:spPr>
          <a:xfrm>
            <a:off x="9859975" y="449580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7" name="Text 33"/>
          <p:cNvSpPr txBox="1"/>
          <p:nvPr/>
        </p:nvSpPr>
        <p:spPr>
          <a:xfrm>
            <a:off x="7909560" y="5074920"/>
            <a:ext cx="3413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when you are.</a:t>
            </a:r>
            <a:endParaRPr lang="en-US" sz="1600" dirty="0"/>
          </a:p>
        </p:txBody>
      </p:sp>
      <p:sp>
        <p:nvSpPr>
          <p:cNvPr id="38" name="Text 34"/>
          <p:cNvSpPr txBox="1"/>
          <p:nvPr/>
        </p:nvSpPr>
        <p:spPr>
          <a:xfrm>
            <a:off x="7909560" y="5440680"/>
            <a:ext cx="3413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Sparks, Founder &amp; CEO  ·  kevin@sparkscann.com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Sparks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Sparks × Green Valley Dispensary</dc:title>
  <dc:subject>PptxGenJS Presentation</dc:subject>
  <dc:creator>Sparks</dc:creator>
  <cp:lastModifiedBy>Sparks</cp:lastModifiedBy>
  <cp:revision>1</cp:revision>
  <dcterms:created xsi:type="dcterms:W3CDTF">2026-10-16T00:08:10Z</dcterms:created>
  <dcterms:modified xsi:type="dcterms:W3CDTF">2026-10-16T00:08:10Z</dcterms:modified>
</cp:coreProperties>
</file>