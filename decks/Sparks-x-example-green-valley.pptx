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one-liner. Green Valley Dispensary is a dispensary in Sacramento, CA. This deck is Weedmaps-first: the full pitch is Weedmaps management; the other platforms are add-ons at $495/mo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Airbnb's problem slide: plain-language pains. Tie each one to something you saw on the prospect's listings (the audit slide comes in the Weedmaps section).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the prospect can repeat back. The tiles preview the deck's order: the focus platform in full, then each add-on.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before the audit. Say 'official partner' only for Yelp, Google and Apple Maps. For Weedmaps and Leafly, say we've worked with them for 10+ years and the founder was a Weedmaps executive — not 'partner'.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like a doctor reading a chart — calm, specific, no blame. Rows marked 'to confirm' could not be verified from outside the account; ask on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Sparks pillars (spend, listing, menu, reviews, deals, creative, data) applied to this platform. Tie each line back to an audit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cite numbers published on sparkscann.com. ROAS is measured from on-platform conversions plus POS-integrated attribution in the Sparks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Purple Lotus is the 'decade-old account we doubled' story; Nuna Harvest is the 'new market, fast growth' story. Pick the one closest to the prospect.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for Weedmaps Management. Results in 30 days or your money back. Ad spend is billed by the platform; the fee covers management. Each add-on is $495/mo.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Leafly Management is included in this proposal. Scope notes: Menu sync with POS, Leafly ads, deal activations, review management..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Yelp Management is included in this proposal. Scope notes: Profile optimization, review responses and removal requests, lead tracking..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&amp; Apple Maps Management (GBP, Ads &amp; Local SEO) is included in this proposal. Scope notes: Claim &amp; optimize GBP, weekly Google Posts, photo refresh, Q&amp;A, review response. Target: Maps 3-pack in 90 days..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team members in brand/config.yml. Headshots can replace the initials circles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restate the guarantee, propose a start date, and ask for Weedmaps admin access to begin the audit. Add-ons are $495/mo each. Can be switched on at any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5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899855" y="914400"/>
            <a:ext cx="2743200" cy="360120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920240" cy="128368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214884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Sparks × Green Valley Dispensary</a:t>
            </a:r>
            <a:endParaRPr lang="en-US" sz="4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Management proposal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4343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manage your Weedmaps, Leafly, Yelp, and Google listings and ads so your dispensary gets found, clicked, and ordered from.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Sacramento, CA   ·   October 15, 2026   ·   Prepared for Jordan Lee, Owner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Cannabis can't market like everyone else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25550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are restricted, so the customer journey lives on pay-to-play platforms — and most listings are left on autopilot.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03374"/>
            <a:ext cx="2567864" cy="3566160"/>
          </a:xfrm>
          <a:prstGeom prst="roundRect">
            <a:avLst>
              <a:gd name="adj" fmla="val 427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377694"/>
            <a:ext cx="594360" cy="594360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7" y="2538171"/>
            <a:ext cx="273406" cy="27340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3154934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advertising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749294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Ads, Meta and most networks block cannabis. Discovery happens on Weedmaps, Leafly, Google Maps, Apple Maps and Yelp.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90824" y="2103374"/>
            <a:ext cx="2567864" cy="3566160"/>
          </a:xfrm>
          <a:prstGeom prst="roundRect">
            <a:avLst>
              <a:gd name="adj" fmla="val 427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65144" y="2377694"/>
            <a:ext cx="594360" cy="594360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621" y="2538171"/>
            <a:ext cx="273406" cy="2734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65144" y="3154934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decay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665144" y="3749294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drift from POS, deals expire, photos go stale, reviews sit unanswered. Every gap costs orders.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33008" y="2103374"/>
            <a:ext cx="2567864" cy="3566160"/>
          </a:xfrm>
          <a:prstGeom prst="roundRect">
            <a:avLst>
              <a:gd name="adj" fmla="val 427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07328" y="2377694"/>
            <a:ext cx="594360" cy="594360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5" y="2538171"/>
            <a:ext cx="273406" cy="27340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07328" y="3154934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isn't managed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507328" y="3749294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are set once and never optimized. Platform reps grow platform revenue, not your ROAS.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075191" y="2103374"/>
            <a:ext cx="2567864" cy="3566160"/>
          </a:xfrm>
          <a:prstGeom prst="roundRect">
            <a:avLst>
              <a:gd name="adj" fmla="val 427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349511" y="2377694"/>
            <a:ext cx="594360" cy="594360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989" y="2538171"/>
            <a:ext cx="273406" cy="27340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349511" y="3154934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it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9349511" y="3749294"/>
            <a:ext cx="2019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and budtenders juggle dashboards on the side with no attribution and no accountability.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5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832104"/>
            <a:ext cx="1109441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run your Weedmaps listings and ads — and we're accountable for the orders.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0312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listing management across the marketplaces, maps and directories your customers use: spend, listings, menus, reviews, deals, creative and data — handled by ex-Weedmaps operators. Start with the platform that matters most, add the rest when you're ready.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38351" y="4206240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438351" y="4526280"/>
            <a:ext cx="1481328" cy="15544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95" y="47091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38351" y="5349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38351" y="56235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084271" y="4526280"/>
            <a:ext cx="1481328" cy="15544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615" y="47091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84271" y="5349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084271" y="56235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750" dirty="0"/>
          </a:p>
        </p:txBody>
      </p:sp>
      <p:sp>
        <p:nvSpPr>
          <p:cNvPr id="19" name="Text 14"/>
          <p:cNvSpPr txBox="1"/>
          <p:nvPr/>
        </p:nvSpPr>
        <p:spPr>
          <a:xfrm>
            <a:off x="4977079" y="4206240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977079" y="4526280"/>
            <a:ext cx="1481328" cy="15544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423" y="470916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977079" y="5349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977079" y="56235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6622999" y="4526280"/>
            <a:ext cx="1481328" cy="15544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9343" y="470916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622999" y="5349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Maps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622999" y="56235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750" dirty="0"/>
          </a:p>
        </p:txBody>
      </p:sp>
      <p:sp>
        <p:nvSpPr>
          <p:cNvPr id="28" name="Text 21"/>
          <p:cNvSpPr txBox="1"/>
          <p:nvPr/>
        </p:nvSpPr>
        <p:spPr>
          <a:xfrm>
            <a:off x="8515807" y="4206240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515807" y="4526280"/>
            <a:ext cx="1481328" cy="15544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2151" y="4709160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15807" y="5349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515807" y="56235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10161727" y="4526280"/>
            <a:ext cx="1481328" cy="15544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8071" y="4709160"/>
            <a:ext cx="548640" cy="54864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0161727" y="5349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directories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10161727" y="562356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SPARKS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32104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Sparks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73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behind 100+ dispensary listings — recognized, partnered, and built by a Weedmaps executive.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76526"/>
            <a:ext cx="3515258" cy="1600200"/>
          </a:xfrm>
          <a:prstGeom prst="roundRect">
            <a:avLst>
              <a:gd name="adj" fmla="val 6857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359406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4520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dispensaries, deliveries and brands managed — the largest Weedmaps and directory management platform in cannabis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38218" y="2176526"/>
            <a:ext cx="3515258" cy="1600200"/>
          </a:xfrm>
          <a:prstGeom prst="roundRect">
            <a:avLst>
              <a:gd name="adj" fmla="val 6857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2538" y="2359406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304520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Cannabis Listing Management Agency 2026 — Cannabis Business Insights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27797" y="2176526"/>
            <a:ext cx="3515258" cy="1600200"/>
          </a:xfrm>
          <a:prstGeom prst="roundRect">
            <a:avLst>
              <a:gd name="adj" fmla="val 6857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02117" y="2359406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yrs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402117" y="304520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inside and alongside Weedmaps and Leafly. Our founder ran accounts at Weedmaps as an executive before starting Sparks.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051046"/>
            <a:ext cx="5410048" cy="2075434"/>
          </a:xfrm>
          <a:prstGeom prst="roundRect">
            <a:avLst>
              <a:gd name="adj" fmla="val 5287"/>
            </a:avLst>
          </a:prstGeom>
          <a:solidFill>
            <a:srgbClr val="DD5F13"/>
          </a:solidFill>
          <a:ln w="6350">
            <a:solidFill>
              <a:srgbClr val="DD5F1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79646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PARTNERS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599686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partner programs with the directories and maps that decide local search.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5056886"/>
            <a:ext cx="1468069" cy="795274"/>
          </a:xfrm>
          <a:prstGeom prst="roundRect">
            <a:avLst>
              <a:gd name="adj" fmla="val 1379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15" y="5166614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68680" y="5642102"/>
            <a:ext cx="1468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868680" y="5879846"/>
            <a:ext cx="14680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PARTNER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2519629" y="5056886"/>
            <a:ext cx="1468069" cy="795274"/>
          </a:xfrm>
          <a:prstGeom prst="roundRect">
            <a:avLst>
              <a:gd name="adj" fmla="val 1379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064" y="5166614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519629" y="5642102"/>
            <a:ext cx="1468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2519629" y="5879846"/>
            <a:ext cx="14680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PARTNER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4170578" y="5056886"/>
            <a:ext cx="1468069" cy="795274"/>
          </a:xfrm>
          <a:prstGeom prst="roundRect">
            <a:avLst>
              <a:gd name="adj" fmla="val 1379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013" y="5166614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170578" y="5642102"/>
            <a:ext cx="14680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Maps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4170578" y="5879846"/>
            <a:ext cx="146806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PARTNER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6233008" y="4051046"/>
            <a:ext cx="5410048" cy="900557"/>
          </a:xfrm>
          <a:prstGeom prst="roundRect">
            <a:avLst>
              <a:gd name="adj" fmla="val 12184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507328" y="4249865"/>
            <a:ext cx="502920" cy="502920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385653"/>
            <a:ext cx="231343" cy="231343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93128" y="4188206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results of any Weedmaps advertiser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7193128" y="4462526"/>
            <a:ext cx="4221328" cy="39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 clients out-convert every other advertiser on the platform: 88% more orders in 90 days, $17 back per ad dollar.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233008" y="5225923"/>
            <a:ext cx="5410048" cy="900557"/>
          </a:xfrm>
          <a:prstGeom prst="roundRect">
            <a:avLst>
              <a:gd name="adj" fmla="val 12184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507328" y="5424742"/>
            <a:ext cx="502920" cy="502920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560530"/>
            <a:ext cx="231343" cy="231343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193128" y="5363083"/>
            <a:ext cx="422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POS-integrated attribution</a:t>
            </a:r>
            <a:endParaRPr lang="en-US" sz="1350" dirty="0"/>
          </a:p>
        </p:txBody>
      </p:sp>
      <p:sp>
        <p:nvSpPr>
          <p:cNvPr id="41" name="Text 33"/>
          <p:cNvSpPr txBox="1"/>
          <p:nvPr/>
        </p:nvSpPr>
        <p:spPr>
          <a:xfrm>
            <a:off x="7193128" y="5637403"/>
            <a:ext cx="4221328" cy="39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Treez, Dutchie and other POS data joined with spend and platform metrics — you see which platform, campaign and deal drove revenue.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MANAGEMENT  ·  AUDIT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32104"/>
            <a:ext cx="11094415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 on Green Valley Dispensary's Weedmaps listings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9598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revenue currently left on the table.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7776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663440"/>
                <a:gridCol w="432511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5F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5F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costing 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5F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5F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Weedmaps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live but no paid placement; 40% of menu unverified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Buried below 6 competitors in the service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435096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DD5F13"/>
          </a:solidFill>
          <a:ln w="6350">
            <a:solidFill>
              <a:srgbClr val="DD5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36179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gap on Weedmaps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400202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maps to a line on the next slide. All of them are fixed inside the first 30 days of the launch plan.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MANAGEMENT  ·  SCOPE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32104"/>
            <a:ext cx="11094415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Sparks will manage on Weedmaps for Green Valley Dispensary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76984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for this proposal: Bid strategy for top-3 placement in zone, full menu verification, weekly deal rotation, review responses, weekly reporting.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54808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845308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8453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746248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&amp; budget strategy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020568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 pacing and bid management for top placement in every service zone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33008" y="2654808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61608" y="2845308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61608" y="28453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010248" y="2746248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optimization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020568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photos, attributes, description, and Q&amp;A kept accurate and conversion-ready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557016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747516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37475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648456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product verification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922776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 synced with your POS; every product verified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33008" y="3557016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61608" y="3747516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61608" y="37475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010248" y="3648456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&amp; promotions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7010248" y="3922776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monthly deal activations, BOGOs, and featured products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4459224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4649724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6497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325880" y="455066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graphics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1325880" y="4824984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deal tiles, and product imagery designed for every ad format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233008" y="4459224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61608" y="4649724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61608" y="46497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010248" y="4550664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management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7010248" y="4824984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responses and removal requests for policy-breaking reviews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48640" y="5361432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7240" y="5551932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" y="55519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1325880" y="5452872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page management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1325880" y="5727192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page, retailer map, and product catalog for retailers who also own a brand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233008" y="5361432"/>
            <a:ext cx="5410048" cy="765048"/>
          </a:xfrm>
          <a:prstGeom prst="roundRect">
            <a:avLst>
              <a:gd name="adj" fmla="val 14343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61608" y="5551932"/>
            <a:ext cx="384048" cy="38404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61608" y="55519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7010248" y="5452872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reporting</a:t>
            </a:r>
            <a:endParaRPr lang="en-US" sz="1350" dirty="0"/>
          </a:p>
        </p:txBody>
      </p:sp>
      <p:sp>
        <p:nvSpPr>
          <p:cNvPr id="47" name="Text 44"/>
          <p:cNvSpPr txBox="1"/>
          <p:nvPr/>
        </p:nvSpPr>
        <p:spPr>
          <a:xfrm>
            <a:off x="7010248" y="5727192"/>
            <a:ext cx="4404208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reporting with POS-attributed revenue and ROAS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5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MANAGEMENT  ·  RESULTS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832104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results Sparks clients see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5473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across Sparks-managed accounts.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2567864" cy="2926080"/>
          </a:xfrm>
          <a:prstGeom prst="roundRect">
            <a:avLst>
              <a:gd name="adj" fmla="val 4273"/>
            </a:avLst>
          </a:prstGeom>
          <a:solidFill>
            <a:srgbClr val="B84C0C"/>
          </a:solidFill>
          <a:ln w="6350">
            <a:solidFill>
              <a:srgbClr val="B84C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5603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40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increase in order conversions in the first 90 days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90824" y="2331720"/>
            <a:ext cx="2567864" cy="2926080"/>
          </a:xfrm>
          <a:prstGeom prst="roundRect">
            <a:avLst>
              <a:gd name="adj" fmla="val 4273"/>
            </a:avLst>
          </a:prstGeom>
          <a:solidFill>
            <a:srgbClr val="B84C0C"/>
          </a:solidFill>
          <a:ln w="6350">
            <a:solidFill>
              <a:srgbClr val="B84C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65144" y="25603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3665144" y="3840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return on every $1 of Weedmaps ad spend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33008" y="2331720"/>
            <a:ext cx="2567864" cy="2926080"/>
          </a:xfrm>
          <a:prstGeom prst="roundRect">
            <a:avLst>
              <a:gd name="adj" fmla="val 4273"/>
            </a:avLst>
          </a:prstGeom>
          <a:solidFill>
            <a:srgbClr val="B84C0C"/>
          </a:solidFill>
          <a:ln w="6350">
            <a:solidFill>
              <a:srgbClr val="B84C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07328" y="25603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4800" dirty="0"/>
          </a:p>
        </p:txBody>
      </p:sp>
      <p:sp>
        <p:nvSpPr>
          <p:cNvPr id="18" name="Text 15"/>
          <p:cNvSpPr txBox="1"/>
          <p:nvPr/>
        </p:nvSpPr>
        <p:spPr>
          <a:xfrm>
            <a:off x="6507328" y="3840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order value than non-managed accounts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075191" y="2331720"/>
            <a:ext cx="2567864" cy="2926080"/>
          </a:xfrm>
          <a:prstGeom prst="roundRect">
            <a:avLst>
              <a:gd name="adj" fmla="val 4273"/>
            </a:avLst>
          </a:prstGeom>
          <a:solidFill>
            <a:srgbClr val="B84C0C"/>
          </a:solidFill>
          <a:ln w="6350">
            <a:solidFill>
              <a:srgbClr val="B84C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49511" y="25603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4800" dirty="0"/>
          </a:p>
        </p:txBody>
      </p:sp>
      <p:sp>
        <p:nvSpPr>
          <p:cNvPr id="21" name="Text 18"/>
          <p:cNvSpPr txBox="1"/>
          <p:nvPr/>
        </p:nvSpPr>
        <p:spPr>
          <a:xfrm>
            <a:off x="9349511" y="3840480"/>
            <a:ext cx="2019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dispensaries, deliveries &amp; brands managed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conversion gains typically show within 60–90 days as optimizations compound.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MANAGEMENT  ·  PROOF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32104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Weedmaps case studies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73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full ownership of a listing looks like in practice.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76526"/>
            <a:ext cx="5387188" cy="3949954"/>
          </a:xfrm>
          <a:prstGeom prst="roundRect">
            <a:avLst>
              <a:gd name="adj" fmla="val 2778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450846"/>
            <a:ext cx="474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Lotus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862326"/>
            <a:ext cx="474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Dispensary · San Jose, CA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273806"/>
            <a:ext cx="4747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on Weedmaps, Leafly and Yelp; hundreds of thousands spent on ads with weak returns.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005326"/>
            <a:ext cx="47471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Reorganized ad positions, adjusted pricing and ranks, rebuilt deal strategy, added display ads, verified every product.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800600"/>
            <a:ext cx="14909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440680"/>
            <a:ext cx="1445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451049" y="4800600"/>
            <a:ext cx="14909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2451049" y="5440680"/>
            <a:ext cx="1445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on-platform ROAS in 3 months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033418" y="4800600"/>
            <a:ext cx="14909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033418" y="5440680"/>
            <a:ext cx="1445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in 6 months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55868" y="2176526"/>
            <a:ext cx="5387188" cy="3949954"/>
          </a:xfrm>
          <a:prstGeom prst="roundRect">
            <a:avLst>
              <a:gd name="adj" fmla="val 2778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75908" y="2450846"/>
            <a:ext cx="474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Nuna Harvest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75908" y="2862326"/>
            <a:ext cx="4747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Dispensary + Delivery · New York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75908" y="3273806"/>
            <a:ext cx="4747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retail and delivery operation competing in a fast-growing market.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75908" y="4005326"/>
            <a:ext cx="47471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listing management across Weedmaps, Leafly and Yelp with deal activations and review management.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575908" y="4800600"/>
            <a:ext cx="14909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+638%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575908" y="5440680"/>
            <a:ext cx="1445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ROAS in 6 months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158277" y="4800600"/>
            <a:ext cx="14909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8158277" y="5440680"/>
            <a:ext cx="1445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 ROAS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740646" y="4800600"/>
            <a:ext cx="14909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+109%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9740646" y="5440680"/>
            <a:ext cx="14452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leads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5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MANAGEMENT  ·  INVESTMENT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832104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Weedmaps Management investment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5473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after 90-day launch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515258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514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92608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74904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+ Google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38218" y="2286000"/>
            <a:ext cx="3515258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58258" y="2514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658258" y="292608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4658258" y="374904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Weedmaps + Leafly + Yelp + Google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27797" y="2286000"/>
            <a:ext cx="3515258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47837" y="25146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447837" y="292608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8447837" y="374904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 + Local SEO + Programmatic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2760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30 days or your money back.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6601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 billed directly by platforms; Sparks manages allocation.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 ·  LEAFLY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32104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Leafly Management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73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Strain-led discovery and the second marketplace most customers check.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76526"/>
            <a:ext cx="6766560" cy="923459"/>
          </a:xfrm>
          <a:prstGeom prst="roundRect">
            <a:avLst>
              <a:gd name="adj" fmla="val 11882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400512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02" y="2528893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28625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and product search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578862"/>
            <a:ext cx="5760720" cy="46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 shoppers arrive knowing the strain or product they want. A verified, well-tagged menu is what puts your store in front of them.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209713"/>
            <a:ext cx="6766560" cy="923459"/>
          </a:xfrm>
          <a:prstGeom prst="roundRect">
            <a:avLst>
              <a:gd name="adj" fmla="val 11882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433699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2" y="3562081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319441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 ads and deals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612049"/>
            <a:ext cx="5760720" cy="46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placement, deal listings, and featured products work the same way as Weedmaps and are just as easy to leave unmanaged.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242901"/>
            <a:ext cx="6766560" cy="923459"/>
          </a:xfrm>
          <a:prstGeom prst="roundRect">
            <a:avLst>
              <a:gd name="adj" fmla="val 11882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4466886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02" y="459526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4352629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carry weight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4645237"/>
            <a:ext cx="5760720" cy="46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 reviews surface in Google results for your store name, so unanswered reviews cost you off-platform too.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525780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FDE7D8"/>
          </a:solidFill>
          <a:ln w="6350">
            <a:solidFill>
              <a:srgbClr val="FDE7D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349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 on Green Valley Dispensary's Leafly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5623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last synced 3 weeks ago; no deals running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589520" y="2176526"/>
            <a:ext cx="4053535" cy="3949954"/>
          </a:xfrm>
          <a:prstGeom prst="roundRect">
            <a:avLst>
              <a:gd name="adj" fmla="val 2778"/>
            </a:avLst>
          </a:prstGeom>
          <a:solidFill>
            <a:srgbClr val="DD5F13"/>
          </a:solidFill>
          <a:ln w="6350">
            <a:solidFill>
              <a:srgbClr val="DD5F1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909560" y="240512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0" y="2725166"/>
            <a:ext cx="3596335" cy="2121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sync &amp; tagging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Product tagging across strains, brands, and categories, synced with your POS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 Ads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 strategy, budget, and creative built around ROAS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&amp; featured products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Deal and featured-product activations kept current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optimization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Profile details and photo refresh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reporting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Review responses and monthly performance reporting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909560" y="4919472"/>
            <a:ext cx="3413455" cy="0"/>
          </a:xfrm>
          <a:prstGeom prst="line">
            <a:avLst/>
          </a:prstGeom>
          <a:noFill/>
          <a:ln w="9525">
            <a:solidFill>
              <a:srgbClr val="F0B48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90956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9784080" y="4983480"/>
            <a:ext cx="1538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 ROAS for Nuna Harvest in six months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909560" y="5532120"/>
            <a:ext cx="34134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909560" y="5532120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THIS PROPOSAL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 ·  YELP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32104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Yelp Management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73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reviews decide, and where Sparks is one of the few cannabis partners recognized by Yelp.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76526"/>
            <a:ext cx="6766560" cy="923459"/>
          </a:xfrm>
          <a:prstGeom prst="roundRect">
            <a:avLst>
              <a:gd name="adj" fmla="val 11882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400512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02" y="2528893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28625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is the pitch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578862"/>
            <a:ext cx="5760720" cy="46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is where shoppers compare local options on rating alone. Unanswered one-star reviews and policy-breaking reviews pull the average down.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209713"/>
            <a:ext cx="6766560" cy="923459"/>
          </a:xfrm>
          <a:prstGeom prst="roundRect">
            <a:avLst>
              <a:gd name="adj" fmla="val 11882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433699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2" y="3562081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319441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ranks in Google too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612049"/>
            <a:ext cx="5760720" cy="46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Yelp page often outranks your own site for your store name. A complete, current profile is what people see before they ever reach your menu.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242901"/>
            <a:ext cx="6766560" cy="923459"/>
          </a:xfrm>
          <a:prstGeom prst="roundRect">
            <a:avLst>
              <a:gd name="adj" fmla="val 11882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4466886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02" y="459526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4352629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not just clicks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4645237"/>
            <a:ext cx="5760720" cy="46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drives calls, direction requests, and website clicks that never show up on a marketplace dashboard. We track them.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525780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FDE7D8"/>
          </a:solidFill>
          <a:ln w="6350">
            <a:solidFill>
              <a:srgbClr val="FDE7D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349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 on Green Valley Dispensary's Yelp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5623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unanswered 1-star reviews; profile incomplete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589520" y="2176526"/>
            <a:ext cx="4053535" cy="3949954"/>
          </a:xfrm>
          <a:prstGeom prst="roundRect">
            <a:avLst>
              <a:gd name="adj" fmla="val 2778"/>
            </a:avLst>
          </a:prstGeom>
          <a:solidFill>
            <a:srgbClr val="DD5F13"/>
          </a:solidFill>
          <a:ln w="6350">
            <a:solidFill>
              <a:srgbClr val="DD5F1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909560" y="240512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0" y="2725166"/>
            <a:ext cx="3596335" cy="2121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optimization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Photos, categories, hours, highlights, and business details kept complete and current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management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Responses and removal requests for guideline-breaking reviews through Sparks' recognized partner access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tracking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Calls, direction requests, and site visits attributed to Yelp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updates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Specials, announcements, and photo refreshes to keep the page active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Monthly reporting alongside your marketplace results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909560" y="4919472"/>
            <a:ext cx="3413455" cy="0"/>
          </a:xfrm>
          <a:prstGeom prst="line">
            <a:avLst/>
          </a:prstGeom>
          <a:noFill/>
          <a:ln w="9525">
            <a:solidFill>
              <a:srgbClr val="F0B48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90956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+109%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9784080" y="4983480"/>
            <a:ext cx="1538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leads for Nuna Harvest in six months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909560" y="5532120"/>
            <a:ext cx="34134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909560" y="5532120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THIS PROPOSAL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 ·  GOOGLE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32104"/>
            <a:ext cx="11094415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&amp; Apple Maps Management (GBP, Ads &amp; Local SEO)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27734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"Dispensary near me" is decided on Google Maps and Apple Maps.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049526"/>
            <a:ext cx="6766560" cy="965793"/>
          </a:xfrm>
          <a:prstGeom prst="roundRect">
            <a:avLst>
              <a:gd name="adj" fmla="val 11361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294678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02" y="242306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15925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Maps 3-pack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451862"/>
            <a:ext cx="5760720" cy="508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local searches end in the top three Google Maps results. Getting there takes a clean Business Profile, review velocity, and citation authority.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125047"/>
            <a:ext cx="6766560" cy="965793"/>
          </a:xfrm>
          <a:prstGeom prst="roundRect">
            <a:avLst>
              <a:gd name="adj" fmla="val 11361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370199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2" y="3498581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234775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few free channels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527383"/>
            <a:ext cx="5760720" cy="508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cannabis restricted on most ad platforms, your Google Business Profile is one of the only free places to reach local customers at scale.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200567"/>
            <a:ext cx="6766560" cy="965793"/>
          </a:xfrm>
          <a:prstGeom prst="roundRect">
            <a:avLst>
              <a:gd name="adj" fmla="val 11361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4445720"/>
            <a:ext cx="475488" cy="475488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02" y="4574101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4310295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Maps and 20+ directories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4602903"/>
            <a:ext cx="5760720" cy="508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users search in Apple Maps, Siri and CarPlay. Apple Business Connect plus consistent name, address and phone across 20+ directories is what tells every map you're the real one.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5257800"/>
            <a:ext cx="6766560" cy="868680"/>
          </a:xfrm>
          <a:prstGeom prst="roundRect">
            <a:avLst>
              <a:gd name="adj" fmla="val 12632"/>
            </a:avLst>
          </a:prstGeom>
          <a:solidFill>
            <a:srgbClr val="FDE7D8"/>
          </a:solidFill>
          <a:ln w="6350">
            <a:solidFill>
              <a:srgbClr val="FDE7D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349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 on Green Valley Dispensary's Google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5623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not claimed / wrong hours; 0 posts in 6 months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589520" y="2049526"/>
            <a:ext cx="4053535" cy="4076954"/>
          </a:xfrm>
          <a:prstGeom prst="roundRect">
            <a:avLst>
              <a:gd name="adj" fmla="val 2707"/>
            </a:avLst>
          </a:prstGeom>
          <a:solidFill>
            <a:srgbClr val="DD5F13"/>
          </a:solidFill>
          <a:ln w="6350">
            <a:solidFill>
              <a:srgbClr val="DD5F1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909560" y="227812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0" y="2598166"/>
            <a:ext cx="3596335" cy="22481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Claim, cleanup, and optimization of your Google Business Profile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photos &amp; reviews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Weekly Google Posts, photo refresh, Q&amp;A, and review responses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Compliant campaigns where the market allows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Maps &amp; 20+ directories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Apple Business Connect (Apple Maps, Siri, CarPlay) plus NAP consistency across 20+ directories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Map-pack tracking</a:t>
            </a:r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Ranking tracking with a Top 3 goal in 90 days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909560" y="4919472"/>
            <a:ext cx="3413455" cy="0"/>
          </a:xfrm>
          <a:prstGeom prst="line">
            <a:avLst/>
          </a:prstGeom>
          <a:noFill/>
          <a:ln w="9525">
            <a:solidFill>
              <a:srgbClr val="F0B48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90956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9784080" y="4983480"/>
            <a:ext cx="1538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ranking goal within 90 days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909560" y="5532120"/>
            <a:ext cx="341345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909560" y="5532120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THIS PROPOSAL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account team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2555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A7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will run your listings.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8F3EF"/>
          </a:solidFill>
          <a:ln w="6350">
            <a:solidFill>
              <a:srgbClr val="F8F3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331720"/>
            <a:ext cx="1005840" cy="1005840"/>
          </a:xfrm>
          <a:prstGeom prst="ellipse">
            <a:avLst/>
          </a:prstGeom>
          <a:solidFill>
            <a:srgbClr val="DD5F13"/>
          </a:solidFill>
          <a:ln w="12700">
            <a:solidFill>
              <a:srgbClr val="DD5F1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Sparks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931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D5F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434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at Weedmaps working with the largest dispensaries in the world, then 3 years running listing management for Purple Lotus before founding Sparks in 2022.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011680"/>
            <a:ext cx="6979615" cy="4114800"/>
          </a:xfrm>
          <a:prstGeom prst="roundRect">
            <a:avLst>
              <a:gd name="adj" fmla="val 2667"/>
            </a:avLst>
          </a:prstGeom>
          <a:solidFill>
            <a:srgbClr val="DD5F13"/>
          </a:solidFill>
          <a:ln w="6350">
            <a:solidFill>
              <a:srgbClr val="DD5F1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83480" y="2286000"/>
            <a:ext cx="6339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WITH YOU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697480"/>
            <a:ext cx="652241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lead and weekly performance report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listing specialists working daily in your platforms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creative for ads, deals and listing assets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maintaining your POS-integrated dashboard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line to leadership — no ticket queues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5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sparkscann.com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5311" y="6355080"/>
            <a:ext cx="237744" cy="3121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36289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"/>
            <a:ext cx="11094415" cy="63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22555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Weedmaps launch plan for Green Valley Dispensary.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148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5146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audit, strategy, listing + menu clean-up, campaigns live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474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&amp; deal optimization, review program, dashboard attribution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5F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4434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winners, Maps 3-pack push, quarterly plan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120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30 days or your money back.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23560"/>
            <a:ext cx="914400" cy="61127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589520" y="2148840"/>
            <a:ext cx="4053535" cy="3840480"/>
          </a:xfrm>
          <a:prstGeom prst="roundRect">
            <a:avLst>
              <a:gd name="adj" fmla="val 2857"/>
            </a:avLst>
          </a:prstGeom>
          <a:solidFill>
            <a:srgbClr val="B84C0C"/>
          </a:solidFill>
          <a:ln w="6350">
            <a:solidFill>
              <a:srgbClr val="B84C0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909560" y="2377440"/>
            <a:ext cx="268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SUMMARY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7909560" y="2743200"/>
            <a:ext cx="213329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9859975" y="2743200"/>
            <a:ext cx="14630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909560" y="3093720"/>
            <a:ext cx="213329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9859975" y="3093720"/>
            <a:ext cx="14630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909560" y="3444240"/>
            <a:ext cx="213329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9859975" y="3444240"/>
            <a:ext cx="14630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7909560" y="3794760"/>
            <a:ext cx="213329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Leafly Management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9859975" y="3794760"/>
            <a:ext cx="14630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909560" y="4145280"/>
            <a:ext cx="213329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Yelp Management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9859975" y="4145280"/>
            <a:ext cx="14630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7909560" y="4495800"/>
            <a:ext cx="213329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Apple Maps Management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9859975" y="4495800"/>
            <a:ext cx="146304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7909560" y="507492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are.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7909560" y="5440680"/>
            <a:ext cx="3413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Sparks, Founder &amp; CEO  ·  kevin@sparkscann.com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Sparks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Sparks × Green Valley Dispensary</dc:title>
  <dc:subject>PptxGenJS Presentation</dc:subject>
  <dc:creator>Sparks</dc:creator>
  <cp:lastModifiedBy>Sparks</cp:lastModifiedBy>
  <cp:revision>1</cp:revision>
  <dcterms:created xsi:type="dcterms:W3CDTF">2026-10-15T19:53:31Z</dcterms:created>
  <dcterms:modified xsi:type="dcterms:W3CDTF">2026-10-15T19:53:31Z</dcterms:modified>
</cp:coreProperties>
</file>