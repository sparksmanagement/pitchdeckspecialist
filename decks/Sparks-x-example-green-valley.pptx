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</p:sldIdLst>
  <p:notesMasterIdLst>
    <p:notesMasterId r:id="rId16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notesMaster" Target="notesMasters/notesMaster1.xml"/><Relationship Id="rId17" Type="http://schemas.openxmlformats.org/officeDocument/2006/relationships/presProps" Target="presProps.xml"/><Relationship Id="rId18" Type="http://schemas.openxmlformats.org/officeDocument/2006/relationships/viewProps" Target="viewProps.xml"/><Relationship Id="rId19" Type="http://schemas.openxmlformats.org/officeDocument/2006/relationships/theme" Target="theme/theme1.xml"/><Relationship Id="rId20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Open with the one-liner. Green Valley Dispensary is a dispensary in Sacramento, CA. This deck is Weedmaps-first: the full pitch is Weedmaps management; the other platforms are add-ons at $495/mo each.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Airbnb's problem slide: plain-language pains. Tie each one to something you saw on the prospect's listings (the audit slide comes in the Weedmaps section).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One sentence the prospect can repeat back. The tiles preview the deck's order: the focus platform in full, then each add-on.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Credibility before the audit. Say 'official partner' only for Yelp, Google and Apple Maps. For Weedmaps and Leafly, say we've worked with them for 10+ years and the founder was a Weedmaps executive — not 'partner'.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Read it like a doctor reading a chart — calm, specific, no blame. Rows marked 'to confirm' could not be verified from outside the account; ask on the call.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The seven Sparks pillars (spend, listing, menu, reviews, deals, creative, data) applied to this platform. Tie each line back to an audit finding.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Only cite numbers published on sparkscann.com. ROAS is measured from on-platform conversions plus POS-integrated attribution in the Sparks dashboard.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Purple Lotus is the 'decade-old account we doubled' story; Nuna Harvest is the 'new market, fast growth' story. Pick the one closest to the prospect.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Pricing for Weedmaps Management. Results in 30 days or your money back. Ad spend is billed by the platform; the fee covers management. Each add-on is $495/mo.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Leafly Management is included in this proposal. Scope notes: Menu sync with POS, Leafly ads, deal activations, review management..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Yelp Management is included in this proposal. Scope notes: Profile optimization, review responses and removal requests, lead tracking..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Google &amp; Apple Maps Management (GBP, Ads &amp; Local SEO) is included in this proposal. Scope notes: Claim &amp; optimize GBP, weekly Google Posts, photo refresh, Q&amp;A, review response. Target: Maps 3-pack in 90 days..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Add team members in brand/config.yml. Headshots can replace the initials circles in PowerPoint.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Close: restate the guarantee, propose a start date, and ask for Weedmaps admin access to begin the audit. Add-ons are $495/mo each. Can be switched on at any time.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slideLayout" Target="../slideLayouts/slideLayout1.xml"/><Relationship Id="rId5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2-1.png"/><Relationship Id="rId2" Type="http://schemas.openxmlformats.org/officeDocument/2006/relationships/image" Target="../media/image-2-2.png"/><Relationship Id="rId3" Type="http://schemas.openxmlformats.org/officeDocument/2006/relationships/image" Target="../media/image-2-3.png"/><Relationship Id="rId4" Type="http://schemas.openxmlformats.org/officeDocument/2006/relationships/image" Target="../media/image-2-4.png"/><Relationship Id="rId5" Type="http://schemas.openxmlformats.org/officeDocument/2006/relationships/image" Target="../media/image-2-5.png"/><Relationship Id="rId6" Type="http://schemas.openxmlformats.org/officeDocument/2006/relationships/slideLayout" Target="../slideLayouts/slideLayout1.xml"/><Relationship Id="rId7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image" Target="../media/image-3-2.png"/><Relationship Id="rId3" Type="http://schemas.openxmlformats.org/officeDocument/2006/relationships/image" Target="../media/image-3-3.png"/><Relationship Id="rId4" Type="http://schemas.openxmlformats.org/officeDocument/2006/relationships/image" Target="../media/image-3-4.png"/><Relationship Id="rId5" Type="http://schemas.openxmlformats.org/officeDocument/2006/relationships/image" Target="../media/image-3-5.png"/><Relationship Id="rId6" Type="http://schemas.openxmlformats.org/officeDocument/2006/relationships/image" Target="../media/image-3-6.png"/><Relationship Id="rId7" Type="http://schemas.openxmlformats.org/officeDocument/2006/relationships/image" Target="../media/image-3-7.png"/><Relationship Id="rId8" Type="http://schemas.openxmlformats.org/officeDocument/2006/relationships/slideLayout" Target="../slideLayouts/slideLayout1.xml"/><Relationship Id="rId9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image" Target="../media/image-4-2.png"/><Relationship Id="rId3" Type="http://schemas.openxmlformats.org/officeDocument/2006/relationships/image" Target="../media/image-4-3.png"/><Relationship Id="rId4" Type="http://schemas.openxmlformats.org/officeDocument/2006/relationships/image" Target="../media/image-4-4.png"/><Relationship Id="rId5" Type="http://schemas.openxmlformats.org/officeDocument/2006/relationships/image" Target="../media/image-4-5.png"/><Relationship Id="rId6" Type="http://schemas.openxmlformats.org/officeDocument/2006/relationships/image" Target="../media/image-4-6.png"/><Relationship Id="rId7" Type="http://schemas.openxmlformats.org/officeDocument/2006/relationships/slideLayout" Target="../slideLayouts/slideLayout1.xml"/><Relationship Id="rId8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image" Target="../media/image-10-2.png"/><Relationship Id="rId3" Type="http://schemas.openxmlformats.org/officeDocument/2006/relationships/image" Target="../media/image-10-3.png"/><Relationship Id="rId4" Type="http://schemas.openxmlformats.org/officeDocument/2006/relationships/image" Target="../media/image-10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image" Target="../media/image-11-3.png"/><Relationship Id="rId4" Type="http://schemas.openxmlformats.org/officeDocument/2006/relationships/image" Target="../media/image-11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image" Target="../media/image-12-2.png"/><Relationship Id="rId3" Type="http://schemas.openxmlformats.org/officeDocument/2006/relationships/image" Target="../media/image-12-3.png"/><Relationship Id="rId4" Type="http://schemas.openxmlformats.org/officeDocument/2006/relationships/image" Target="../media/image-12-4.png"/><Relationship Id="rId5" Type="http://schemas.openxmlformats.org/officeDocument/2006/relationships/slideLayout" Target="../slideLayouts/slideLayout1.xml"/><Relationship Id="rId6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image" Target="../media/image-14-2.png"/><Relationship Id="rId3" Type="http://schemas.openxmlformats.org/officeDocument/2006/relationships/slideLayout" Target="../slideLayouts/slideLayout1.xml"/><Relationship Id="rId4" Type="http://schemas.openxmlformats.org/officeDocument/2006/relationships/notesSlide" Target="../notesSlides/notesSlide14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DD5F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292608"/>
            <a:ext cx="11094415" cy="0"/>
          </a:xfrm>
          <a:prstGeom prst="line">
            <a:avLst/>
          </a:prstGeom>
          <a:noFill/>
          <a:ln w="12700">
            <a:solidFill>
              <a:srgbClr val="FFFF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48640" y="6291072"/>
            <a:ext cx="11094415" cy="0"/>
          </a:xfrm>
          <a:prstGeom prst="line">
            <a:avLst/>
          </a:prstGeom>
          <a:noFill/>
          <a:ln w="12700">
            <a:solidFill>
              <a:srgbClr val="FFFFFF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64465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sparkscann.com</a:t>
            </a:r>
            <a:endParaRPr lang="en-US" sz="10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05311" y="6355080"/>
            <a:ext cx="237744" cy="31210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0362895" y="644652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000" dirty="0"/>
          </a:p>
        </p:txBody>
      </p:sp>
      <p:pic>
        <p:nvPicPr>
          <p:cNvPr id="7" name="Image 1" descr="preencoded.png">    </p:cNvPr>
          <p:cNvPicPr>
            <a:picLocks noChangeAspect="1"/>
          </p:cNvPicPr>
          <p:nvPr/>
        </p:nvPicPr>
        <p:blipFill>
          <a:blip r:embed="rId2">
            <a:alphaModFix amt="30000"/>
          </a:blip>
          <a:stretch>
            <a:fillRect/>
          </a:stretch>
        </p:blipFill>
        <p:spPr>
          <a:xfrm>
            <a:off x="8899855" y="914400"/>
            <a:ext cx="2743200" cy="3601205"/>
          </a:xfrm>
          <a:prstGeom prst="rect">
            <a:avLst/>
          </a:prstGeom>
        </p:spPr>
      </p:pic>
      <p:pic>
        <p:nvPicPr>
          <p:cNvPr id="8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48640" y="548640"/>
            <a:ext cx="1920240" cy="1283685"/>
          </a:xfrm>
          <a:prstGeom prst="rect">
            <a:avLst/>
          </a:prstGeom>
        </p:spPr>
      </p:pic>
      <p:sp>
        <p:nvSpPr>
          <p:cNvPr id="9" name="Text 4"/>
          <p:cNvSpPr txBox="1"/>
          <p:nvPr/>
        </p:nvSpPr>
        <p:spPr>
          <a:xfrm>
            <a:off x="548640" y="2148840"/>
            <a:ext cx="7863840" cy="1600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Sparks × Green Valley Dispensary</a:t>
            </a:r>
            <a:endParaRPr lang="en-US" sz="4800" dirty="0"/>
          </a:p>
        </p:txBody>
      </p:sp>
      <p:sp>
        <p:nvSpPr>
          <p:cNvPr id="10" name="Text 5"/>
          <p:cNvSpPr txBox="1"/>
          <p:nvPr/>
        </p:nvSpPr>
        <p:spPr>
          <a:xfrm>
            <a:off x="548640" y="3931920"/>
            <a:ext cx="749808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Weedmaps Management proposal</a:t>
            </a:r>
            <a:endParaRPr lang="en-US" sz="1800" dirty="0"/>
          </a:p>
        </p:txBody>
      </p:sp>
      <p:sp>
        <p:nvSpPr>
          <p:cNvPr id="11" name="Text 6"/>
          <p:cNvSpPr txBox="1"/>
          <p:nvPr/>
        </p:nvSpPr>
        <p:spPr>
          <a:xfrm>
            <a:off x="548640" y="4343400"/>
            <a:ext cx="694944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 manage your Weedmaps, Leafly, Yelp, and Google listings and ads so your dispensary gets found, clicked, and ordered from.</a:t>
            </a:r>
            <a:endParaRPr lang="en-US" sz="1600" dirty="0"/>
          </a:p>
        </p:txBody>
      </p:sp>
      <p:sp>
        <p:nvSpPr>
          <p:cNvPr id="12" name="Text 7"/>
          <p:cNvSpPr txBox="1"/>
          <p:nvPr/>
        </p:nvSpPr>
        <p:spPr>
          <a:xfrm>
            <a:off x="548640" y="5349240"/>
            <a:ext cx="8229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Sacramento, CA   ·   September 14, 2026   ·   Prepared for Jordan Lee, Owner</a:t>
            </a:r>
            <a:endParaRPr lang="en-US" sz="12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4465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sparkscann.com</a:t>
            </a:r>
            <a:endParaRPr lang="en-US" sz="1000" dirty="0"/>
          </a:p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05311" y="6355080"/>
            <a:ext cx="237744" cy="31210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0362895" y="644652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0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502920"/>
            <a:ext cx="11094415" cy="6311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DD5F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Cannabis can't market like everyone else</a:t>
            </a:r>
            <a:endParaRPr lang="en-US" sz="34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1225550"/>
            <a:ext cx="1109441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Ads are restricted, so the customer journey lives on pay-to-play platforms — and most listings are left on autopilot.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548640" y="2103374"/>
            <a:ext cx="2567864" cy="3566160"/>
          </a:xfrm>
          <a:prstGeom prst="roundRect">
            <a:avLst>
              <a:gd name="adj" fmla="val 4273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822960" y="2377694"/>
            <a:ext cx="594360" cy="594360"/>
          </a:xfrm>
          <a:prstGeom prst="ellipse">
            <a:avLst/>
          </a:prstGeom>
          <a:solidFill>
            <a:srgbClr val="DD5F13"/>
          </a:solidFill>
          <a:ln w="12700">
            <a:solidFill>
              <a:srgbClr val="DD5F13"/>
            </a:solidFill>
            <a:prstDash val="solid"/>
          </a:ln>
        </p:spPr>
      </p:sp>
      <p:pic>
        <p:nvPicPr>
          <p:cNvPr id="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83437" y="2538171"/>
            <a:ext cx="273406" cy="273406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822960" y="3154934"/>
            <a:ext cx="20192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Restricted advertising</a:t>
            </a:r>
            <a:endParaRPr lang="en-US" sz="1700" dirty="0"/>
          </a:p>
        </p:txBody>
      </p:sp>
      <p:sp>
        <p:nvSpPr>
          <p:cNvPr id="11" name="Text 7"/>
          <p:cNvSpPr txBox="1"/>
          <p:nvPr/>
        </p:nvSpPr>
        <p:spPr>
          <a:xfrm>
            <a:off x="822960" y="3749294"/>
            <a:ext cx="20192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Ads, Meta and most networks block cannabis. Discovery happens on Weedmaps, Leafly, Google Maps, Apple Maps and Yelp.</a:t>
            </a:r>
            <a:endParaRPr lang="en-US" sz="1300" dirty="0"/>
          </a:p>
        </p:txBody>
      </p:sp>
      <p:sp>
        <p:nvSpPr>
          <p:cNvPr id="12" name="Shape 8"/>
          <p:cNvSpPr/>
          <p:nvPr/>
        </p:nvSpPr>
        <p:spPr>
          <a:xfrm>
            <a:off x="3390824" y="2103374"/>
            <a:ext cx="2567864" cy="3566160"/>
          </a:xfrm>
          <a:prstGeom prst="roundRect">
            <a:avLst>
              <a:gd name="adj" fmla="val 4273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13" name="Shape 9"/>
          <p:cNvSpPr/>
          <p:nvPr/>
        </p:nvSpPr>
        <p:spPr>
          <a:xfrm>
            <a:off x="3665144" y="2377694"/>
            <a:ext cx="594360" cy="594360"/>
          </a:xfrm>
          <a:prstGeom prst="ellipse">
            <a:avLst/>
          </a:prstGeom>
          <a:solidFill>
            <a:srgbClr val="DD5F13"/>
          </a:solidFill>
          <a:ln w="12700">
            <a:solidFill>
              <a:srgbClr val="DD5F13"/>
            </a:solidFill>
            <a:prstDash val="solid"/>
          </a:ln>
        </p:spPr>
      </p:sp>
      <p:pic>
        <p:nvPicPr>
          <p:cNvPr id="1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825621" y="2538171"/>
            <a:ext cx="273406" cy="273406"/>
          </a:xfrm>
          <a:prstGeom prst="rect">
            <a:avLst/>
          </a:prstGeom>
        </p:spPr>
      </p:pic>
      <p:sp>
        <p:nvSpPr>
          <p:cNvPr id="15" name="Text 10"/>
          <p:cNvSpPr txBox="1"/>
          <p:nvPr/>
        </p:nvSpPr>
        <p:spPr>
          <a:xfrm>
            <a:off x="3665144" y="3154934"/>
            <a:ext cx="20192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Listings decay</a:t>
            </a:r>
            <a:endParaRPr lang="en-US" sz="1700" dirty="0"/>
          </a:p>
        </p:txBody>
      </p:sp>
      <p:sp>
        <p:nvSpPr>
          <p:cNvPr id="16" name="Text 11"/>
          <p:cNvSpPr txBox="1"/>
          <p:nvPr/>
        </p:nvSpPr>
        <p:spPr>
          <a:xfrm>
            <a:off x="3665144" y="3749294"/>
            <a:ext cx="20192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Menus drift from POS, deals expire, photos go stale, reviews sit unanswered. Every gap costs orders.</a:t>
            </a:r>
            <a:endParaRPr lang="en-US" sz="1300" dirty="0"/>
          </a:p>
        </p:txBody>
      </p:sp>
      <p:sp>
        <p:nvSpPr>
          <p:cNvPr id="17" name="Shape 12"/>
          <p:cNvSpPr/>
          <p:nvPr/>
        </p:nvSpPr>
        <p:spPr>
          <a:xfrm>
            <a:off x="6233008" y="2103374"/>
            <a:ext cx="2567864" cy="3566160"/>
          </a:xfrm>
          <a:prstGeom prst="roundRect">
            <a:avLst>
              <a:gd name="adj" fmla="val 4273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18" name="Shape 13"/>
          <p:cNvSpPr/>
          <p:nvPr/>
        </p:nvSpPr>
        <p:spPr>
          <a:xfrm>
            <a:off x="6507328" y="2377694"/>
            <a:ext cx="594360" cy="594360"/>
          </a:xfrm>
          <a:prstGeom prst="ellipse">
            <a:avLst/>
          </a:prstGeom>
          <a:solidFill>
            <a:srgbClr val="DD5F13"/>
          </a:solidFill>
          <a:ln w="12700">
            <a:solidFill>
              <a:srgbClr val="DD5F13"/>
            </a:solidFill>
            <a:prstDash val="solid"/>
          </a:ln>
        </p:spPr>
      </p:sp>
      <p:pic>
        <p:nvPicPr>
          <p:cNvPr id="1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6667805" y="2538171"/>
            <a:ext cx="273406" cy="273406"/>
          </a:xfrm>
          <a:prstGeom prst="rect">
            <a:avLst/>
          </a:prstGeom>
        </p:spPr>
      </p:pic>
      <p:sp>
        <p:nvSpPr>
          <p:cNvPr id="20" name="Text 14"/>
          <p:cNvSpPr txBox="1"/>
          <p:nvPr/>
        </p:nvSpPr>
        <p:spPr>
          <a:xfrm>
            <a:off x="6507328" y="3154934"/>
            <a:ext cx="20192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Spend isn't managed</a:t>
            </a:r>
            <a:endParaRPr lang="en-US" sz="1700" dirty="0"/>
          </a:p>
        </p:txBody>
      </p:sp>
      <p:sp>
        <p:nvSpPr>
          <p:cNvPr id="21" name="Text 15"/>
          <p:cNvSpPr txBox="1"/>
          <p:nvPr/>
        </p:nvSpPr>
        <p:spPr>
          <a:xfrm>
            <a:off x="6507328" y="3749294"/>
            <a:ext cx="20192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Budgets are set once and never optimized. Platform reps grow platform revenue, not your ROAS.</a:t>
            </a:r>
            <a:endParaRPr lang="en-US" sz="1300" dirty="0"/>
          </a:p>
        </p:txBody>
      </p:sp>
      <p:sp>
        <p:nvSpPr>
          <p:cNvPr id="22" name="Shape 16"/>
          <p:cNvSpPr/>
          <p:nvPr/>
        </p:nvSpPr>
        <p:spPr>
          <a:xfrm>
            <a:off x="9075191" y="2103374"/>
            <a:ext cx="2567864" cy="3566160"/>
          </a:xfrm>
          <a:prstGeom prst="roundRect">
            <a:avLst>
              <a:gd name="adj" fmla="val 4273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23" name="Shape 17"/>
          <p:cNvSpPr/>
          <p:nvPr/>
        </p:nvSpPr>
        <p:spPr>
          <a:xfrm>
            <a:off x="9349511" y="2377694"/>
            <a:ext cx="594360" cy="594360"/>
          </a:xfrm>
          <a:prstGeom prst="ellipse">
            <a:avLst/>
          </a:prstGeom>
          <a:solidFill>
            <a:srgbClr val="DD5F13"/>
          </a:solidFill>
          <a:ln w="12700">
            <a:solidFill>
              <a:srgbClr val="DD5F13"/>
            </a:solidFill>
            <a:prstDash val="solid"/>
          </a:ln>
        </p:spPr>
      </p:sp>
      <p:pic>
        <p:nvPicPr>
          <p:cNvPr id="24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9509989" y="2538171"/>
            <a:ext cx="273406" cy="273406"/>
          </a:xfrm>
          <a:prstGeom prst="rect">
            <a:avLst/>
          </a:prstGeom>
        </p:spPr>
      </p:pic>
      <p:sp>
        <p:nvSpPr>
          <p:cNvPr id="25" name="Text 18"/>
          <p:cNvSpPr txBox="1"/>
          <p:nvPr/>
        </p:nvSpPr>
        <p:spPr>
          <a:xfrm>
            <a:off x="9349511" y="3154934"/>
            <a:ext cx="2019224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Nobody owns it</a:t>
            </a:r>
            <a:endParaRPr lang="en-US" sz="1700" dirty="0"/>
          </a:p>
        </p:txBody>
      </p:sp>
      <p:sp>
        <p:nvSpPr>
          <p:cNvPr id="26" name="Text 19"/>
          <p:cNvSpPr txBox="1"/>
          <p:nvPr/>
        </p:nvSpPr>
        <p:spPr>
          <a:xfrm>
            <a:off x="9349511" y="3749294"/>
            <a:ext cx="2019224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GMs and budtenders juggle dashboards on the side with no attribution and no accountability.</a:t>
            </a:r>
            <a:endParaRPr lang="en-US" sz="13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DD5F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292608"/>
            <a:ext cx="11094415" cy="0"/>
          </a:xfrm>
          <a:prstGeom prst="line">
            <a:avLst/>
          </a:prstGeom>
          <a:noFill/>
          <a:ln w="12700">
            <a:solidFill>
              <a:srgbClr val="FFFF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48640" y="6291072"/>
            <a:ext cx="11094415" cy="0"/>
          </a:xfrm>
          <a:prstGeom prst="line">
            <a:avLst/>
          </a:prstGeom>
          <a:noFill/>
          <a:ln w="12700">
            <a:solidFill>
              <a:srgbClr val="FFFFFF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64465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sparkscann.com</a:t>
            </a:r>
            <a:endParaRPr lang="en-US" sz="10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05311" y="6355080"/>
            <a:ext cx="237744" cy="31210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0362895" y="644652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5029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SOLUTION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832104"/>
            <a:ext cx="11094415" cy="85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 run your Weedmaps listings and ads — and we're accountable for the orders.</a:t>
            </a:r>
            <a:endParaRPr lang="en-US" sz="2400" dirty="0"/>
          </a:p>
        </p:txBody>
      </p:sp>
      <p:sp>
        <p:nvSpPr>
          <p:cNvPr id="9" name="Text 6"/>
          <p:cNvSpPr txBox="1"/>
          <p:nvPr/>
        </p:nvSpPr>
        <p:spPr>
          <a:xfrm>
            <a:off x="548640" y="2103120"/>
            <a:ext cx="7132320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Full-service listing management across the marketplaces, maps and directories your customers use: spend, listings, menus, reviews, deals, creative and data — handled by ex-Weedmaps operators. Start with the platform that matters most, add the rest when you're ready.</a:t>
            </a:r>
            <a:endParaRPr lang="en-US" sz="1500" dirty="0"/>
          </a:p>
        </p:txBody>
      </p:sp>
      <p:sp>
        <p:nvSpPr>
          <p:cNvPr id="10" name="Text 7"/>
          <p:cNvSpPr txBox="1"/>
          <p:nvPr/>
        </p:nvSpPr>
        <p:spPr>
          <a:xfrm>
            <a:off x="1438351" y="4206240"/>
            <a:ext cx="312724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spc="3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MARKETPLACES</a:t>
            </a:r>
            <a:endParaRPr lang="en-US" sz="900" dirty="0"/>
          </a:p>
        </p:txBody>
      </p:sp>
      <p:sp>
        <p:nvSpPr>
          <p:cNvPr id="11" name="Shape 8"/>
          <p:cNvSpPr/>
          <p:nvPr/>
        </p:nvSpPr>
        <p:spPr>
          <a:xfrm>
            <a:off x="1438351" y="4526280"/>
            <a:ext cx="1481328" cy="1554480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 w="6350">
            <a:solidFill>
              <a:srgbClr val="FFFFFF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904695" y="4709160"/>
            <a:ext cx="548640" cy="548640"/>
          </a:xfrm>
          <a:prstGeom prst="rect">
            <a:avLst/>
          </a:prstGeom>
        </p:spPr>
      </p:pic>
      <p:sp>
        <p:nvSpPr>
          <p:cNvPr id="13" name="Text 9"/>
          <p:cNvSpPr txBox="1"/>
          <p:nvPr/>
        </p:nvSpPr>
        <p:spPr>
          <a:xfrm>
            <a:off x="1438351" y="5349240"/>
            <a:ext cx="1481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Weedmaps</a:t>
            </a:r>
            <a:endParaRPr lang="en-US" sz="1300" dirty="0"/>
          </a:p>
        </p:txBody>
      </p:sp>
      <p:sp>
        <p:nvSpPr>
          <p:cNvPr id="14" name="Text 10"/>
          <p:cNvSpPr txBox="1"/>
          <p:nvPr/>
        </p:nvSpPr>
        <p:spPr>
          <a:xfrm>
            <a:off x="1438351" y="5623560"/>
            <a:ext cx="14813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b="1" spc="100" kern="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THIS PROPOSAL</a:t>
            </a:r>
            <a:endParaRPr lang="en-US" sz="750" dirty="0"/>
          </a:p>
        </p:txBody>
      </p:sp>
      <p:sp>
        <p:nvSpPr>
          <p:cNvPr id="15" name="Shape 11"/>
          <p:cNvSpPr/>
          <p:nvPr/>
        </p:nvSpPr>
        <p:spPr>
          <a:xfrm>
            <a:off x="3084271" y="4526280"/>
            <a:ext cx="1481328" cy="1554480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 w="6350">
            <a:solidFill>
              <a:srgbClr val="FFFFFF"/>
            </a:solidFill>
            <a:prstDash val="solid"/>
          </a:ln>
        </p:spPr>
      </p:sp>
      <p:pic>
        <p:nvPicPr>
          <p:cNvPr id="16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550615" y="4709160"/>
            <a:ext cx="548640" cy="548640"/>
          </a:xfrm>
          <a:prstGeom prst="rect">
            <a:avLst/>
          </a:prstGeom>
        </p:spPr>
      </p:pic>
      <p:sp>
        <p:nvSpPr>
          <p:cNvPr id="17" name="Text 12"/>
          <p:cNvSpPr txBox="1"/>
          <p:nvPr/>
        </p:nvSpPr>
        <p:spPr>
          <a:xfrm>
            <a:off x="3084271" y="5349240"/>
            <a:ext cx="1481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Leafly</a:t>
            </a:r>
            <a:endParaRPr lang="en-US" sz="1300" dirty="0"/>
          </a:p>
        </p:txBody>
      </p:sp>
      <p:sp>
        <p:nvSpPr>
          <p:cNvPr id="18" name="Text 13"/>
          <p:cNvSpPr txBox="1"/>
          <p:nvPr/>
        </p:nvSpPr>
        <p:spPr>
          <a:xfrm>
            <a:off x="3084271" y="5623560"/>
            <a:ext cx="14813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b="1" spc="100" kern="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INCLUDED</a:t>
            </a:r>
            <a:endParaRPr lang="en-US" sz="750" dirty="0"/>
          </a:p>
        </p:txBody>
      </p:sp>
      <p:sp>
        <p:nvSpPr>
          <p:cNvPr id="19" name="Text 14"/>
          <p:cNvSpPr txBox="1"/>
          <p:nvPr/>
        </p:nvSpPr>
        <p:spPr>
          <a:xfrm>
            <a:off x="4977079" y="4206240"/>
            <a:ext cx="312724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spc="3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MAPS</a:t>
            </a:r>
            <a:endParaRPr lang="en-US" sz="900" dirty="0"/>
          </a:p>
        </p:txBody>
      </p:sp>
      <p:sp>
        <p:nvSpPr>
          <p:cNvPr id="20" name="Shape 15"/>
          <p:cNvSpPr/>
          <p:nvPr/>
        </p:nvSpPr>
        <p:spPr>
          <a:xfrm>
            <a:off x="4977079" y="4526280"/>
            <a:ext cx="1481328" cy="1554480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 w="6350">
            <a:solidFill>
              <a:srgbClr val="FFFFFF"/>
            </a:solidFill>
            <a:prstDash val="solid"/>
          </a:ln>
        </p:spPr>
      </p:sp>
      <p:pic>
        <p:nvPicPr>
          <p:cNvPr id="21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443423" y="4709160"/>
            <a:ext cx="548640" cy="548640"/>
          </a:xfrm>
          <a:prstGeom prst="rect">
            <a:avLst/>
          </a:prstGeom>
        </p:spPr>
      </p:pic>
      <p:sp>
        <p:nvSpPr>
          <p:cNvPr id="22" name="Text 16"/>
          <p:cNvSpPr txBox="1"/>
          <p:nvPr/>
        </p:nvSpPr>
        <p:spPr>
          <a:xfrm>
            <a:off x="4977079" y="5349240"/>
            <a:ext cx="1481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</a:t>
            </a:r>
            <a:endParaRPr lang="en-US" sz="1300" dirty="0"/>
          </a:p>
        </p:txBody>
      </p:sp>
      <p:sp>
        <p:nvSpPr>
          <p:cNvPr id="23" name="Text 17"/>
          <p:cNvSpPr txBox="1"/>
          <p:nvPr/>
        </p:nvSpPr>
        <p:spPr>
          <a:xfrm>
            <a:off x="4977079" y="5623560"/>
            <a:ext cx="14813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b="1" spc="100" kern="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INCLUDED</a:t>
            </a:r>
            <a:endParaRPr lang="en-US" sz="750" dirty="0"/>
          </a:p>
        </p:txBody>
      </p:sp>
      <p:sp>
        <p:nvSpPr>
          <p:cNvPr id="24" name="Shape 18"/>
          <p:cNvSpPr/>
          <p:nvPr/>
        </p:nvSpPr>
        <p:spPr>
          <a:xfrm>
            <a:off x="6622999" y="4526280"/>
            <a:ext cx="1481328" cy="1554480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 w="6350">
            <a:solidFill>
              <a:srgbClr val="FFFFFF"/>
            </a:solidFill>
            <a:prstDash val="solid"/>
          </a:ln>
        </p:spPr>
      </p:sp>
      <p:pic>
        <p:nvPicPr>
          <p:cNvPr id="25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089343" y="4709160"/>
            <a:ext cx="548640" cy="548640"/>
          </a:xfrm>
          <a:prstGeom prst="rect">
            <a:avLst/>
          </a:prstGeom>
        </p:spPr>
      </p:pic>
      <p:sp>
        <p:nvSpPr>
          <p:cNvPr id="26" name="Text 19"/>
          <p:cNvSpPr txBox="1"/>
          <p:nvPr/>
        </p:nvSpPr>
        <p:spPr>
          <a:xfrm>
            <a:off x="6622999" y="5349240"/>
            <a:ext cx="1481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Apple Maps</a:t>
            </a:r>
            <a:endParaRPr lang="en-US" sz="1300" dirty="0"/>
          </a:p>
        </p:txBody>
      </p:sp>
      <p:sp>
        <p:nvSpPr>
          <p:cNvPr id="27" name="Text 20"/>
          <p:cNvSpPr txBox="1"/>
          <p:nvPr/>
        </p:nvSpPr>
        <p:spPr>
          <a:xfrm>
            <a:off x="6622999" y="5623560"/>
            <a:ext cx="14813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b="1" spc="100" kern="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INCLUDED</a:t>
            </a:r>
            <a:endParaRPr lang="en-US" sz="750" dirty="0"/>
          </a:p>
        </p:txBody>
      </p:sp>
      <p:sp>
        <p:nvSpPr>
          <p:cNvPr id="28" name="Text 21"/>
          <p:cNvSpPr txBox="1"/>
          <p:nvPr/>
        </p:nvSpPr>
        <p:spPr>
          <a:xfrm>
            <a:off x="8515807" y="4206240"/>
            <a:ext cx="312724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900" b="1" spc="3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DIRECTORIES</a:t>
            </a:r>
            <a:endParaRPr lang="en-US" sz="900" dirty="0"/>
          </a:p>
        </p:txBody>
      </p:sp>
      <p:sp>
        <p:nvSpPr>
          <p:cNvPr id="29" name="Shape 22"/>
          <p:cNvSpPr/>
          <p:nvPr/>
        </p:nvSpPr>
        <p:spPr>
          <a:xfrm>
            <a:off x="8515807" y="4526280"/>
            <a:ext cx="1481328" cy="1554480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 w="6350">
            <a:solidFill>
              <a:srgbClr val="FFFFFF"/>
            </a:solidFill>
            <a:prstDash val="solid"/>
          </a:ln>
        </p:spPr>
      </p:sp>
      <p:pic>
        <p:nvPicPr>
          <p:cNvPr id="30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982151" y="4709160"/>
            <a:ext cx="548640" cy="548640"/>
          </a:xfrm>
          <a:prstGeom prst="rect">
            <a:avLst/>
          </a:prstGeom>
        </p:spPr>
      </p:pic>
      <p:sp>
        <p:nvSpPr>
          <p:cNvPr id="31" name="Text 23"/>
          <p:cNvSpPr txBox="1"/>
          <p:nvPr/>
        </p:nvSpPr>
        <p:spPr>
          <a:xfrm>
            <a:off x="8515807" y="5349240"/>
            <a:ext cx="1481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Yelp</a:t>
            </a:r>
            <a:endParaRPr lang="en-US" sz="1300" dirty="0"/>
          </a:p>
        </p:txBody>
      </p:sp>
      <p:sp>
        <p:nvSpPr>
          <p:cNvPr id="32" name="Text 24"/>
          <p:cNvSpPr txBox="1"/>
          <p:nvPr/>
        </p:nvSpPr>
        <p:spPr>
          <a:xfrm>
            <a:off x="8515807" y="5623560"/>
            <a:ext cx="14813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b="1" spc="100" kern="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INCLUDED</a:t>
            </a:r>
            <a:endParaRPr lang="en-US" sz="750" dirty="0"/>
          </a:p>
        </p:txBody>
      </p:sp>
      <p:sp>
        <p:nvSpPr>
          <p:cNvPr id="33" name="Shape 25"/>
          <p:cNvSpPr/>
          <p:nvPr/>
        </p:nvSpPr>
        <p:spPr>
          <a:xfrm>
            <a:off x="10161727" y="4526280"/>
            <a:ext cx="1481328" cy="1554480"/>
          </a:xfrm>
          <a:prstGeom prst="roundRect">
            <a:avLst>
              <a:gd name="adj" fmla="val 7407"/>
            </a:avLst>
          </a:prstGeom>
          <a:solidFill>
            <a:srgbClr val="FFFFFF"/>
          </a:solidFill>
          <a:ln w="6350">
            <a:solidFill>
              <a:srgbClr val="FFFFFF"/>
            </a:solidFill>
            <a:prstDash val="solid"/>
          </a:ln>
        </p:spPr>
      </p:sp>
      <p:pic>
        <p:nvPicPr>
          <p:cNvPr id="34" name="Image 6" descr="preencoded.png">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10628071" y="4709160"/>
            <a:ext cx="548640" cy="548640"/>
          </a:xfrm>
          <a:prstGeom prst="rect">
            <a:avLst/>
          </a:prstGeom>
        </p:spPr>
      </p:pic>
      <p:sp>
        <p:nvSpPr>
          <p:cNvPr id="35" name="Text 26"/>
          <p:cNvSpPr txBox="1"/>
          <p:nvPr/>
        </p:nvSpPr>
        <p:spPr>
          <a:xfrm>
            <a:off x="10161727" y="5349240"/>
            <a:ext cx="1481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+20 directories</a:t>
            </a:r>
            <a:endParaRPr lang="en-US" sz="1150" dirty="0"/>
          </a:p>
        </p:txBody>
      </p:sp>
      <p:sp>
        <p:nvSpPr>
          <p:cNvPr id="36" name="Text 27"/>
          <p:cNvSpPr txBox="1"/>
          <p:nvPr/>
        </p:nvSpPr>
        <p:spPr>
          <a:xfrm>
            <a:off x="10161727" y="5623560"/>
            <a:ext cx="1481328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50" b="1" spc="100" kern="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INCLUDED</a:t>
            </a:r>
            <a:endParaRPr lang="en-US" sz="75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4465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sparkscann.com</a:t>
            </a:r>
            <a:endParaRPr lang="en-US" sz="1000" dirty="0"/>
          </a:p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05311" y="6355080"/>
            <a:ext cx="237744" cy="31210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0362895" y="644652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0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5029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WHY SPARKS</a:t>
            </a:r>
            <a:endParaRPr lang="en-US" sz="11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832104"/>
            <a:ext cx="11094415" cy="6311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DD5F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Why Sparks</a:t>
            </a:r>
            <a:endParaRPr lang="en-US" sz="34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1554734"/>
            <a:ext cx="1109441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team behind 100+ dispensary listings — recognized, partnered, and built by a Weedmaps executive.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548640" y="2176526"/>
            <a:ext cx="3515258" cy="1600200"/>
          </a:xfrm>
          <a:prstGeom prst="roundRect">
            <a:avLst>
              <a:gd name="adj" fmla="val 6857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822960" y="2359406"/>
            <a:ext cx="296661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DD5F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100+</a:t>
            </a:r>
            <a:endParaRPr lang="en-US" sz="3600" dirty="0"/>
          </a:p>
        </p:txBody>
      </p:sp>
      <p:sp>
        <p:nvSpPr>
          <p:cNvPr id="10" name="Text 7"/>
          <p:cNvSpPr txBox="1"/>
          <p:nvPr/>
        </p:nvSpPr>
        <p:spPr>
          <a:xfrm>
            <a:off x="822960" y="3045206"/>
            <a:ext cx="296661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dispensaries, deliveries and brands managed — the largest Weedmaps and directory management platform in cannabis</a:t>
            </a:r>
            <a:endParaRPr lang="en-US" sz="1100" dirty="0"/>
          </a:p>
        </p:txBody>
      </p:sp>
      <p:sp>
        <p:nvSpPr>
          <p:cNvPr id="11" name="Shape 8"/>
          <p:cNvSpPr/>
          <p:nvPr/>
        </p:nvSpPr>
        <p:spPr>
          <a:xfrm>
            <a:off x="4338218" y="2176526"/>
            <a:ext cx="3515258" cy="1600200"/>
          </a:xfrm>
          <a:prstGeom prst="roundRect">
            <a:avLst>
              <a:gd name="adj" fmla="val 6857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12" name="Text 9"/>
          <p:cNvSpPr txBox="1"/>
          <p:nvPr/>
        </p:nvSpPr>
        <p:spPr>
          <a:xfrm>
            <a:off x="4612538" y="2359406"/>
            <a:ext cx="296661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DD5F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#1</a:t>
            </a:r>
            <a:endParaRPr lang="en-US" sz="3600" dirty="0"/>
          </a:p>
        </p:txBody>
      </p:sp>
      <p:sp>
        <p:nvSpPr>
          <p:cNvPr id="13" name="Text 10"/>
          <p:cNvSpPr txBox="1"/>
          <p:nvPr/>
        </p:nvSpPr>
        <p:spPr>
          <a:xfrm>
            <a:off x="4612538" y="3045206"/>
            <a:ext cx="296661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Top Cannabis Listing Management Agency 2026 — Cannabis Business Insights</a:t>
            </a:r>
            <a:endParaRPr lang="en-US" sz="1100" dirty="0"/>
          </a:p>
        </p:txBody>
      </p:sp>
      <p:sp>
        <p:nvSpPr>
          <p:cNvPr id="14" name="Shape 11"/>
          <p:cNvSpPr/>
          <p:nvPr/>
        </p:nvSpPr>
        <p:spPr>
          <a:xfrm>
            <a:off x="8127797" y="2176526"/>
            <a:ext cx="3515258" cy="1600200"/>
          </a:xfrm>
          <a:prstGeom prst="roundRect">
            <a:avLst>
              <a:gd name="adj" fmla="val 6857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8402117" y="2359406"/>
            <a:ext cx="296661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DD5F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10+ yrs</a:t>
            </a:r>
            <a:endParaRPr lang="en-US" sz="3600" dirty="0"/>
          </a:p>
        </p:txBody>
      </p:sp>
      <p:sp>
        <p:nvSpPr>
          <p:cNvPr id="16" name="Text 13"/>
          <p:cNvSpPr txBox="1"/>
          <p:nvPr/>
        </p:nvSpPr>
        <p:spPr>
          <a:xfrm>
            <a:off x="8402117" y="3045206"/>
            <a:ext cx="2966618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working inside and alongside Weedmaps and Leafly. Our founder ran accounts at Weedmaps as an executive before starting Sparks.</a:t>
            </a:r>
            <a:endParaRPr lang="en-US" sz="1100" dirty="0"/>
          </a:p>
        </p:txBody>
      </p:sp>
      <p:sp>
        <p:nvSpPr>
          <p:cNvPr id="17" name="Shape 14"/>
          <p:cNvSpPr/>
          <p:nvPr/>
        </p:nvSpPr>
        <p:spPr>
          <a:xfrm>
            <a:off x="548640" y="4051046"/>
            <a:ext cx="5410048" cy="2075434"/>
          </a:xfrm>
          <a:prstGeom prst="roundRect">
            <a:avLst>
              <a:gd name="adj" fmla="val 5287"/>
            </a:avLst>
          </a:prstGeom>
          <a:solidFill>
            <a:srgbClr val="DD5F13"/>
          </a:solidFill>
          <a:ln w="6350">
            <a:solidFill>
              <a:srgbClr val="DD5F13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868680" y="4279646"/>
            <a:ext cx="476996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OFFICIAL PARTNERS</a:t>
            </a:r>
            <a:endParaRPr lang="en-US" sz="1100" dirty="0"/>
          </a:p>
        </p:txBody>
      </p:sp>
      <p:sp>
        <p:nvSpPr>
          <p:cNvPr id="19" name="Text 16"/>
          <p:cNvSpPr txBox="1"/>
          <p:nvPr/>
        </p:nvSpPr>
        <p:spPr>
          <a:xfrm>
            <a:off x="868680" y="4599686"/>
            <a:ext cx="4769968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Official partner programs with the directories and maps that decide local search.</a:t>
            </a:r>
            <a:endParaRPr lang="en-US" sz="1200" dirty="0"/>
          </a:p>
        </p:txBody>
      </p:sp>
      <p:sp>
        <p:nvSpPr>
          <p:cNvPr id="20" name="Shape 17"/>
          <p:cNvSpPr/>
          <p:nvPr/>
        </p:nvSpPr>
        <p:spPr>
          <a:xfrm>
            <a:off x="868680" y="5056886"/>
            <a:ext cx="1468069" cy="795274"/>
          </a:xfrm>
          <a:prstGeom prst="roundRect">
            <a:avLst>
              <a:gd name="adj" fmla="val 13798"/>
            </a:avLst>
          </a:prstGeom>
          <a:solidFill>
            <a:srgbClr val="FFFFFF"/>
          </a:solidFill>
          <a:ln w="6350">
            <a:solidFill>
              <a:srgbClr val="FFFFFF"/>
            </a:solidFill>
            <a:prstDash val="solid"/>
          </a:ln>
        </p:spPr>
      </p:sp>
      <p:pic>
        <p:nvPicPr>
          <p:cNvPr id="21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374115" y="5166614"/>
            <a:ext cx="457200" cy="457200"/>
          </a:xfrm>
          <a:prstGeom prst="rect">
            <a:avLst/>
          </a:prstGeom>
        </p:spPr>
      </p:pic>
      <p:sp>
        <p:nvSpPr>
          <p:cNvPr id="22" name="Text 18"/>
          <p:cNvSpPr txBox="1"/>
          <p:nvPr/>
        </p:nvSpPr>
        <p:spPr>
          <a:xfrm>
            <a:off x="868680" y="5642102"/>
            <a:ext cx="146806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Yelp</a:t>
            </a:r>
            <a:endParaRPr lang="en-US" sz="1250" dirty="0"/>
          </a:p>
        </p:txBody>
      </p:sp>
      <p:sp>
        <p:nvSpPr>
          <p:cNvPr id="23" name="Text 19"/>
          <p:cNvSpPr txBox="1"/>
          <p:nvPr/>
        </p:nvSpPr>
        <p:spPr>
          <a:xfrm>
            <a:off x="868680" y="5879846"/>
            <a:ext cx="146806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spc="100" kern="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OFFICIAL PARTNER</a:t>
            </a:r>
            <a:endParaRPr lang="en-US" sz="700" dirty="0"/>
          </a:p>
        </p:txBody>
      </p:sp>
      <p:sp>
        <p:nvSpPr>
          <p:cNvPr id="24" name="Shape 20"/>
          <p:cNvSpPr/>
          <p:nvPr/>
        </p:nvSpPr>
        <p:spPr>
          <a:xfrm>
            <a:off x="2519629" y="5056886"/>
            <a:ext cx="1468069" cy="795274"/>
          </a:xfrm>
          <a:prstGeom prst="roundRect">
            <a:avLst>
              <a:gd name="adj" fmla="val 13798"/>
            </a:avLst>
          </a:prstGeom>
          <a:solidFill>
            <a:srgbClr val="FFFFFF"/>
          </a:solidFill>
          <a:ln w="6350">
            <a:solidFill>
              <a:srgbClr val="FFFFFF"/>
            </a:solidFill>
            <a:prstDash val="solid"/>
          </a:ln>
        </p:spPr>
      </p:sp>
      <p:pic>
        <p:nvPicPr>
          <p:cNvPr id="2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3025064" y="5166614"/>
            <a:ext cx="457200" cy="457200"/>
          </a:xfrm>
          <a:prstGeom prst="rect">
            <a:avLst/>
          </a:prstGeom>
        </p:spPr>
      </p:pic>
      <p:sp>
        <p:nvSpPr>
          <p:cNvPr id="26" name="Text 21"/>
          <p:cNvSpPr txBox="1"/>
          <p:nvPr/>
        </p:nvSpPr>
        <p:spPr>
          <a:xfrm>
            <a:off x="2519629" y="5642102"/>
            <a:ext cx="146806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</a:t>
            </a:r>
            <a:endParaRPr lang="en-US" sz="1250" dirty="0"/>
          </a:p>
        </p:txBody>
      </p:sp>
      <p:sp>
        <p:nvSpPr>
          <p:cNvPr id="27" name="Text 22"/>
          <p:cNvSpPr txBox="1"/>
          <p:nvPr/>
        </p:nvSpPr>
        <p:spPr>
          <a:xfrm>
            <a:off x="2519629" y="5879846"/>
            <a:ext cx="146806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spc="100" kern="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OFFICIAL PARTNER</a:t>
            </a:r>
            <a:endParaRPr lang="en-US" sz="700" dirty="0"/>
          </a:p>
        </p:txBody>
      </p:sp>
      <p:sp>
        <p:nvSpPr>
          <p:cNvPr id="28" name="Shape 23"/>
          <p:cNvSpPr/>
          <p:nvPr/>
        </p:nvSpPr>
        <p:spPr>
          <a:xfrm>
            <a:off x="4170578" y="5056886"/>
            <a:ext cx="1468069" cy="795274"/>
          </a:xfrm>
          <a:prstGeom prst="roundRect">
            <a:avLst>
              <a:gd name="adj" fmla="val 13798"/>
            </a:avLst>
          </a:prstGeom>
          <a:solidFill>
            <a:srgbClr val="FFFFFF"/>
          </a:solidFill>
          <a:ln w="6350">
            <a:solidFill>
              <a:srgbClr val="FFFFFF"/>
            </a:solidFill>
            <a:prstDash val="solid"/>
          </a:ln>
        </p:spPr>
      </p:sp>
      <p:pic>
        <p:nvPicPr>
          <p:cNvPr id="29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676013" y="5166614"/>
            <a:ext cx="457200" cy="457200"/>
          </a:xfrm>
          <a:prstGeom prst="rect">
            <a:avLst/>
          </a:prstGeom>
        </p:spPr>
      </p:pic>
      <p:sp>
        <p:nvSpPr>
          <p:cNvPr id="30" name="Text 24"/>
          <p:cNvSpPr txBox="1"/>
          <p:nvPr/>
        </p:nvSpPr>
        <p:spPr>
          <a:xfrm>
            <a:off x="4170578" y="5642102"/>
            <a:ext cx="1468069" cy="23774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Apple Maps</a:t>
            </a:r>
            <a:endParaRPr lang="en-US" sz="1250" dirty="0"/>
          </a:p>
        </p:txBody>
      </p:sp>
      <p:sp>
        <p:nvSpPr>
          <p:cNvPr id="31" name="Text 25"/>
          <p:cNvSpPr txBox="1"/>
          <p:nvPr/>
        </p:nvSpPr>
        <p:spPr>
          <a:xfrm>
            <a:off x="4170578" y="5879846"/>
            <a:ext cx="1468069" cy="1828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700" b="1" spc="100" kern="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OFFICIAL PARTNER</a:t>
            </a:r>
            <a:endParaRPr lang="en-US" sz="700" dirty="0"/>
          </a:p>
        </p:txBody>
      </p:sp>
      <p:sp>
        <p:nvSpPr>
          <p:cNvPr id="32" name="Shape 26"/>
          <p:cNvSpPr/>
          <p:nvPr/>
        </p:nvSpPr>
        <p:spPr>
          <a:xfrm>
            <a:off x="6233008" y="4051046"/>
            <a:ext cx="5410048" cy="900557"/>
          </a:xfrm>
          <a:prstGeom prst="roundRect">
            <a:avLst>
              <a:gd name="adj" fmla="val 12184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33" name="Shape 27"/>
          <p:cNvSpPr/>
          <p:nvPr/>
        </p:nvSpPr>
        <p:spPr>
          <a:xfrm>
            <a:off x="6507328" y="4249865"/>
            <a:ext cx="502920" cy="502920"/>
          </a:xfrm>
          <a:prstGeom prst="ellipse">
            <a:avLst/>
          </a:prstGeom>
          <a:solidFill>
            <a:srgbClr val="DD5F13"/>
          </a:solidFill>
          <a:ln w="12700">
            <a:solidFill>
              <a:srgbClr val="DD5F13"/>
            </a:solidFill>
            <a:prstDash val="solid"/>
          </a:ln>
        </p:spPr>
      </p:sp>
      <p:pic>
        <p:nvPicPr>
          <p:cNvPr id="34" name="Image 4" descr="preencoded.png">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643116" y="4385653"/>
            <a:ext cx="231343" cy="231343"/>
          </a:xfrm>
          <a:prstGeom prst="rect">
            <a:avLst/>
          </a:prstGeom>
        </p:spPr>
      </p:pic>
      <p:sp>
        <p:nvSpPr>
          <p:cNvPr id="35" name="Text 28"/>
          <p:cNvSpPr txBox="1"/>
          <p:nvPr/>
        </p:nvSpPr>
        <p:spPr>
          <a:xfrm>
            <a:off x="7193128" y="4188206"/>
            <a:ext cx="4221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Best results of any Weedmaps advertiser</a:t>
            </a:r>
            <a:endParaRPr lang="en-US" sz="1350" dirty="0"/>
          </a:p>
        </p:txBody>
      </p:sp>
      <p:sp>
        <p:nvSpPr>
          <p:cNvPr id="36" name="Text 29"/>
          <p:cNvSpPr txBox="1"/>
          <p:nvPr/>
        </p:nvSpPr>
        <p:spPr>
          <a:xfrm>
            <a:off x="7193128" y="4462526"/>
            <a:ext cx="4221328" cy="39763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Sparks clients out-convert every other advertiser on the platform: 88% more orders in 90 days, $17 back per ad dollar.</a:t>
            </a:r>
            <a:endParaRPr lang="en-US" sz="1100" dirty="0"/>
          </a:p>
        </p:txBody>
      </p:sp>
      <p:sp>
        <p:nvSpPr>
          <p:cNvPr id="37" name="Shape 30"/>
          <p:cNvSpPr/>
          <p:nvPr/>
        </p:nvSpPr>
        <p:spPr>
          <a:xfrm>
            <a:off x="6233008" y="5225923"/>
            <a:ext cx="5410048" cy="900557"/>
          </a:xfrm>
          <a:prstGeom prst="roundRect">
            <a:avLst>
              <a:gd name="adj" fmla="val 12184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38" name="Shape 31"/>
          <p:cNvSpPr/>
          <p:nvPr/>
        </p:nvSpPr>
        <p:spPr>
          <a:xfrm>
            <a:off x="6507328" y="5424742"/>
            <a:ext cx="502920" cy="502920"/>
          </a:xfrm>
          <a:prstGeom prst="ellipse">
            <a:avLst/>
          </a:prstGeom>
          <a:solidFill>
            <a:srgbClr val="DD5F13"/>
          </a:solidFill>
          <a:ln w="12700">
            <a:solidFill>
              <a:srgbClr val="DD5F13"/>
            </a:solidFill>
            <a:prstDash val="solid"/>
          </a:ln>
        </p:spPr>
      </p:sp>
      <p:pic>
        <p:nvPicPr>
          <p:cNvPr id="39" name="Image 5" descr="preencoded.png">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643116" y="5560530"/>
            <a:ext cx="231343" cy="231343"/>
          </a:xfrm>
          <a:prstGeom prst="rect">
            <a:avLst/>
          </a:prstGeom>
        </p:spPr>
      </p:pic>
      <p:sp>
        <p:nvSpPr>
          <p:cNvPr id="40" name="Text 32"/>
          <p:cNvSpPr txBox="1"/>
          <p:nvPr/>
        </p:nvSpPr>
        <p:spPr>
          <a:xfrm>
            <a:off x="7193128" y="5363083"/>
            <a:ext cx="422132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POS-integrated attribution</a:t>
            </a:r>
            <a:endParaRPr lang="en-US" sz="1350" dirty="0"/>
          </a:p>
        </p:txBody>
      </p:sp>
      <p:sp>
        <p:nvSpPr>
          <p:cNvPr id="41" name="Text 33"/>
          <p:cNvSpPr txBox="1"/>
          <p:nvPr/>
        </p:nvSpPr>
        <p:spPr>
          <a:xfrm>
            <a:off x="7193128" y="5637403"/>
            <a:ext cx="4221328" cy="397637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Treez, Dutchie and other POS data joined with spend and platform metrics — you see which platform, campaign and deal drove revenue.</a:t>
            </a:r>
            <a:endParaRPr lang="en-US" sz="11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4465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sparkscann.com</a:t>
            </a:r>
            <a:endParaRPr lang="en-US" sz="1000" dirty="0"/>
          </a:p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05311" y="6355080"/>
            <a:ext cx="237744" cy="31210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0362895" y="644652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0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5029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WEEDMAPS MANAGEMENT  ·  AUDIT</a:t>
            </a:r>
            <a:endParaRPr lang="en-US" sz="11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832104"/>
            <a:ext cx="11094415" cy="472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DD5F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we found on Green Valley Dispensary's Weedmaps listings</a:t>
            </a:r>
            <a:endParaRPr lang="en-US" sz="24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1395984"/>
            <a:ext cx="1109441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Every row is revenue currently left on the table.</a:t>
            </a:r>
            <a:endParaRPr lang="en-US" sz="15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2017776"/>
          <a:ext cx="11094415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4663440"/>
                <a:gridCol w="4325112"/>
              </a:tblGrid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Listing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54864" marB="54864" anchor="ctr">
                    <a:lnL w="9525" cap="flat" cmpd="sng" algn="ctr">
                      <a:solidFill>
                        <a:srgbClr val="E6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5F1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we found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54864" marB="54864" anchor="ctr">
                    <a:lnL w="9525" cap="flat" cmpd="sng" algn="ctr">
                      <a:solidFill>
                        <a:srgbClr val="E6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5F13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3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What it's costing you</a:t>
                      </a:r>
                      <a:endParaRPr lang="en-US" sz="13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54864" marB="54864" anchor="ctr">
                    <a:lnL w="9525" cap="flat" cmpd="sng" algn="ctr">
                      <a:solidFill>
                        <a:srgbClr val="E6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DD5F13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b="1" dirty="0">
                          <a:solidFill>
                            <a:srgbClr val="DD5F13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Weedmaps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54864" marB="54864" anchor="ctr">
                    <a:lnL w="9525" cap="flat" cmpd="sng" algn="ctr">
                      <a:solidFill>
                        <a:srgbClr val="E6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3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Listing live but no paid placement; 40% of menu unverified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54864" marB="54864" anchor="ctr">
                    <a:lnL w="9525" cap="flat" cmpd="sng" algn="ctr">
                      <a:solidFill>
                        <a:srgbClr val="E6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3E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200" dirty="0">
                          <a:solidFill>
                            <a:srgbClr val="222222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Buried below 6 competitors in the service zone</a:t>
                      </a:r>
                      <a:endParaRPr lang="en-US" sz="12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37160" marR="137160" marT="54864" marB="54864" anchor="ctr">
                    <a:lnL w="9525" cap="flat" cmpd="sng" algn="ctr">
                      <a:solidFill>
                        <a:srgbClr val="E6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E6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E6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E6DED7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8F3EF"/>
                    </a:solidFill>
                  </a:tcPr>
                </a:tc>
              </a:tr>
            </a:tbl>
          </a:graphicData>
        </a:graphic>
      </p:graphicFrame>
      <p:sp>
        <p:nvSpPr>
          <p:cNvPr id="9" name="Shape 5"/>
          <p:cNvSpPr/>
          <p:nvPr/>
        </p:nvSpPr>
        <p:spPr>
          <a:xfrm>
            <a:off x="548640" y="3435096"/>
            <a:ext cx="11094415" cy="1097280"/>
          </a:xfrm>
          <a:prstGeom prst="roundRect">
            <a:avLst>
              <a:gd name="adj" fmla="val 10000"/>
            </a:avLst>
          </a:prstGeom>
          <a:solidFill>
            <a:srgbClr val="DD5F13"/>
          </a:solidFill>
          <a:ln w="6350">
            <a:solidFill>
              <a:srgbClr val="DD5F13"/>
            </a:solidFill>
            <a:prstDash val="solid"/>
          </a:ln>
        </p:spPr>
      </p:sp>
      <p:sp>
        <p:nvSpPr>
          <p:cNvPr id="10" name="Text 6"/>
          <p:cNvSpPr txBox="1"/>
          <p:nvPr/>
        </p:nvSpPr>
        <p:spPr>
          <a:xfrm>
            <a:off x="868680" y="3617976"/>
            <a:ext cx="45720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 gap on Weedmaps</a:t>
            </a:r>
            <a:endParaRPr lang="en-US" sz="1800" dirty="0"/>
          </a:p>
        </p:txBody>
      </p:sp>
      <p:sp>
        <p:nvSpPr>
          <p:cNvPr id="11" name="Text 7"/>
          <p:cNvSpPr txBox="1"/>
          <p:nvPr/>
        </p:nvSpPr>
        <p:spPr>
          <a:xfrm>
            <a:off x="868680" y="4002024"/>
            <a:ext cx="104543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Each one maps to a line on the next slide. All of them are fixed inside the first 30 days of the launch plan.</a:t>
            </a:r>
            <a:endParaRPr lang="en-US" sz="125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4465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sparkscann.com</a:t>
            </a:r>
            <a:endParaRPr lang="en-US" sz="1000" dirty="0"/>
          </a:p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05311" y="6355080"/>
            <a:ext cx="237744" cy="31210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0362895" y="644652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0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5029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WEEDMAPS MANAGEMENT  ·  SCOPE</a:t>
            </a:r>
            <a:endParaRPr lang="en-US" sz="11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832104"/>
            <a:ext cx="11094415" cy="8534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400" b="1" dirty="0">
                <a:solidFill>
                  <a:srgbClr val="DD5F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What Sparks will manage on Weedmaps for Green Valley Dispensary</a:t>
            </a:r>
            <a:endParaRPr lang="en-US" sz="24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1776984"/>
            <a:ext cx="11094415" cy="603504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Scoped for this proposal: Bid strategy for top-3 placement in zone, full menu verification, weekly deal rotation, review responses, weekly reporting.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548640" y="2654808"/>
            <a:ext cx="5410048" cy="765048"/>
          </a:xfrm>
          <a:prstGeom prst="roundRect">
            <a:avLst>
              <a:gd name="adj" fmla="val 14343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777240" y="2845308"/>
            <a:ext cx="384048" cy="384048"/>
          </a:xfrm>
          <a:prstGeom prst="ellipse">
            <a:avLst/>
          </a:prstGeom>
          <a:solidFill>
            <a:srgbClr val="DD5F13"/>
          </a:solidFill>
          <a:ln w="12700">
            <a:solidFill>
              <a:srgbClr val="DD5F13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777240" y="28453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300" dirty="0"/>
          </a:p>
        </p:txBody>
      </p:sp>
      <p:sp>
        <p:nvSpPr>
          <p:cNvPr id="11" name="Text 8"/>
          <p:cNvSpPr txBox="1"/>
          <p:nvPr/>
        </p:nvSpPr>
        <p:spPr>
          <a:xfrm>
            <a:off x="1325880" y="2746248"/>
            <a:ext cx="44042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Bid &amp; budget strategy</a:t>
            </a:r>
            <a:endParaRPr lang="en-US" sz="1350" dirty="0"/>
          </a:p>
        </p:txBody>
      </p:sp>
      <p:sp>
        <p:nvSpPr>
          <p:cNvPr id="12" name="Text 9"/>
          <p:cNvSpPr txBox="1"/>
          <p:nvPr/>
        </p:nvSpPr>
        <p:spPr>
          <a:xfrm>
            <a:off x="1325880" y="3020568"/>
            <a:ext cx="4404208" cy="353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 budget pacing and bid management for top placement in every service zone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6233008" y="2654808"/>
            <a:ext cx="5410048" cy="765048"/>
          </a:xfrm>
          <a:prstGeom prst="roundRect">
            <a:avLst>
              <a:gd name="adj" fmla="val 14343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14" name="Shape 11"/>
          <p:cNvSpPr/>
          <p:nvPr/>
        </p:nvSpPr>
        <p:spPr>
          <a:xfrm>
            <a:off x="6461608" y="2845308"/>
            <a:ext cx="384048" cy="384048"/>
          </a:xfrm>
          <a:prstGeom prst="ellipse">
            <a:avLst/>
          </a:prstGeom>
          <a:solidFill>
            <a:srgbClr val="DD5F13"/>
          </a:solidFill>
          <a:ln w="12700">
            <a:solidFill>
              <a:srgbClr val="DD5F13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6461608" y="2845308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300" dirty="0"/>
          </a:p>
        </p:txBody>
      </p:sp>
      <p:sp>
        <p:nvSpPr>
          <p:cNvPr id="16" name="Text 13"/>
          <p:cNvSpPr txBox="1"/>
          <p:nvPr/>
        </p:nvSpPr>
        <p:spPr>
          <a:xfrm>
            <a:off x="7010248" y="2746248"/>
            <a:ext cx="44042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Listing optimization</a:t>
            </a:r>
            <a:endParaRPr lang="en-US" sz="1350" dirty="0"/>
          </a:p>
        </p:txBody>
      </p:sp>
      <p:sp>
        <p:nvSpPr>
          <p:cNvPr id="17" name="Text 14"/>
          <p:cNvSpPr txBox="1"/>
          <p:nvPr/>
        </p:nvSpPr>
        <p:spPr>
          <a:xfrm>
            <a:off x="7010248" y="3020568"/>
            <a:ext cx="4404208" cy="353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Hours, photos, attributes, description, and Q&amp;A kept accurate and conversion-ready</a:t>
            </a:r>
            <a:endParaRPr lang="en-US" sz="1150" dirty="0"/>
          </a:p>
        </p:txBody>
      </p:sp>
      <p:sp>
        <p:nvSpPr>
          <p:cNvPr id="18" name="Shape 15"/>
          <p:cNvSpPr/>
          <p:nvPr/>
        </p:nvSpPr>
        <p:spPr>
          <a:xfrm>
            <a:off x="548640" y="3557016"/>
            <a:ext cx="5410048" cy="765048"/>
          </a:xfrm>
          <a:prstGeom prst="roundRect">
            <a:avLst>
              <a:gd name="adj" fmla="val 14343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19" name="Shape 16"/>
          <p:cNvSpPr/>
          <p:nvPr/>
        </p:nvSpPr>
        <p:spPr>
          <a:xfrm>
            <a:off x="777240" y="3747516"/>
            <a:ext cx="384048" cy="384048"/>
          </a:xfrm>
          <a:prstGeom prst="ellipse">
            <a:avLst/>
          </a:prstGeom>
          <a:solidFill>
            <a:srgbClr val="DD5F13"/>
          </a:solidFill>
          <a:ln w="12700">
            <a:solidFill>
              <a:srgbClr val="DD5F13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777240" y="37475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300" dirty="0"/>
          </a:p>
        </p:txBody>
      </p:sp>
      <p:sp>
        <p:nvSpPr>
          <p:cNvPr id="21" name="Text 18"/>
          <p:cNvSpPr txBox="1"/>
          <p:nvPr/>
        </p:nvSpPr>
        <p:spPr>
          <a:xfrm>
            <a:off x="1325880" y="3648456"/>
            <a:ext cx="44042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Menu &amp; product verification</a:t>
            </a:r>
            <a:endParaRPr lang="en-US" sz="1350" dirty="0"/>
          </a:p>
        </p:txBody>
      </p:sp>
      <p:sp>
        <p:nvSpPr>
          <p:cNvPr id="22" name="Text 19"/>
          <p:cNvSpPr txBox="1"/>
          <p:nvPr/>
        </p:nvSpPr>
        <p:spPr>
          <a:xfrm>
            <a:off x="1325880" y="3922776"/>
            <a:ext cx="4404208" cy="353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Menu management synced with your POS; every product verified</a:t>
            </a:r>
            <a:endParaRPr lang="en-US" sz="1150" dirty="0"/>
          </a:p>
        </p:txBody>
      </p:sp>
      <p:sp>
        <p:nvSpPr>
          <p:cNvPr id="23" name="Shape 20"/>
          <p:cNvSpPr/>
          <p:nvPr/>
        </p:nvSpPr>
        <p:spPr>
          <a:xfrm>
            <a:off x="6233008" y="3557016"/>
            <a:ext cx="5410048" cy="765048"/>
          </a:xfrm>
          <a:prstGeom prst="roundRect">
            <a:avLst>
              <a:gd name="adj" fmla="val 14343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24" name="Shape 21"/>
          <p:cNvSpPr/>
          <p:nvPr/>
        </p:nvSpPr>
        <p:spPr>
          <a:xfrm>
            <a:off x="6461608" y="3747516"/>
            <a:ext cx="384048" cy="384048"/>
          </a:xfrm>
          <a:prstGeom prst="ellipse">
            <a:avLst/>
          </a:prstGeom>
          <a:solidFill>
            <a:srgbClr val="DD5F13"/>
          </a:solidFill>
          <a:ln w="12700">
            <a:solidFill>
              <a:srgbClr val="DD5F13"/>
            </a:solidFill>
            <a:prstDash val="solid"/>
          </a:ln>
        </p:spPr>
      </p:sp>
      <p:sp>
        <p:nvSpPr>
          <p:cNvPr id="25" name="Text 22"/>
          <p:cNvSpPr txBox="1"/>
          <p:nvPr/>
        </p:nvSpPr>
        <p:spPr>
          <a:xfrm>
            <a:off x="6461608" y="3747516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4</a:t>
            </a:r>
            <a:endParaRPr lang="en-US" sz="1300" dirty="0"/>
          </a:p>
        </p:txBody>
      </p:sp>
      <p:sp>
        <p:nvSpPr>
          <p:cNvPr id="26" name="Text 23"/>
          <p:cNvSpPr txBox="1"/>
          <p:nvPr/>
        </p:nvSpPr>
        <p:spPr>
          <a:xfrm>
            <a:off x="7010248" y="3648456"/>
            <a:ext cx="44042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Deals &amp; promotions</a:t>
            </a:r>
            <a:endParaRPr lang="en-US" sz="1350" dirty="0"/>
          </a:p>
        </p:txBody>
      </p:sp>
      <p:sp>
        <p:nvSpPr>
          <p:cNvPr id="27" name="Text 24"/>
          <p:cNvSpPr txBox="1"/>
          <p:nvPr/>
        </p:nvSpPr>
        <p:spPr>
          <a:xfrm>
            <a:off x="7010248" y="3922776"/>
            <a:ext cx="4404208" cy="353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Daily and monthly deal activations, BOGOs, and featured products</a:t>
            </a:r>
            <a:endParaRPr lang="en-US" sz="1150" dirty="0"/>
          </a:p>
        </p:txBody>
      </p:sp>
      <p:sp>
        <p:nvSpPr>
          <p:cNvPr id="28" name="Shape 25"/>
          <p:cNvSpPr/>
          <p:nvPr/>
        </p:nvSpPr>
        <p:spPr>
          <a:xfrm>
            <a:off x="548640" y="4459224"/>
            <a:ext cx="5410048" cy="765048"/>
          </a:xfrm>
          <a:prstGeom prst="roundRect">
            <a:avLst>
              <a:gd name="adj" fmla="val 14343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29" name="Shape 26"/>
          <p:cNvSpPr/>
          <p:nvPr/>
        </p:nvSpPr>
        <p:spPr>
          <a:xfrm>
            <a:off x="777240" y="4649724"/>
            <a:ext cx="384048" cy="384048"/>
          </a:xfrm>
          <a:prstGeom prst="ellipse">
            <a:avLst/>
          </a:prstGeom>
          <a:solidFill>
            <a:srgbClr val="DD5F13"/>
          </a:solidFill>
          <a:ln w="12700">
            <a:solidFill>
              <a:srgbClr val="DD5F13"/>
            </a:solidFill>
            <a:prstDash val="solid"/>
          </a:ln>
        </p:spPr>
      </p:sp>
      <p:sp>
        <p:nvSpPr>
          <p:cNvPr id="30" name="Text 27"/>
          <p:cNvSpPr txBox="1"/>
          <p:nvPr/>
        </p:nvSpPr>
        <p:spPr>
          <a:xfrm>
            <a:off x="777240" y="46497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5</a:t>
            </a:r>
            <a:endParaRPr lang="en-US" sz="1300" dirty="0"/>
          </a:p>
        </p:txBody>
      </p:sp>
      <p:sp>
        <p:nvSpPr>
          <p:cNvPr id="31" name="Text 28"/>
          <p:cNvSpPr txBox="1"/>
          <p:nvPr/>
        </p:nvSpPr>
        <p:spPr>
          <a:xfrm>
            <a:off x="1325880" y="4550664"/>
            <a:ext cx="44042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In-house graphics</a:t>
            </a:r>
            <a:endParaRPr lang="en-US" sz="1350" dirty="0"/>
          </a:p>
        </p:txBody>
      </p:sp>
      <p:sp>
        <p:nvSpPr>
          <p:cNvPr id="32" name="Text 29"/>
          <p:cNvSpPr txBox="1"/>
          <p:nvPr/>
        </p:nvSpPr>
        <p:spPr>
          <a:xfrm>
            <a:off x="1325880" y="4824984"/>
            <a:ext cx="4404208" cy="353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Headers, deal tiles, and product imagery designed for every ad format</a:t>
            </a:r>
            <a:endParaRPr lang="en-US" sz="1150" dirty="0"/>
          </a:p>
        </p:txBody>
      </p:sp>
      <p:sp>
        <p:nvSpPr>
          <p:cNvPr id="33" name="Shape 30"/>
          <p:cNvSpPr/>
          <p:nvPr/>
        </p:nvSpPr>
        <p:spPr>
          <a:xfrm>
            <a:off x="6233008" y="4459224"/>
            <a:ext cx="5410048" cy="765048"/>
          </a:xfrm>
          <a:prstGeom prst="roundRect">
            <a:avLst>
              <a:gd name="adj" fmla="val 14343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34" name="Shape 31"/>
          <p:cNvSpPr/>
          <p:nvPr/>
        </p:nvSpPr>
        <p:spPr>
          <a:xfrm>
            <a:off x="6461608" y="4649724"/>
            <a:ext cx="384048" cy="384048"/>
          </a:xfrm>
          <a:prstGeom prst="ellipse">
            <a:avLst/>
          </a:prstGeom>
          <a:solidFill>
            <a:srgbClr val="DD5F13"/>
          </a:solidFill>
          <a:ln w="12700">
            <a:solidFill>
              <a:srgbClr val="DD5F13"/>
            </a:solidFill>
            <a:prstDash val="solid"/>
          </a:ln>
        </p:spPr>
      </p:sp>
      <p:sp>
        <p:nvSpPr>
          <p:cNvPr id="35" name="Text 32"/>
          <p:cNvSpPr txBox="1"/>
          <p:nvPr/>
        </p:nvSpPr>
        <p:spPr>
          <a:xfrm>
            <a:off x="6461608" y="4649724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6</a:t>
            </a:r>
            <a:endParaRPr lang="en-US" sz="1300" dirty="0"/>
          </a:p>
        </p:txBody>
      </p:sp>
      <p:sp>
        <p:nvSpPr>
          <p:cNvPr id="36" name="Text 33"/>
          <p:cNvSpPr txBox="1"/>
          <p:nvPr/>
        </p:nvSpPr>
        <p:spPr>
          <a:xfrm>
            <a:off x="7010248" y="4550664"/>
            <a:ext cx="44042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management</a:t>
            </a:r>
            <a:endParaRPr lang="en-US" sz="1350" dirty="0"/>
          </a:p>
        </p:txBody>
      </p:sp>
      <p:sp>
        <p:nvSpPr>
          <p:cNvPr id="37" name="Text 34"/>
          <p:cNvSpPr txBox="1"/>
          <p:nvPr/>
        </p:nvSpPr>
        <p:spPr>
          <a:xfrm>
            <a:off x="7010248" y="4824984"/>
            <a:ext cx="4404208" cy="353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Same-day responses and removal requests for policy-breaking reviews</a:t>
            </a:r>
            <a:endParaRPr lang="en-US" sz="1150" dirty="0"/>
          </a:p>
        </p:txBody>
      </p:sp>
      <p:sp>
        <p:nvSpPr>
          <p:cNvPr id="38" name="Shape 35"/>
          <p:cNvSpPr/>
          <p:nvPr/>
        </p:nvSpPr>
        <p:spPr>
          <a:xfrm>
            <a:off x="548640" y="5361432"/>
            <a:ext cx="5410048" cy="765048"/>
          </a:xfrm>
          <a:prstGeom prst="roundRect">
            <a:avLst>
              <a:gd name="adj" fmla="val 14343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39" name="Shape 36"/>
          <p:cNvSpPr/>
          <p:nvPr/>
        </p:nvSpPr>
        <p:spPr>
          <a:xfrm>
            <a:off x="777240" y="5551932"/>
            <a:ext cx="384048" cy="384048"/>
          </a:xfrm>
          <a:prstGeom prst="ellipse">
            <a:avLst/>
          </a:prstGeom>
          <a:solidFill>
            <a:srgbClr val="DD5F13"/>
          </a:solidFill>
          <a:ln w="12700">
            <a:solidFill>
              <a:srgbClr val="DD5F13"/>
            </a:solidFill>
            <a:prstDash val="solid"/>
          </a:ln>
        </p:spPr>
      </p:sp>
      <p:sp>
        <p:nvSpPr>
          <p:cNvPr id="40" name="Text 37"/>
          <p:cNvSpPr txBox="1"/>
          <p:nvPr/>
        </p:nvSpPr>
        <p:spPr>
          <a:xfrm>
            <a:off x="777240" y="55519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7</a:t>
            </a:r>
            <a:endParaRPr lang="en-US" sz="1300" dirty="0"/>
          </a:p>
        </p:txBody>
      </p:sp>
      <p:sp>
        <p:nvSpPr>
          <p:cNvPr id="41" name="Text 38"/>
          <p:cNvSpPr txBox="1"/>
          <p:nvPr/>
        </p:nvSpPr>
        <p:spPr>
          <a:xfrm>
            <a:off x="1325880" y="5452872"/>
            <a:ext cx="44042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Brand page management</a:t>
            </a:r>
            <a:endParaRPr lang="en-US" sz="1350" dirty="0"/>
          </a:p>
        </p:txBody>
      </p:sp>
      <p:sp>
        <p:nvSpPr>
          <p:cNvPr id="42" name="Text 39"/>
          <p:cNvSpPr txBox="1"/>
          <p:nvPr/>
        </p:nvSpPr>
        <p:spPr>
          <a:xfrm>
            <a:off x="1325880" y="5727192"/>
            <a:ext cx="4404208" cy="353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Brand page, retailer map, and product catalog for retailers who also own a brand</a:t>
            </a:r>
            <a:endParaRPr lang="en-US" sz="1150" dirty="0"/>
          </a:p>
        </p:txBody>
      </p:sp>
      <p:sp>
        <p:nvSpPr>
          <p:cNvPr id="43" name="Shape 40"/>
          <p:cNvSpPr/>
          <p:nvPr/>
        </p:nvSpPr>
        <p:spPr>
          <a:xfrm>
            <a:off x="6233008" y="5361432"/>
            <a:ext cx="5410048" cy="765048"/>
          </a:xfrm>
          <a:prstGeom prst="roundRect">
            <a:avLst>
              <a:gd name="adj" fmla="val 14343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44" name="Shape 41"/>
          <p:cNvSpPr/>
          <p:nvPr/>
        </p:nvSpPr>
        <p:spPr>
          <a:xfrm>
            <a:off x="6461608" y="5551932"/>
            <a:ext cx="384048" cy="384048"/>
          </a:xfrm>
          <a:prstGeom prst="ellipse">
            <a:avLst/>
          </a:prstGeom>
          <a:solidFill>
            <a:srgbClr val="DD5F13"/>
          </a:solidFill>
          <a:ln w="12700">
            <a:solidFill>
              <a:srgbClr val="DD5F13"/>
            </a:solidFill>
            <a:prstDash val="solid"/>
          </a:ln>
        </p:spPr>
      </p:sp>
      <p:sp>
        <p:nvSpPr>
          <p:cNvPr id="45" name="Text 42"/>
          <p:cNvSpPr txBox="1"/>
          <p:nvPr/>
        </p:nvSpPr>
        <p:spPr>
          <a:xfrm>
            <a:off x="6461608" y="5551932"/>
            <a:ext cx="384048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3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</a:t>
            </a:r>
            <a:endParaRPr lang="en-US" sz="1300" dirty="0"/>
          </a:p>
        </p:txBody>
      </p:sp>
      <p:sp>
        <p:nvSpPr>
          <p:cNvPr id="46" name="Text 43"/>
          <p:cNvSpPr txBox="1"/>
          <p:nvPr/>
        </p:nvSpPr>
        <p:spPr>
          <a:xfrm>
            <a:off x="7010248" y="5452872"/>
            <a:ext cx="4404208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5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Weekly reporting</a:t>
            </a:r>
            <a:endParaRPr lang="en-US" sz="1350" dirty="0"/>
          </a:p>
        </p:txBody>
      </p:sp>
      <p:sp>
        <p:nvSpPr>
          <p:cNvPr id="47" name="Text 44"/>
          <p:cNvSpPr txBox="1"/>
          <p:nvPr/>
        </p:nvSpPr>
        <p:spPr>
          <a:xfrm>
            <a:off x="7010248" y="5727192"/>
            <a:ext cx="4404208" cy="35356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Performance reporting with POS-attributed revenue and ROAS</a:t>
            </a:r>
            <a:endParaRPr lang="en-US" sz="115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DD5F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292608"/>
            <a:ext cx="11094415" cy="0"/>
          </a:xfrm>
          <a:prstGeom prst="line">
            <a:avLst/>
          </a:prstGeom>
          <a:noFill/>
          <a:ln w="12700">
            <a:solidFill>
              <a:srgbClr val="FFFF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48640" y="6291072"/>
            <a:ext cx="11094415" cy="0"/>
          </a:xfrm>
          <a:prstGeom prst="line">
            <a:avLst/>
          </a:prstGeom>
          <a:noFill/>
          <a:ln w="12700">
            <a:solidFill>
              <a:srgbClr val="FFFFFF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64465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sparkscann.com</a:t>
            </a:r>
            <a:endParaRPr lang="en-US" sz="10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05311" y="6355080"/>
            <a:ext cx="237744" cy="31210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0362895" y="644652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7</a:t>
            </a:r>
            <a:endParaRPr lang="en-US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5029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WEEDMAPS MANAGEMENT  ·  RESULTS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832104"/>
            <a:ext cx="11094415" cy="6311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The results Sparks clients see</a:t>
            </a:r>
            <a:endParaRPr lang="en-US" sz="3400" dirty="0"/>
          </a:p>
        </p:txBody>
      </p:sp>
      <p:sp>
        <p:nvSpPr>
          <p:cNvPr id="9" name="Text 6"/>
          <p:cNvSpPr txBox="1"/>
          <p:nvPr/>
        </p:nvSpPr>
        <p:spPr>
          <a:xfrm>
            <a:off x="548640" y="1554734"/>
            <a:ext cx="1109441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Averages across Sparks-managed accounts.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548640" y="2331720"/>
            <a:ext cx="2567864" cy="2926080"/>
          </a:xfrm>
          <a:prstGeom prst="roundRect">
            <a:avLst>
              <a:gd name="adj" fmla="val 4273"/>
            </a:avLst>
          </a:prstGeom>
          <a:solidFill>
            <a:srgbClr val="B84C0C"/>
          </a:solidFill>
          <a:ln w="6350">
            <a:solidFill>
              <a:srgbClr val="B84C0C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822960" y="2560320"/>
            <a:ext cx="220210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88%</a:t>
            </a:r>
            <a:endParaRPr lang="en-US" sz="4800" dirty="0"/>
          </a:p>
        </p:txBody>
      </p:sp>
      <p:sp>
        <p:nvSpPr>
          <p:cNvPr id="12" name="Text 9"/>
          <p:cNvSpPr txBox="1"/>
          <p:nvPr/>
        </p:nvSpPr>
        <p:spPr>
          <a:xfrm>
            <a:off x="822960" y="3840480"/>
            <a:ext cx="201922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avg. increase in order conversions in the first 90 days</a:t>
            </a:r>
            <a:endParaRPr lang="en-US" sz="1400" dirty="0"/>
          </a:p>
        </p:txBody>
      </p:sp>
      <p:sp>
        <p:nvSpPr>
          <p:cNvPr id="13" name="Shape 10"/>
          <p:cNvSpPr/>
          <p:nvPr/>
        </p:nvSpPr>
        <p:spPr>
          <a:xfrm>
            <a:off x="3390824" y="2331720"/>
            <a:ext cx="2567864" cy="2926080"/>
          </a:xfrm>
          <a:prstGeom prst="roundRect">
            <a:avLst>
              <a:gd name="adj" fmla="val 4273"/>
            </a:avLst>
          </a:prstGeom>
          <a:solidFill>
            <a:srgbClr val="B84C0C"/>
          </a:solidFill>
          <a:ln w="6350">
            <a:solidFill>
              <a:srgbClr val="B84C0C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3665144" y="2560320"/>
            <a:ext cx="220210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$17</a:t>
            </a:r>
            <a:endParaRPr lang="en-US" sz="4800" dirty="0"/>
          </a:p>
        </p:txBody>
      </p:sp>
      <p:sp>
        <p:nvSpPr>
          <p:cNvPr id="15" name="Text 12"/>
          <p:cNvSpPr txBox="1"/>
          <p:nvPr/>
        </p:nvSpPr>
        <p:spPr>
          <a:xfrm>
            <a:off x="3665144" y="3840480"/>
            <a:ext cx="201922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avg. return on every $1 of Weedmaps ad spend</a:t>
            </a:r>
            <a:endParaRPr lang="en-US" sz="1400" dirty="0"/>
          </a:p>
        </p:txBody>
      </p:sp>
      <p:sp>
        <p:nvSpPr>
          <p:cNvPr id="16" name="Shape 13"/>
          <p:cNvSpPr/>
          <p:nvPr/>
        </p:nvSpPr>
        <p:spPr>
          <a:xfrm>
            <a:off x="6233008" y="2331720"/>
            <a:ext cx="2567864" cy="2926080"/>
          </a:xfrm>
          <a:prstGeom prst="roundRect">
            <a:avLst>
              <a:gd name="adj" fmla="val 4273"/>
            </a:avLst>
          </a:prstGeom>
          <a:solidFill>
            <a:srgbClr val="B84C0C"/>
          </a:solidFill>
          <a:ln w="6350">
            <a:solidFill>
              <a:srgbClr val="B84C0C"/>
            </a:solidFill>
            <a:prstDash val="solid"/>
          </a:ln>
        </p:spPr>
      </p:sp>
      <p:sp>
        <p:nvSpPr>
          <p:cNvPr id="17" name="Text 14"/>
          <p:cNvSpPr txBox="1"/>
          <p:nvPr/>
        </p:nvSpPr>
        <p:spPr>
          <a:xfrm>
            <a:off x="6507328" y="2560320"/>
            <a:ext cx="220210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25%</a:t>
            </a:r>
            <a:endParaRPr lang="en-US" sz="4800" dirty="0"/>
          </a:p>
        </p:txBody>
      </p:sp>
      <p:sp>
        <p:nvSpPr>
          <p:cNvPr id="18" name="Text 15"/>
          <p:cNvSpPr txBox="1"/>
          <p:nvPr/>
        </p:nvSpPr>
        <p:spPr>
          <a:xfrm>
            <a:off x="6507328" y="3840480"/>
            <a:ext cx="201922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higher average order value than non-managed accounts</a:t>
            </a:r>
            <a:endParaRPr lang="en-US" sz="1400" dirty="0"/>
          </a:p>
        </p:txBody>
      </p:sp>
      <p:sp>
        <p:nvSpPr>
          <p:cNvPr id="19" name="Shape 16"/>
          <p:cNvSpPr/>
          <p:nvPr/>
        </p:nvSpPr>
        <p:spPr>
          <a:xfrm>
            <a:off x="9075191" y="2331720"/>
            <a:ext cx="2567864" cy="2926080"/>
          </a:xfrm>
          <a:prstGeom prst="roundRect">
            <a:avLst>
              <a:gd name="adj" fmla="val 4273"/>
            </a:avLst>
          </a:prstGeom>
          <a:solidFill>
            <a:srgbClr val="B84C0C"/>
          </a:solidFill>
          <a:ln w="6350">
            <a:solidFill>
              <a:srgbClr val="B84C0C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9349511" y="2560320"/>
            <a:ext cx="2202104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100+</a:t>
            </a:r>
            <a:endParaRPr lang="en-US" sz="4800" dirty="0"/>
          </a:p>
        </p:txBody>
      </p:sp>
      <p:sp>
        <p:nvSpPr>
          <p:cNvPr id="21" name="Text 18"/>
          <p:cNvSpPr txBox="1"/>
          <p:nvPr/>
        </p:nvSpPr>
        <p:spPr>
          <a:xfrm>
            <a:off x="9349511" y="3840480"/>
            <a:ext cx="2019224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dispensaries, deliveries &amp; brands managed</a:t>
            </a:r>
            <a:endParaRPr lang="en-US" sz="1400" dirty="0"/>
          </a:p>
        </p:txBody>
      </p:sp>
      <p:sp>
        <p:nvSpPr>
          <p:cNvPr id="22" name="Text 19"/>
          <p:cNvSpPr txBox="1"/>
          <p:nvPr/>
        </p:nvSpPr>
        <p:spPr>
          <a:xfrm>
            <a:off x="548640" y="5532120"/>
            <a:ext cx="1109441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300" i="1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Significant conversion gains typically show within 60–90 days as optimizations compound.</a:t>
            </a:r>
            <a:endParaRPr lang="en-US" sz="13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4465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sparkscann.com</a:t>
            </a:r>
            <a:endParaRPr lang="en-US" sz="1000" dirty="0"/>
          </a:p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05311" y="6355080"/>
            <a:ext cx="237744" cy="31210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0362895" y="644652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8</a:t>
            </a:r>
            <a:endParaRPr lang="en-US" sz="10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5029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WEEDMAPS MANAGEMENT  ·  PROOF</a:t>
            </a:r>
            <a:endParaRPr lang="en-US" sz="11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832104"/>
            <a:ext cx="11094415" cy="6311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DD5F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Weedmaps case studies</a:t>
            </a:r>
            <a:endParaRPr lang="en-US" sz="34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1554734"/>
            <a:ext cx="1109441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full ownership of a listing looks like in practice.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548640" y="2176526"/>
            <a:ext cx="5387188" cy="3949954"/>
          </a:xfrm>
          <a:prstGeom prst="roundRect">
            <a:avLst>
              <a:gd name="adj" fmla="val 2778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868680" y="2450846"/>
            <a:ext cx="47471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Purple Lotus</a:t>
            </a:r>
            <a:endParaRPr lang="en-US" sz="2000" dirty="0"/>
          </a:p>
        </p:txBody>
      </p:sp>
      <p:sp>
        <p:nvSpPr>
          <p:cNvPr id="10" name="Text 7"/>
          <p:cNvSpPr txBox="1"/>
          <p:nvPr/>
        </p:nvSpPr>
        <p:spPr>
          <a:xfrm>
            <a:off x="868680" y="2862326"/>
            <a:ext cx="47471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Dispensary · San Jose, CA</a:t>
            </a:r>
            <a:endParaRPr lang="en-US" sz="1200" dirty="0"/>
          </a:p>
        </p:txBody>
      </p:sp>
      <p:sp>
        <p:nvSpPr>
          <p:cNvPr id="11" name="Text 8"/>
          <p:cNvSpPr txBox="1"/>
          <p:nvPr/>
        </p:nvSpPr>
        <p:spPr>
          <a:xfrm>
            <a:off x="868680" y="3273806"/>
            <a:ext cx="474710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Situation  </a:t>
            </a:r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10+ years on Weedmaps, Leafly and Yelp; hundreds of thousands spent on ads with weak returns.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868680" y="4005326"/>
            <a:ext cx="47471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did  </a:t>
            </a:r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Reorganized ad positions, adjusted pricing and ranks, rebuilt deal strategy, added display ads, verified every product.</a:t>
            </a:r>
            <a:endParaRPr lang="en-US" sz="1200" dirty="0"/>
          </a:p>
        </p:txBody>
      </p:sp>
      <p:sp>
        <p:nvSpPr>
          <p:cNvPr id="13" name="Text 10"/>
          <p:cNvSpPr txBox="1"/>
          <p:nvPr/>
        </p:nvSpPr>
        <p:spPr>
          <a:xfrm>
            <a:off x="868680" y="4800600"/>
            <a:ext cx="149092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DD5F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+63%</a:t>
            </a:r>
            <a:endParaRPr lang="en-US" sz="2400" dirty="0"/>
          </a:p>
        </p:txBody>
      </p:sp>
      <p:sp>
        <p:nvSpPr>
          <p:cNvPr id="14" name="Text 11"/>
          <p:cNvSpPr txBox="1"/>
          <p:nvPr/>
        </p:nvSpPr>
        <p:spPr>
          <a:xfrm>
            <a:off x="868680" y="5440680"/>
            <a:ext cx="1445209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conversion rate</a:t>
            </a:r>
            <a:endParaRPr lang="en-US" sz="1100" dirty="0"/>
          </a:p>
        </p:txBody>
      </p:sp>
      <p:sp>
        <p:nvSpPr>
          <p:cNvPr id="15" name="Text 12"/>
          <p:cNvSpPr txBox="1"/>
          <p:nvPr/>
        </p:nvSpPr>
        <p:spPr>
          <a:xfrm>
            <a:off x="2451049" y="4800600"/>
            <a:ext cx="149092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DD5F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2x</a:t>
            </a:r>
            <a:endParaRPr lang="en-US" sz="2400" dirty="0"/>
          </a:p>
        </p:txBody>
      </p:sp>
      <p:sp>
        <p:nvSpPr>
          <p:cNvPr id="16" name="Text 13"/>
          <p:cNvSpPr txBox="1"/>
          <p:nvPr/>
        </p:nvSpPr>
        <p:spPr>
          <a:xfrm>
            <a:off x="2451049" y="5440680"/>
            <a:ext cx="1445209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on-platform ROAS in 3 months</a:t>
            </a:r>
            <a:endParaRPr lang="en-US" sz="1100" dirty="0"/>
          </a:p>
        </p:txBody>
      </p:sp>
      <p:sp>
        <p:nvSpPr>
          <p:cNvPr id="17" name="Text 14"/>
          <p:cNvSpPr txBox="1"/>
          <p:nvPr/>
        </p:nvSpPr>
        <p:spPr>
          <a:xfrm>
            <a:off x="4033418" y="4800600"/>
            <a:ext cx="149092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DD5F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2x</a:t>
            </a:r>
            <a:endParaRPr lang="en-US" sz="2400" dirty="0"/>
          </a:p>
        </p:txBody>
      </p:sp>
      <p:sp>
        <p:nvSpPr>
          <p:cNvPr id="18" name="Text 15"/>
          <p:cNvSpPr txBox="1"/>
          <p:nvPr/>
        </p:nvSpPr>
        <p:spPr>
          <a:xfrm>
            <a:off x="4033418" y="5440680"/>
            <a:ext cx="1445209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total return in 6 months</a:t>
            </a:r>
            <a:endParaRPr lang="en-US" sz="1100" dirty="0"/>
          </a:p>
        </p:txBody>
      </p:sp>
      <p:sp>
        <p:nvSpPr>
          <p:cNvPr id="19" name="Shape 16"/>
          <p:cNvSpPr/>
          <p:nvPr/>
        </p:nvSpPr>
        <p:spPr>
          <a:xfrm>
            <a:off x="6255868" y="2176526"/>
            <a:ext cx="5387188" cy="3949954"/>
          </a:xfrm>
          <a:prstGeom prst="roundRect">
            <a:avLst>
              <a:gd name="adj" fmla="val 2778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20" name="Text 17"/>
          <p:cNvSpPr txBox="1"/>
          <p:nvPr/>
        </p:nvSpPr>
        <p:spPr>
          <a:xfrm>
            <a:off x="6575908" y="2450846"/>
            <a:ext cx="4747108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0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Nuna Harvest</a:t>
            </a:r>
            <a:endParaRPr lang="en-US" sz="2000" dirty="0"/>
          </a:p>
        </p:txBody>
      </p:sp>
      <p:sp>
        <p:nvSpPr>
          <p:cNvPr id="21" name="Text 18"/>
          <p:cNvSpPr txBox="1"/>
          <p:nvPr/>
        </p:nvSpPr>
        <p:spPr>
          <a:xfrm>
            <a:off x="6575908" y="2862326"/>
            <a:ext cx="4747108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Dispensary + Delivery · New York</a:t>
            </a:r>
            <a:endParaRPr lang="en-US" sz="1200" dirty="0"/>
          </a:p>
        </p:txBody>
      </p:sp>
      <p:sp>
        <p:nvSpPr>
          <p:cNvPr id="22" name="Text 19"/>
          <p:cNvSpPr txBox="1"/>
          <p:nvPr/>
        </p:nvSpPr>
        <p:spPr>
          <a:xfrm>
            <a:off x="6575908" y="3273806"/>
            <a:ext cx="474710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Situation  </a:t>
            </a:r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New York retail and delivery operation competing in a fast-growing market.</a:t>
            </a:r>
            <a:endParaRPr lang="en-US" sz="1200" dirty="0"/>
          </a:p>
        </p:txBody>
      </p:sp>
      <p:sp>
        <p:nvSpPr>
          <p:cNvPr id="23" name="Text 20"/>
          <p:cNvSpPr txBox="1"/>
          <p:nvPr/>
        </p:nvSpPr>
        <p:spPr>
          <a:xfrm>
            <a:off x="6575908" y="4005326"/>
            <a:ext cx="4747108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did  </a:t>
            </a:r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listing management across Weedmaps, Leafly and Yelp with deal activations and review management.</a:t>
            </a:r>
            <a:endParaRPr lang="en-US" sz="1200" dirty="0"/>
          </a:p>
        </p:txBody>
      </p:sp>
      <p:sp>
        <p:nvSpPr>
          <p:cNvPr id="24" name="Text 21"/>
          <p:cNvSpPr txBox="1"/>
          <p:nvPr/>
        </p:nvSpPr>
        <p:spPr>
          <a:xfrm>
            <a:off x="6575908" y="4800600"/>
            <a:ext cx="149092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DD5F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+638%</a:t>
            </a:r>
            <a:endParaRPr lang="en-US" sz="2400" dirty="0"/>
          </a:p>
        </p:txBody>
      </p:sp>
      <p:sp>
        <p:nvSpPr>
          <p:cNvPr id="25" name="Text 22"/>
          <p:cNvSpPr txBox="1"/>
          <p:nvPr/>
        </p:nvSpPr>
        <p:spPr>
          <a:xfrm>
            <a:off x="6575908" y="5440680"/>
            <a:ext cx="1445209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Weedmaps ROAS in 6 months</a:t>
            </a:r>
            <a:endParaRPr lang="en-US" sz="1100" dirty="0"/>
          </a:p>
        </p:txBody>
      </p:sp>
      <p:sp>
        <p:nvSpPr>
          <p:cNvPr id="26" name="Text 23"/>
          <p:cNvSpPr txBox="1"/>
          <p:nvPr/>
        </p:nvSpPr>
        <p:spPr>
          <a:xfrm>
            <a:off x="8158277" y="4800600"/>
            <a:ext cx="149092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DD5F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+44%</a:t>
            </a:r>
            <a:endParaRPr lang="en-US" sz="2400" dirty="0"/>
          </a:p>
        </p:txBody>
      </p:sp>
      <p:sp>
        <p:nvSpPr>
          <p:cNvPr id="27" name="Text 24"/>
          <p:cNvSpPr txBox="1"/>
          <p:nvPr/>
        </p:nvSpPr>
        <p:spPr>
          <a:xfrm>
            <a:off x="8158277" y="5440680"/>
            <a:ext cx="1445209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Leafly ROAS</a:t>
            </a:r>
            <a:endParaRPr lang="en-US" sz="1100" dirty="0"/>
          </a:p>
        </p:txBody>
      </p:sp>
      <p:sp>
        <p:nvSpPr>
          <p:cNvPr id="28" name="Text 25"/>
          <p:cNvSpPr txBox="1"/>
          <p:nvPr/>
        </p:nvSpPr>
        <p:spPr>
          <a:xfrm>
            <a:off x="9740646" y="4800600"/>
            <a:ext cx="1490929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DD5F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+109%</a:t>
            </a:r>
            <a:endParaRPr lang="en-US" sz="2400" dirty="0"/>
          </a:p>
        </p:txBody>
      </p:sp>
      <p:sp>
        <p:nvSpPr>
          <p:cNvPr id="29" name="Text 26"/>
          <p:cNvSpPr txBox="1"/>
          <p:nvPr/>
        </p:nvSpPr>
        <p:spPr>
          <a:xfrm>
            <a:off x="9740646" y="5440680"/>
            <a:ext cx="1445209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Yelp leads</a:t>
            </a:r>
            <a:endParaRPr lang="en-US" sz="11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DD5F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292608"/>
            <a:ext cx="11094415" cy="0"/>
          </a:xfrm>
          <a:prstGeom prst="line">
            <a:avLst/>
          </a:prstGeom>
          <a:noFill/>
          <a:ln w="12700">
            <a:solidFill>
              <a:srgbClr val="FFFF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48640" y="6291072"/>
            <a:ext cx="11094415" cy="0"/>
          </a:xfrm>
          <a:prstGeom prst="line">
            <a:avLst/>
          </a:prstGeom>
          <a:noFill/>
          <a:ln w="12700">
            <a:solidFill>
              <a:srgbClr val="FFFFFF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64465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sparkscann.com</a:t>
            </a:r>
            <a:endParaRPr lang="en-US" sz="10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05311" y="6355080"/>
            <a:ext cx="237744" cy="31210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0362895" y="644652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9</a:t>
            </a:r>
            <a:endParaRPr lang="en-US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5029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WEEDMAPS MANAGEMENT  ·  INVESTMENT</a:t>
            </a:r>
            <a:endParaRPr lang="en-US" sz="11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832104"/>
            <a:ext cx="11094415" cy="6311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Weedmaps Management investment</a:t>
            </a:r>
            <a:endParaRPr lang="en-US" sz="3400" dirty="0"/>
          </a:p>
        </p:txBody>
      </p:sp>
      <p:sp>
        <p:nvSpPr>
          <p:cNvPr id="9" name="Text 6"/>
          <p:cNvSpPr txBox="1"/>
          <p:nvPr/>
        </p:nvSpPr>
        <p:spPr>
          <a:xfrm>
            <a:off x="548640" y="1554734"/>
            <a:ext cx="1109441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Month-to-month after 90-day launch</a:t>
            </a:r>
            <a:endParaRPr lang="en-US" sz="1500" dirty="0"/>
          </a:p>
        </p:txBody>
      </p:sp>
      <p:sp>
        <p:nvSpPr>
          <p:cNvPr id="10" name="Shape 7"/>
          <p:cNvSpPr/>
          <p:nvPr/>
        </p:nvSpPr>
        <p:spPr>
          <a:xfrm>
            <a:off x="548640" y="2286000"/>
            <a:ext cx="3515258" cy="288036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1" name="Text 8"/>
          <p:cNvSpPr txBox="1"/>
          <p:nvPr/>
        </p:nvSpPr>
        <p:spPr>
          <a:xfrm>
            <a:off x="868680" y="2514600"/>
            <a:ext cx="287517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Launch</a:t>
            </a:r>
            <a:endParaRPr lang="en-US" sz="1600" dirty="0"/>
          </a:p>
        </p:txBody>
      </p:sp>
      <p:sp>
        <p:nvSpPr>
          <p:cNvPr id="12" name="Text 9"/>
          <p:cNvSpPr txBox="1"/>
          <p:nvPr/>
        </p:nvSpPr>
        <p:spPr>
          <a:xfrm>
            <a:off x="868680" y="2926080"/>
            <a:ext cx="287517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Custom</a:t>
            </a:r>
            <a:endParaRPr lang="en-US" sz="3600" dirty="0"/>
          </a:p>
        </p:txBody>
      </p:sp>
      <p:sp>
        <p:nvSpPr>
          <p:cNvPr id="13" name="Text 10"/>
          <p:cNvSpPr txBox="1"/>
          <p:nvPr/>
        </p:nvSpPr>
        <p:spPr>
          <a:xfrm>
            <a:off x="868680" y="3749040"/>
            <a:ext cx="287517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Weedmaps + Google</a:t>
            </a:r>
            <a:endParaRPr lang="en-US" sz="1200" dirty="0"/>
          </a:p>
        </p:txBody>
      </p:sp>
      <p:sp>
        <p:nvSpPr>
          <p:cNvPr id="14" name="Shape 11"/>
          <p:cNvSpPr/>
          <p:nvPr/>
        </p:nvSpPr>
        <p:spPr>
          <a:xfrm>
            <a:off x="4338218" y="2286000"/>
            <a:ext cx="3515258" cy="288036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5" name="Text 12"/>
          <p:cNvSpPr txBox="1"/>
          <p:nvPr/>
        </p:nvSpPr>
        <p:spPr>
          <a:xfrm>
            <a:off x="4658258" y="2514600"/>
            <a:ext cx="287517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Growth</a:t>
            </a:r>
            <a:endParaRPr lang="en-US" sz="1600" dirty="0"/>
          </a:p>
        </p:txBody>
      </p:sp>
      <p:sp>
        <p:nvSpPr>
          <p:cNvPr id="16" name="Text 13"/>
          <p:cNvSpPr txBox="1"/>
          <p:nvPr/>
        </p:nvSpPr>
        <p:spPr>
          <a:xfrm>
            <a:off x="4658258" y="2926080"/>
            <a:ext cx="287517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Custom</a:t>
            </a:r>
            <a:endParaRPr lang="en-US" sz="3600" dirty="0"/>
          </a:p>
        </p:txBody>
      </p:sp>
      <p:sp>
        <p:nvSpPr>
          <p:cNvPr id="17" name="Text 14"/>
          <p:cNvSpPr txBox="1"/>
          <p:nvPr/>
        </p:nvSpPr>
        <p:spPr>
          <a:xfrm>
            <a:off x="4658258" y="3749040"/>
            <a:ext cx="287517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Weedmaps + Leafly + Yelp + Google</a:t>
            </a:r>
            <a:endParaRPr lang="en-US" sz="1200" dirty="0"/>
          </a:p>
        </p:txBody>
      </p:sp>
      <p:sp>
        <p:nvSpPr>
          <p:cNvPr id="18" name="Shape 15"/>
          <p:cNvSpPr/>
          <p:nvPr/>
        </p:nvSpPr>
        <p:spPr>
          <a:xfrm>
            <a:off x="8127797" y="2286000"/>
            <a:ext cx="3515258" cy="288036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6350">
            <a:solidFill>
              <a:srgbClr val="FFFFFF"/>
            </a:solidFill>
            <a:prstDash val="solid"/>
          </a:ln>
        </p:spPr>
      </p:sp>
      <p:sp>
        <p:nvSpPr>
          <p:cNvPr id="19" name="Text 16"/>
          <p:cNvSpPr txBox="1"/>
          <p:nvPr/>
        </p:nvSpPr>
        <p:spPr>
          <a:xfrm>
            <a:off x="8447837" y="2514600"/>
            <a:ext cx="2875178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Dominate</a:t>
            </a:r>
            <a:endParaRPr lang="en-US" sz="1600" dirty="0"/>
          </a:p>
        </p:txBody>
      </p:sp>
      <p:sp>
        <p:nvSpPr>
          <p:cNvPr id="20" name="Text 17"/>
          <p:cNvSpPr txBox="1"/>
          <p:nvPr/>
        </p:nvSpPr>
        <p:spPr>
          <a:xfrm>
            <a:off x="8447837" y="2926080"/>
            <a:ext cx="2875178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222222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Custom</a:t>
            </a:r>
            <a:endParaRPr lang="en-US" sz="3600" dirty="0"/>
          </a:p>
        </p:txBody>
      </p:sp>
      <p:sp>
        <p:nvSpPr>
          <p:cNvPr id="21" name="Text 18"/>
          <p:cNvSpPr txBox="1"/>
          <p:nvPr/>
        </p:nvSpPr>
        <p:spPr>
          <a:xfrm>
            <a:off x="8447837" y="3749040"/>
            <a:ext cx="2875178" cy="1280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All platforms + Local SEO + Programmatic</a:t>
            </a:r>
            <a:endParaRPr lang="en-US" sz="1200" dirty="0"/>
          </a:p>
        </p:txBody>
      </p:sp>
      <p:sp>
        <p:nvSpPr>
          <p:cNvPr id="22" name="Text 19"/>
          <p:cNvSpPr txBox="1"/>
          <p:nvPr/>
        </p:nvSpPr>
        <p:spPr>
          <a:xfrm>
            <a:off x="548640" y="5276088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in 30 days or your money back.</a:t>
            </a:r>
            <a:endParaRPr lang="en-US" sz="1400" dirty="0"/>
          </a:p>
        </p:txBody>
      </p:sp>
      <p:sp>
        <p:nvSpPr>
          <p:cNvPr id="23" name="Text 20"/>
          <p:cNvSpPr txBox="1"/>
          <p:nvPr/>
        </p:nvSpPr>
        <p:spPr>
          <a:xfrm>
            <a:off x="548640" y="5660136"/>
            <a:ext cx="68580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i="1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 spend billed directly by platforms; Sparks manages allocation.</a:t>
            </a:r>
            <a:endParaRPr lang="en-US" sz="105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4465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sparkscann.com</a:t>
            </a:r>
            <a:endParaRPr lang="en-US" sz="1000" dirty="0"/>
          </a:p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05311" y="6355080"/>
            <a:ext cx="237744" cy="31210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0362895" y="644652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10</a:t>
            </a:r>
            <a:endParaRPr lang="en-US" sz="10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5029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INCLUDED  ·  LEAFLY</a:t>
            </a:r>
            <a:endParaRPr lang="en-US" sz="11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832104"/>
            <a:ext cx="11094415" cy="6311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DD5F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Leafly Management</a:t>
            </a:r>
            <a:endParaRPr lang="en-US" sz="34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1554734"/>
            <a:ext cx="1109441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Strain-led discovery and the second marketplace most customers check.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548640" y="2176526"/>
            <a:ext cx="6766560" cy="923459"/>
          </a:xfrm>
          <a:prstGeom prst="roundRect">
            <a:avLst>
              <a:gd name="adj" fmla="val 11882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731520" y="2400512"/>
            <a:ext cx="475488" cy="475488"/>
          </a:xfrm>
          <a:prstGeom prst="ellipse">
            <a:avLst/>
          </a:prstGeom>
          <a:solidFill>
            <a:srgbClr val="DD5F13"/>
          </a:solidFill>
          <a:ln w="12700">
            <a:solidFill>
              <a:srgbClr val="DD5F13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9902" y="2528893"/>
            <a:ext cx="218724" cy="218724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371600" y="2286254"/>
            <a:ext cx="57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Strain and product search</a:t>
            </a:r>
            <a:endParaRPr lang="en-US" sz="1400" dirty="0"/>
          </a:p>
        </p:txBody>
      </p:sp>
      <p:sp>
        <p:nvSpPr>
          <p:cNvPr id="12" name="Text 8"/>
          <p:cNvSpPr txBox="1"/>
          <p:nvPr/>
        </p:nvSpPr>
        <p:spPr>
          <a:xfrm>
            <a:off x="1371600" y="2578862"/>
            <a:ext cx="5760720" cy="46625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Leafly shoppers arrive knowing the strain or product they want. A verified, well-tagged menu is what puts your store in front of them.</a:t>
            </a:r>
            <a:endParaRPr lang="en-US" sz="1100" dirty="0"/>
          </a:p>
        </p:txBody>
      </p:sp>
      <p:sp>
        <p:nvSpPr>
          <p:cNvPr id="13" name="Shape 9"/>
          <p:cNvSpPr/>
          <p:nvPr/>
        </p:nvSpPr>
        <p:spPr>
          <a:xfrm>
            <a:off x="548640" y="3209713"/>
            <a:ext cx="6766560" cy="923459"/>
          </a:xfrm>
          <a:prstGeom prst="roundRect">
            <a:avLst>
              <a:gd name="adj" fmla="val 11882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731520" y="3433699"/>
            <a:ext cx="475488" cy="475488"/>
          </a:xfrm>
          <a:prstGeom prst="ellipse">
            <a:avLst/>
          </a:prstGeom>
          <a:solidFill>
            <a:srgbClr val="DD5F13"/>
          </a:solidFill>
          <a:ln w="12700">
            <a:solidFill>
              <a:srgbClr val="DD5F13"/>
            </a:solidFill>
            <a:prstDash val="solid"/>
          </a:ln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902" y="3562081"/>
            <a:ext cx="218724" cy="218724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1371600" y="3319441"/>
            <a:ext cx="57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Leafly ads and deals</a:t>
            </a:r>
            <a:endParaRPr lang="en-US" sz="1400" dirty="0"/>
          </a:p>
        </p:txBody>
      </p:sp>
      <p:sp>
        <p:nvSpPr>
          <p:cNvPr id="17" name="Text 12"/>
          <p:cNvSpPr txBox="1"/>
          <p:nvPr/>
        </p:nvSpPr>
        <p:spPr>
          <a:xfrm>
            <a:off x="1371600" y="3612049"/>
            <a:ext cx="5760720" cy="46625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Paid placement, deal listings, and featured products work the same way as Weedmaps and are just as easy to leave unmanaged.</a:t>
            </a:r>
            <a:endParaRPr lang="en-US" sz="1100" dirty="0"/>
          </a:p>
        </p:txBody>
      </p:sp>
      <p:sp>
        <p:nvSpPr>
          <p:cNvPr id="18" name="Shape 13"/>
          <p:cNvSpPr/>
          <p:nvPr/>
        </p:nvSpPr>
        <p:spPr>
          <a:xfrm>
            <a:off x="548640" y="4242901"/>
            <a:ext cx="6766560" cy="923459"/>
          </a:xfrm>
          <a:prstGeom prst="roundRect">
            <a:avLst>
              <a:gd name="adj" fmla="val 11882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731520" y="4466886"/>
            <a:ext cx="475488" cy="475488"/>
          </a:xfrm>
          <a:prstGeom prst="ellipse">
            <a:avLst/>
          </a:prstGeom>
          <a:solidFill>
            <a:srgbClr val="DD5F13"/>
          </a:solidFill>
          <a:ln w="12700">
            <a:solidFill>
              <a:srgbClr val="DD5F13"/>
            </a:solidFill>
            <a:prstDash val="solid"/>
          </a:ln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9902" y="4595268"/>
            <a:ext cx="218724" cy="218724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1371600" y="4352629"/>
            <a:ext cx="57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Reviews carry weight</a:t>
            </a:r>
            <a:endParaRPr lang="en-US" sz="1400" dirty="0"/>
          </a:p>
        </p:txBody>
      </p:sp>
      <p:sp>
        <p:nvSpPr>
          <p:cNvPr id="22" name="Text 16"/>
          <p:cNvSpPr txBox="1"/>
          <p:nvPr/>
        </p:nvSpPr>
        <p:spPr>
          <a:xfrm>
            <a:off x="1371600" y="4645237"/>
            <a:ext cx="5760720" cy="46625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Leafly reviews surface in Google results for your store name, so unanswered reviews cost you off-platform too.</a:t>
            </a:r>
            <a:endParaRPr lang="en-US" sz="1100" dirty="0"/>
          </a:p>
        </p:txBody>
      </p:sp>
      <p:sp>
        <p:nvSpPr>
          <p:cNvPr id="23" name="Shape 17"/>
          <p:cNvSpPr/>
          <p:nvPr/>
        </p:nvSpPr>
        <p:spPr>
          <a:xfrm>
            <a:off x="548640" y="5257800"/>
            <a:ext cx="6766560" cy="868680"/>
          </a:xfrm>
          <a:prstGeom prst="roundRect">
            <a:avLst>
              <a:gd name="adj" fmla="val 12632"/>
            </a:avLst>
          </a:prstGeom>
          <a:solidFill>
            <a:srgbClr val="FDE7D8"/>
          </a:solidFill>
          <a:ln w="6350">
            <a:solidFill>
              <a:srgbClr val="FDE7D8"/>
            </a:solidFill>
            <a:prstDash val="solid"/>
          </a:ln>
        </p:spPr>
      </p:sp>
      <p:sp>
        <p:nvSpPr>
          <p:cNvPr id="24" name="Text 18"/>
          <p:cNvSpPr txBox="1"/>
          <p:nvPr/>
        </p:nvSpPr>
        <p:spPr>
          <a:xfrm>
            <a:off x="822960" y="5349240"/>
            <a:ext cx="6217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saw on Green Valley Dispensary's Leafly</a:t>
            </a:r>
            <a:endParaRPr lang="en-US" sz="1200" dirty="0"/>
          </a:p>
        </p:txBody>
      </p:sp>
      <p:sp>
        <p:nvSpPr>
          <p:cNvPr id="25" name="Text 19"/>
          <p:cNvSpPr txBox="1"/>
          <p:nvPr/>
        </p:nvSpPr>
        <p:spPr>
          <a:xfrm>
            <a:off x="822960" y="5623560"/>
            <a:ext cx="6217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Menu last synced 3 weeks ago; no deals running</a:t>
            </a:r>
            <a:endParaRPr lang="en-US" sz="1050" dirty="0"/>
          </a:p>
        </p:txBody>
      </p:sp>
      <p:sp>
        <p:nvSpPr>
          <p:cNvPr id="26" name="Shape 20"/>
          <p:cNvSpPr/>
          <p:nvPr/>
        </p:nvSpPr>
        <p:spPr>
          <a:xfrm>
            <a:off x="7589520" y="2176526"/>
            <a:ext cx="4053535" cy="3949954"/>
          </a:xfrm>
          <a:prstGeom prst="roundRect">
            <a:avLst>
              <a:gd name="adj" fmla="val 2778"/>
            </a:avLst>
          </a:prstGeom>
          <a:solidFill>
            <a:srgbClr val="DD5F13"/>
          </a:solidFill>
          <a:ln w="6350">
            <a:solidFill>
              <a:srgbClr val="DD5F13"/>
            </a:solidFill>
            <a:prstDash val="solid"/>
          </a:ln>
        </p:spPr>
      </p:sp>
      <p:sp>
        <p:nvSpPr>
          <p:cNvPr id="27" name="Text 21"/>
          <p:cNvSpPr txBox="1"/>
          <p:nvPr/>
        </p:nvSpPr>
        <p:spPr>
          <a:xfrm>
            <a:off x="7909560" y="2405126"/>
            <a:ext cx="34134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WHAT'S INCLUDED</a:t>
            </a:r>
            <a:endParaRPr lang="en-US" sz="1100" dirty="0"/>
          </a:p>
        </p:txBody>
      </p:sp>
      <p:sp>
        <p:nvSpPr>
          <p:cNvPr id="28" name="Text 22"/>
          <p:cNvSpPr txBox="1"/>
          <p:nvPr/>
        </p:nvSpPr>
        <p:spPr>
          <a:xfrm>
            <a:off x="7772400" y="2725166"/>
            <a:ext cx="3596335" cy="212115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Menu sync &amp; tagging</a:t>
            </a:r>
            <a:pPr indent="0" marL="0">
              <a:buNone/>
            </a:pPr>
            <a:r>
              <a:rPr lang="en-US" sz="100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Product tagging across strains, brands, and categories, synced with your POS</a:t>
            </a:r>
            <a:endParaRPr lang="en-US" sz="10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Leafly Ads</a:t>
            </a:r>
            <a:pPr indent="0" marL="0">
              <a:buNone/>
            </a:pPr>
            <a:r>
              <a:rPr lang="en-US" sz="100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Ad strategy, budget, and creative built around ROAS</a:t>
            </a:r>
            <a:endParaRPr lang="en-US" sz="10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Deals &amp; featured products</a:t>
            </a:r>
            <a:pPr indent="0" marL="0">
              <a:buNone/>
            </a:pPr>
            <a:r>
              <a:rPr lang="en-US" sz="100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Deal and featured-product activations kept current</a:t>
            </a:r>
            <a:endParaRPr lang="en-US" sz="10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Listing optimization</a:t>
            </a:r>
            <a:pPr indent="0" marL="0">
              <a:buNone/>
            </a:pPr>
            <a:r>
              <a:rPr lang="en-US" sz="100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Profile details and photo refresh</a:t>
            </a:r>
            <a:endParaRPr lang="en-US" sz="10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Reviews &amp; reporting</a:t>
            </a:r>
            <a:pPr indent="0" marL="0">
              <a:buNone/>
            </a:pPr>
            <a:r>
              <a:rPr lang="en-US" sz="100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Review responses and monthly performance reporting</a:t>
            </a:r>
            <a:endParaRPr lang="en-US" sz="1000" dirty="0"/>
          </a:p>
        </p:txBody>
      </p:sp>
      <p:sp>
        <p:nvSpPr>
          <p:cNvPr id="29" name="Shape 23"/>
          <p:cNvSpPr/>
          <p:nvPr/>
        </p:nvSpPr>
        <p:spPr>
          <a:xfrm>
            <a:off x="7909560" y="4919472"/>
            <a:ext cx="3413455" cy="0"/>
          </a:xfrm>
          <a:prstGeom prst="line">
            <a:avLst/>
          </a:prstGeom>
          <a:noFill/>
          <a:ln w="9525">
            <a:solidFill>
              <a:srgbClr val="F0B48C"/>
            </a:solidFill>
            <a:prstDash val="solid"/>
          </a:ln>
        </p:spPr>
      </p:sp>
      <p:sp>
        <p:nvSpPr>
          <p:cNvPr id="30" name="Text 24"/>
          <p:cNvSpPr txBox="1"/>
          <p:nvPr/>
        </p:nvSpPr>
        <p:spPr>
          <a:xfrm>
            <a:off x="7909560" y="498348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+44%</a:t>
            </a:r>
            <a:endParaRPr lang="en-US" sz="2200" dirty="0"/>
          </a:p>
        </p:txBody>
      </p:sp>
      <p:sp>
        <p:nvSpPr>
          <p:cNvPr id="31" name="Text 25"/>
          <p:cNvSpPr txBox="1"/>
          <p:nvPr/>
        </p:nvSpPr>
        <p:spPr>
          <a:xfrm>
            <a:off x="9784080" y="4983480"/>
            <a:ext cx="15389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Leafly ROAS for Nuna Harvest in six months</a:t>
            </a:r>
            <a:endParaRPr lang="en-US" sz="1000" dirty="0"/>
          </a:p>
        </p:txBody>
      </p:sp>
      <p:sp>
        <p:nvSpPr>
          <p:cNvPr id="32" name="Shape 26"/>
          <p:cNvSpPr/>
          <p:nvPr/>
        </p:nvSpPr>
        <p:spPr>
          <a:xfrm>
            <a:off x="7909560" y="5532120"/>
            <a:ext cx="3413455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Text 27"/>
          <p:cNvSpPr txBox="1"/>
          <p:nvPr/>
        </p:nvSpPr>
        <p:spPr>
          <a:xfrm>
            <a:off x="7909560" y="5532120"/>
            <a:ext cx="341345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INCLUDED IN THIS PROPOSAL</a:t>
            </a:r>
            <a:endParaRPr lang="en-US" sz="95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4465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sparkscann.com</a:t>
            </a:r>
            <a:endParaRPr lang="en-US" sz="1000" dirty="0"/>
          </a:p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05311" y="6355080"/>
            <a:ext cx="237744" cy="31210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0362895" y="644652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11</a:t>
            </a:r>
            <a:endParaRPr lang="en-US" sz="10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5029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INCLUDED  ·  YELP</a:t>
            </a:r>
            <a:endParaRPr lang="en-US" sz="11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832104"/>
            <a:ext cx="11094415" cy="6311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DD5F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Yelp Management</a:t>
            </a:r>
            <a:endParaRPr lang="en-US" sz="34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1554734"/>
            <a:ext cx="1109441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Where reviews decide, and where Sparks is one of the few cannabis partners recognized by Yelp.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548640" y="2176526"/>
            <a:ext cx="6766560" cy="923459"/>
          </a:xfrm>
          <a:prstGeom prst="roundRect">
            <a:avLst>
              <a:gd name="adj" fmla="val 11882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731520" y="2400512"/>
            <a:ext cx="475488" cy="475488"/>
          </a:xfrm>
          <a:prstGeom prst="ellipse">
            <a:avLst/>
          </a:prstGeom>
          <a:solidFill>
            <a:srgbClr val="DD5F13"/>
          </a:solidFill>
          <a:ln w="12700">
            <a:solidFill>
              <a:srgbClr val="DD5F13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9902" y="2528893"/>
            <a:ext cx="218724" cy="218724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371600" y="2286254"/>
            <a:ext cx="57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rating is the pitch</a:t>
            </a:r>
            <a:endParaRPr lang="en-US" sz="1400" dirty="0"/>
          </a:p>
        </p:txBody>
      </p:sp>
      <p:sp>
        <p:nvSpPr>
          <p:cNvPr id="12" name="Text 8"/>
          <p:cNvSpPr txBox="1"/>
          <p:nvPr/>
        </p:nvSpPr>
        <p:spPr>
          <a:xfrm>
            <a:off x="1371600" y="2578862"/>
            <a:ext cx="5760720" cy="46625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Yelp is where shoppers compare local options on rating alone. Unanswered one-star reviews and policy-breaking reviews pull the average down.</a:t>
            </a:r>
            <a:endParaRPr lang="en-US" sz="1100" dirty="0"/>
          </a:p>
        </p:txBody>
      </p:sp>
      <p:sp>
        <p:nvSpPr>
          <p:cNvPr id="13" name="Shape 9"/>
          <p:cNvSpPr/>
          <p:nvPr/>
        </p:nvSpPr>
        <p:spPr>
          <a:xfrm>
            <a:off x="548640" y="3209713"/>
            <a:ext cx="6766560" cy="923459"/>
          </a:xfrm>
          <a:prstGeom prst="roundRect">
            <a:avLst>
              <a:gd name="adj" fmla="val 11882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731520" y="3433699"/>
            <a:ext cx="475488" cy="475488"/>
          </a:xfrm>
          <a:prstGeom prst="ellipse">
            <a:avLst/>
          </a:prstGeom>
          <a:solidFill>
            <a:srgbClr val="DD5F13"/>
          </a:solidFill>
          <a:ln w="12700">
            <a:solidFill>
              <a:srgbClr val="DD5F13"/>
            </a:solidFill>
            <a:prstDash val="solid"/>
          </a:ln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902" y="3562081"/>
            <a:ext cx="218724" cy="218724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1371600" y="3319441"/>
            <a:ext cx="57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Yelp ranks in Google too</a:t>
            </a:r>
            <a:endParaRPr lang="en-US" sz="1400" dirty="0"/>
          </a:p>
        </p:txBody>
      </p:sp>
      <p:sp>
        <p:nvSpPr>
          <p:cNvPr id="17" name="Text 12"/>
          <p:cNvSpPr txBox="1"/>
          <p:nvPr/>
        </p:nvSpPr>
        <p:spPr>
          <a:xfrm>
            <a:off x="1371600" y="3612049"/>
            <a:ext cx="5760720" cy="46625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Your Yelp page often outranks your own site for your store name. A complete, current profile is what people see before they ever reach your menu.</a:t>
            </a:r>
            <a:endParaRPr lang="en-US" sz="1100" dirty="0"/>
          </a:p>
        </p:txBody>
      </p:sp>
      <p:sp>
        <p:nvSpPr>
          <p:cNvPr id="18" name="Shape 13"/>
          <p:cNvSpPr/>
          <p:nvPr/>
        </p:nvSpPr>
        <p:spPr>
          <a:xfrm>
            <a:off x="548640" y="4242901"/>
            <a:ext cx="6766560" cy="923459"/>
          </a:xfrm>
          <a:prstGeom prst="roundRect">
            <a:avLst>
              <a:gd name="adj" fmla="val 11882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731520" y="4466886"/>
            <a:ext cx="475488" cy="475488"/>
          </a:xfrm>
          <a:prstGeom prst="ellipse">
            <a:avLst/>
          </a:prstGeom>
          <a:solidFill>
            <a:srgbClr val="DD5F13"/>
          </a:solidFill>
          <a:ln w="12700">
            <a:solidFill>
              <a:srgbClr val="DD5F13"/>
            </a:solidFill>
            <a:prstDash val="solid"/>
          </a:ln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9902" y="4595268"/>
            <a:ext cx="218724" cy="218724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1371600" y="4352629"/>
            <a:ext cx="57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Leads, not just clicks</a:t>
            </a:r>
            <a:endParaRPr lang="en-US" sz="1400" dirty="0"/>
          </a:p>
        </p:txBody>
      </p:sp>
      <p:sp>
        <p:nvSpPr>
          <p:cNvPr id="22" name="Text 16"/>
          <p:cNvSpPr txBox="1"/>
          <p:nvPr/>
        </p:nvSpPr>
        <p:spPr>
          <a:xfrm>
            <a:off x="1371600" y="4645237"/>
            <a:ext cx="5760720" cy="466259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Yelp drives calls, direction requests, and website clicks that never show up on a marketplace dashboard. We track them.</a:t>
            </a:r>
            <a:endParaRPr lang="en-US" sz="1100" dirty="0"/>
          </a:p>
        </p:txBody>
      </p:sp>
      <p:sp>
        <p:nvSpPr>
          <p:cNvPr id="23" name="Shape 17"/>
          <p:cNvSpPr/>
          <p:nvPr/>
        </p:nvSpPr>
        <p:spPr>
          <a:xfrm>
            <a:off x="548640" y="5257800"/>
            <a:ext cx="6766560" cy="868680"/>
          </a:xfrm>
          <a:prstGeom prst="roundRect">
            <a:avLst>
              <a:gd name="adj" fmla="val 12632"/>
            </a:avLst>
          </a:prstGeom>
          <a:solidFill>
            <a:srgbClr val="FDE7D8"/>
          </a:solidFill>
          <a:ln w="6350">
            <a:solidFill>
              <a:srgbClr val="FDE7D8"/>
            </a:solidFill>
            <a:prstDash val="solid"/>
          </a:ln>
        </p:spPr>
      </p:sp>
      <p:sp>
        <p:nvSpPr>
          <p:cNvPr id="24" name="Text 18"/>
          <p:cNvSpPr txBox="1"/>
          <p:nvPr/>
        </p:nvSpPr>
        <p:spPr>
          <a:xfrm>
            <a:off x="822960" y="5349240"/>
            <a:ext cx="6217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saw on Green Valley Dispensary's Yelp</a:t>
            </a:r>
            <a:endParaRPr lang="en-US" sz="1200" dirty="0"/>
          </a:p>
        </p:txBody>
      </p:sp>
      <p:sp>
        <p:nvSpPr>
          <p:cNvPr id="25" name="Text 19"/>
          <p:cNvSpPr txBox="1"/>
          <p:nvPr/>
        </p:nvSpPr>
        <p:spPr>
          <a:xfrm>
            <a:off x="822960" y="5623560"/>
            <a:ext cx="6217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unanswered 1-star reviews; profile incomplete</a:t>
            </a:r>
            <a:endParaRPr lang="en-US" sz="1050" dirty="0"/>
          </a:p>
        </p:txBody>
      </p:sp>
      <p:sp>
        <p:nvSpPr>
          <p:cNvPr id="26" name="Shape 20"/>
          <p:cNvSpPr/>
          <p:nvPr/>
        </p:nvSpPr>
        <p:spPr>
          <a:xfrm>
            <a:off x="7589520" y="2176526"/>
            <a:ext cx="4053535" cy="3949954"/>
          </a:xfrm>
          <a:prstGeom prst="roundRect">
            <a:avLst>
              <a:gd name="adj" fmla="val 2778"/>
            </a:avLst>
          </a:prstGeom>
          <a:solidFill>
            <a:srgbClr val="DD5F13"/>
          </a:solidFill>
          <a:ln w="6350">
            <a:solidFill>
              <a:srgbClr val="DD5F13"/>
            </a:solidFill>
            <a:prstDash val="solid"/>
          </a:ln>
        </p:spPr>
      </p:sp>
      <p:sp>
        <p:nvSpPr>
          <p:cNvPr id="27" name="Text 21"/>
          <p:cNvSpPr txBox="1"/>
          <p:nvPr/>
        </p:nvSpPr>
        <p:spPr>
          <a:xfrm>
            <a:off x="7909560" y="2405126"/>
            <a:ext cx="34134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WHAT'S INCLUDED</a:t>
            </a:r>
            <a:endParaRPr lang="en-US" sz="1100" dirty="0"/>
          </a:p>
        </p:txBody>
      </p:sp>
      <p:sp>
        <p:nvSpPr>
          <p:cNvPr id="28" name="Text 22"/>
          <p:cNvSpPr txBox="1"/>
          <p:nvPr/>
        </p:nvSpPr>
        <p:spPr>
          <a:xfrm>
            <a:off x="7772400" y="2725166"/>
            <a:ext cx="3596335" cy="212115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Profile optimization</a:t>
            </a:r>
            <a:pPr indent="0" marL="0">
              <a:buNone/>
            </a:pPr>
            <a:r>
              <a:rPr lang="en-US" sz="100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Photos, categories, hours, highlights, and business details kept complete and current</a:t>
            </a:r>
            <a:endParaRPr lang="en-US" sz="10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Review management</a:t>
            </a:r>
            <a:pPr indent="0" marL="0">
              <a:buNone/>
            </a:pPr>
            <a:r>
              <a:rPr lang="en-US" sz="100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Responses and removal requests for guideline-breaking reviews through Sparks' recognized partner access</a:t>
            </a:r>
            <a:endParaRPr lang="en-US" sz="10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Lead tracking</a:t>
            </a:r>
            <a:pPr indent="0" marL="0">
              <a:buNone/>
            </a:pPr>
            <a:r>
              <a:rPr lang="en-US" sz="100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Calls, direction requests, and site visits attributed to Yelp</a:t>
            </a:r>
            <a:endParaRPr lang="en-US" sz="10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Content &amp; updates</a:t>
            </a:r>
            <a:pPr indent="0" marL="0">
              <a:buNone/>
            </a:pPr>
            <a:r>
              <a:rPr lang="en-US" sz="100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Specials, announcements, and photo refreshes to keep the page active</a:t>
            </a:r>
            <a:endParaRPr lang="en-US" sz="10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Reporting</a:t>
            </a:r>
            <a:pPr indent="0" marL="0">
              <a:buNone/>
            </a:pPr>
            <a:r>
              <a:rPr lang="en-US" sz="100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Monthly reporting alongside your marketplace results</a:t>
            </a:r>
            <a:endParaRPr lang="en-US" sz="1000" dirty="0"/>
          </a:p>
        </p:txBody>
      </p:sp>
      <p:sp>
        <p:nvSpPr>
          <p:cNvPr id="29" name="Shape 23"/>
          <p:cNvSpPr/>
          <p:nvPr/>
        </p:nvSpPr>
        <p:spPr>
          <a:xfrm>
            <a:off x="7909560" y="4919472"/>
            <a:ext cx="3413455" cy="0"/>
          </a:xfrm>
          <a:prstGeom prst="line">
            <a:avLst/>
          </a:prstGeom>
          <a:noFill/>
          <a:ln w="9525">
            <a:solidFill>
              <a:srgbClr val="F0B48C"/>
            </a:solidFill>
            <a:prstDash val="solid"/>
          </a:ln>
        </p:spPr>
      </p:sp>
      <p:sp>
        <p:nvSpPr>
          <p:cNvPr id="30" name="Text 24"/>
          <p:cNvSpPr txBox="1"/>
          <p:nvPr/>
        </p:nvSpPr>
        <p:spPr>
          <a:xfrm>
            <a:off x="7909560" y="498348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+109%</a:t>
            </a:r>
            <a:endParaRPr lang="en-US" sz="2200" dirty="0"/>
          </a:p>
        </p:txBody>
      </p:sp>
      <p:sp>
        <p:nvSpPr>
          <p:cNvPr id="31" name="Text 25"/>
          <p:cNvSpPr txBox="1"/>
          <p:nvPr/>
        </p:nvSpPr>
        <p:spPr>
          <a:xfrm>
            <a:off x="9784080" y="4983480"/>
            <a:ext cx="15389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Yelp leads for Nuna Harvest in six months</a:t>
            </a:r>
            <a:endParaRPr lang="en-US" sz="1000" dirty="0"/>
          </a:p>
        </p:txBody>
      </p:sp>
      <p:sp>
        <p:nvSpPr>
          <p:cNvPr id="32" name="Shape 26"/>
          <p:cNvSpPr/>
          <p:nvPr/>
        </p:nvSpPr>
        <p:spPr>
          <a:xfrm>
            <a:off x="7909560" y="5532120"/>
            <a:ext cx="3413455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Text 27"/>
          <p:cNvSpPr txBox="1"/>
          <p:nvPr/>
        </p:nvSpPr>
        <p:spPr>
          <a:xfrm>
            <a:off x="7909560" y="5532120"/>
            <a:ext cx="341345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INCLUDED IN THIS PROPOSAL</a:t>
            </a:r>
            <a:endParaRPr lang="en-US" sz="9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4465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sparkscann.com</a:t>
            </a:r>
            <a:endParaRPr lang="en-US" sz="1000" dirty="0"/>
          </a:p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05311" y="6355080"/>
            <a:ext cx="237744" cy="31210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0362895" y="644652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12</a:t>
            </a:r>
            <a:endParaRPr lang="en-US" sz="10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502920"/>
            <a:ext cx="1109441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INCLUDED  ·  GOOGLE</a:t>
            </a:r>
            <a:endParaRPr lang="en-US" sz="11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832104"/>
            <a:ext cx="11094415" cy="5041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2600" b="1" dirty="0">
                <a:solidFill>
                  <a:srgbClr val="DD5F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Google &amp; Apple Maps Management (GBP, Ads &amp; Local SEO)</a:t>
            </a:r>
            <a:endParaRPr lang="en-US" sz="26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1427734"/>
            <a:ext cx="1109441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"Dispensary near me" is decided on Google Maps and Apple Maps.</a:t>
            </a:r>
            <a:endParaRPr lang="en-US" sz="1500" dirty="0"/>
          </a:p>
        </p:txBody>
      </p:sp>
      <p:sp>
        <p:nvSpPr>
          <p:cNvPr id="8" name="Shape 5"/>
          <p:cNvSpPr/>
          <p:nvPr/>
        </p:nvSpPr>
        <p:spPr>
          <a:xfrm>
            <a:off x="548640" y="2049526"/>
            <a:ext cx="6766560" cy="965793"/>
          </a:xfrm>
          <a:prstGeom prst="roundRect">
            <a:avLst>
              <a:gd name="adj" fmla="val 11361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9" name="Shape 6"/>
          <p:cNvSpPr/>
          <p:nvPr/>
        </p:nvSpPr>
        <p:spPr>
          <a:xfrm>
            <a:off x="731520" y="2294678"/>
            <a:ext cx="475488" cy="475488"/>
          </a:xfrm>
          <a:prstGeom prst="ellipse">
            <a:avLst/>
          </a:prstGeom>
          <a:solidFill>
            <a:srgbClr val="DD5F13"/>
          </a:solidFill>
          <a:ln w="12700">
            <a:solidFill>
              <a:srgbClr val="DD5F13"/>
            </a:solidFill>
            <a:prstDash val="solid"/>
          </a:ln>
        </p:spPr>
      </p:sp>
      <p:pic>
        <p:nvPicPr>
          <p:cNvPr id="10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59902" y="2423060"/>
            <a:ext cx="218724" cy="218724"/>
          </a:xfrm>
          <a:prstGeom prst="rect">
            <a:avLst/>
          </a:prstGeom>
        </p:spPr>
      </p:pic>
      <p:sp>
        <p:nvSpPr>
          <p:cNvPr id="11" name="Text 7"/>
          <p:cNvSpPr txBox="1"/>
          <p:nvPr/>
        </p:nvSpPr>
        <p:spPr>
          <a:xfrm>
            <a:off x="1371600" y="2159254"/>
            <a:ext cx="57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Maps 3-pack</a:t>
            </a:r>
            <a:endParaRPr lang="en-US" sz="1400" dirty="0"/>
          </a:p>
        </p:txBody>
      </p:sp>
      <p:sp>
        <p:nvSpPr>
          <p:cNvPr id="12" name="Text 8"/>
          <p:cNvSpPr txBox="1"/>
          <p:nvPr/>
        </p:nvSpPr>
        <p:spPr>
          <a:xfrm>
            <a:off x="1371600" y="2451862"/>
            <a:ext cx="5760720" cy="5085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Most local searches end in the top three Google Maps results. Getting there takes a clean Business Profile, review velocity, and citation authority.</a:t>
            </a:r>
            <a:endParaRPr lang="en-US" sz="1100" dirty="0"/>
          </a:p>
        </p:txBody>
      </p:sp>
      <p:sp>
        <p:nvSpPr>
          <p:cNvPr id="13" name="Shape 9"/>
          <p:cNvSpPr/>
          <p:nvPr/>
        </p:nvSpPr>
        <p:spPr>
          <a:xfrm>
            <a:off x="548640" y="3125047"/>
            <a:ext cx="6766560" cy="965793"/>
          </a:xfrm>
          <a:prstGeom prst="roundRect">
            <a:avLst>
              <a:gd name="adj" fmla="val 11361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14" name="Shape 10"/>
          <p:cNvSpPr/>
          <p:nvPr/>
        </p:nvSpPr>
        <p:spPr>
          <a:xfrm>
            <a:off x="731520" y="3370199"/>
            <a:ext cx="475488" cy="475488"/>
          </a:xfrm>
          <a:prstGeom prst="ellipse">
            <a:avLst/>
          </a:prstGeom>
          <a:solidFill>
            <a:srgbClr val="DD5F13"/>
          </a:solidFill>
          <a:ln w="12700">
            <a:solidFill>
              <a:srgbClr val="DD5F13"/>
            </a:solidFill>
            <a:prstDash val="solid"/>
          </a:ln>
        </p:spPr>
      </p:sp>
      <p:pic>
        <p:nvPicPr>
          <p:cNvPr id="15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859902" y="3498581"/>
            <a:ext cx="218724" cy="218724"/>
          </a:xfrm>
          <a:prstGeom prst="rect">
            <a:avLst/>
          </a:prstGeom>
        </p:spPr>
      </p:pic>
      <p:sp>
        <p:nvSpPr>
          <p:cNvPr id="16" name="Text 11"/>
          <p:cNvSpPr txBox="1"/>
          <p:nvPr/>
        </p:nvSpPr>
        <p:spPr>
          <a:xfrm>
            <a:off x="1371600" y="3234775"/>
            <a:ext cx="57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One of the few free channels</a:t>
            </a:r>
            <a:endParaRPr lang="en-US" sz="1400" dirty="0"/>
          </a:p>
        </p:txBody>
      </p:sp>
      <p:sp>
        <p:nvSpPr>
          <p:cNvPr id="17" name="Text 12"/>
          <p:cNvSpPr txBox="1"/>
          <p:nvPr/>
        </p:nvSpPr>
        <p:spPr>
          <a:xfrm>
            <a:off x="1371600" y="3527383"/>
            <a:ext cx="5760720" cy="5085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With cannabis restricted on most ad platforms, your Google Business Profile is one of the only free places to reach local customers at scale.</a:t>
            </a:r>
            <a:endParaRPr lang="en-US" sz="1100" dirty="0"/>
          </a:p>
        </p:txBody>
      </p:sp>
      <p:sp>
        <p:nvSpPr>
          <p:cNvPr id="18" name="Shape 13"/>
          <p:cNvSpPr/>
          <p:nvPr/>
        </p:nvSpPr>
        <p:spPr>
          <a:xfrm>
            <a:off x="548640" y="4200567"/>
            <a:ext cx="6766560" cy="965793"/>
          </a:xfrm>
          <a:prstGeom prst="roundRect">
            <a:avLst>
              <a:gd name="adj" fmla="val 11361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19" name="Shape 14"/>
          <p:cNvSpPr/>
          <p:nvPr/>
        </p:nvSpPr>
        <p:spPr>
          <a:xfrm>
            <a:off x="731520" y="4445720"/>
            <a:ext cx="475488" cy="475488"/>
          </a:xfrm>
          <a:prstGeom prst="ellipse">
            <a:avLst/>
          </a:prstGeom>
          <a:solidFill>
            <a:srgbClr val="DD5F13"/>
          </a:solidFill>
          <a:ln w="12700">
            <a:solidFill>
              <a:srgbClr val="DD5F13"/>
            </a:solidFill>
            <a:prstDash val="solid"/>
          </a:ln>
        </p:spPr>
      </p:sp>
      <p:pic>
        <p:nvPicPr>
          <p:cNvPr id="20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859902" y="4574101"/>
            <a:ext cx="218724" cy="218724"/>
          </a:xfrm>
          <a:prstGeom prst="rect">
            <a:avLst/>
          </a:prstGeom>
        </p:spPr>
      </p:pic>
      <p:sp>
        <p:nvSpPr>
          <p:cNvPr id="21" name="Text 15"/>
          <p:cNvSpPr txBox="1"/>
          <p:nvPr/>
        </p:nvSpPr>
        <p:spPr>
          <a:xfrm>
            <a:off x="1371600" y="4310295"/>
            <a:ext cx="576072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Apple Maps and 20+ directories</a:t>
            </a:r>
            <a:endParaRPr lang="en-US" sz="1400" dirty="0"/>
          </a:p>
        </p:txBody>
      </p:sp>
      <p:sp>
        <p:nvSpPr>
          <p:cNvPr id="22" name="Text 16"/>
          <p:cNvSpPr txBox="1"/>
          <p:nvPr/>
        </p:nvSpPr>
        <p:spPr>
          <a:xfrm>
            <a:off x="1371600" y="4602903"/>
            <a:ext cx="5760720" cy="508593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iPhone users search in Apple Maps, Siri and CarPlay. Apple Business Connect plus consistent name, address and phone across 20+ directories is what tells every map you're the real one.</a:t>
            </a:r>
            <a:endParaRPr lang="en-US" sz="1100" dirty="0"/>
          </a:p>
        </p:txBody>
      </p:sp>
      <p:sp>
        <p:nvSpPr>
          <p:cNvPr id="23" name="Shape 17"/>
          <p:cNvSpPr/>
          <p:nvPr/>
        </p:nvSpPr>
        <p:spPr>
          <a:xfrm>
            <a:off x="548640" y="5257800"/>
            <a:ext cx="6766560" cy="868680"/>
          </a:xfrm>
          <a:prstGeom prst="roundRect">
            <a:avLst>
              <a:gd name="adj" fmla="val 12632"/>
            </a:avLst>
          </a:prstGeom>
          <a:solidFill>
            <a:srgbClr val="FDE7D8"/>
          </a:solidFill>
          <a:ln w="6350">
            <a:solidFill>
              <a:srgbClr val="FDE7D8"/>
            </a:solidFill>
            <a:prstDash val="solid"/>
          </a:ln>
        </p:spPr>
      </p:sp>
      <p:sp>
        <p:nvSpPr>
          <p:cNvPr id="24" name="Text 18"/>
          <p:cNvSpPr txBox="1"/>
          <p:nvPr/>
        </p:nvSpPr>
        <p:spPr>
          <a:xfrm>
            <a:off x="822960" y="5349240"/>
            <a:ext cx="6217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saw on Green Valley Dispensary's Google</a:t>
            </a:r>
            <a:endParaRPr lang="en-US" sz="1200" dirty="0"/>
          </a:p>
        </p:txBody>
      </p:sp>
      <p:sp>
        <p:nvSpPr>
          <p:cNvPr id="25" name="Text 19"/>
          <p:cNvSpPr txBox="1"/>
          <p:nvPr/>
        </p:nvSpPr>
        <p:spPr>
          <a:xfrm>
            <a:off x="822960" y="5623560"/>
            <a:ext cx="6217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GBP not claimed / wrong hours; 0 posts in 6 months</a:t>
            </a:r>
            <a:endParaRPr lang="en-US" sz="1050" dirty="0"/>
          </a:p>
        </p:txBody>
      </p:sp>
      <p:sp>
        <p:nvSpPr>
          <p:cNvPr id="26" name="Shape 20"/>
          <p:cNvSpPr/>
          <p:nvPr/>
        </p:nvSpPr>
        <p:spPr>
          <a:xfrm>
            <a:off x="7589520" y="2049526"/>
            <a:ext cx="4053535" cy="4076954"/>
          </a:xfrm>
          <a:prstGeom prst="roundRect">
            <a:avLst>
              <a:gd name="adj" fmla="val 2707"/>
            </a:avLst>
          </a:prstGeom>
          <a:solidFill>
            <a:srgbClr val="DD5F13"/>
          </a:solidFill>
          <a:ln w="6350">
            <a:solidFill>
              <a:srgbClr val="DD5F13"/>
            </a:solidFill>
            <a:prstDash val="solid"/>
          </a:ln>
        </p:spPr>
      </p:sp>
      <p:sp>
        <p:nvSpPr>
          <p:cNvPr id="27" name="Text 21"/>
          <p:cNvSpPr txBox="1"/>
          <p:nvPr/>
        </p:nvSpPr>
        <p:spPr>
          <a:xfrm>
            <a:off x="7909560" y="2278126"/>
            <a:ext cx="341345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WHAT'S INCLUDED</a:t>
            </a:r>
            <a:endParaRPr lang="en-US" sz="1100" dirty="0"/>
          </a:p>
        </p:txBody>
      </p:sp>
      <p:sp>
        <p:nvSpPr>
          <p:cNvPr id="28" name="Text 22"/>
          <p:cNvSpPr txBox="1"/>
          <p:nvPr/>
        </p:nvSpPr>
        <p:spPr>
          <a:xfrm>
            <a:off x="7772400" y="2598166"/>
            <a:ext cx="3596335" cy="2248154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Profile</a:t>
            </a:r>
            <a:pPr indent="0" marL="0">
              <a:buNone/>
            </a:pPr>
            <a:r>
              <a:rPr lang="en-US" sz="100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Claim, cleanup, and optimization of your Google Business Profile</a:t>
            </a:r>
            <a:endParaRPr lang="en-US" sz="10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Posts, photos &amp; reviews</a:t>
            </a:r>
            <a:pPr indent="0" marL="0">
              <a:buNone/>
            </a:pPr>
            <a:r>
              <a:rPr lang="en-US" sz="100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Weekly Google Posts, photo refresh, Q&amp;A, and review responses</a:t>
            </a:r>
            <a:endParaRPr lang="en-US" sz="10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Ads</a:t>
            </a:r>
            <a:pPr indent="0" marL="0">
              <a:buNone/>
            </a:pPr>
            <a:r>
              <a:rPr lang="en-US" sz="100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Compliant campaigns where the market allows</a:t>
            </a:r>
            <a:endParaRPr lang="en-US" sz="10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Apple Maps &amp; 20+ directories</a:t>
            </a:r>
            <a:pPr indent="0" marL="0">
              <a:buNone/>
            </a:pPr>
            <a:r>
              <a:rPr lang="en-US" sz="100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Apple Business Connect (Apple Maps, Siri, CarPlay) plus NAP consistency across 20+ directories</a:t>
            </a:r>
            <a:endParaRPr lang="en-US" sz="1000" dirty="0"/>
          </a:p>
          <a:p>
            <a:pPr marL="152400" indent="-152400">
              <a:spcAft>
                <a:spcPts val="200"/>
              </a:spcAft>
              <a:buSzPct val="100000"/>
              <a:buChar char="•"/>
            </a:pPr>
            <a:r>
              <a:rPr lang="en-US" sz="1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Map-pack tracking</a:t>
            </a:r>
            <a:pPr indent="0" marL="0">
              <a:buNone/>
            </a:pPr>
            <a:r>
              <a:rPr lang="en-US" sz="100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— Ranking tracking with a Top 3 goal in 90 days</a:t>
            </a:r>
            <a:endParaRPr lang="en-US" sz="1000" dirty="0"/>
          </a:p>
        </p:txBody>
      </p:sp>
      <p:sp>
        <p:nvSpPr>
          <p:cNvPr id="29" name="Shape 23"/>
          <p:cNvSpPr/>
          <p:nvPr/>
        </p:nvSpPr>
        <p:spPr>
          <a:xfrm>
            <a:off x="7909560" y="4919472"/>
            <a:ext cx="3413455" cy="0"/>
          </a:xfrm>
          <a:prstGeom prst="line">
            <a:avLst/>
          </a:prstGeom>
          <a:noFill/>
          <a:ln w="9525">
            <a:solidFill>
              <a:srgbClr val="F0B48C"/>
            </a:solidFill>
            <a:prstDash val="solid"/>
          </a:ln>
        </p:spPr>
      </p:sp>
      <p:sp>
        <p:nvSpPr>
          <p:cNvPr id="30" name="Text 24"/>
          <p:cNvSpPr txBox="1"/>
          <p:nvPr/>
        </p:nvSpPr>
        <p:spPr>
          <a:xfrm>
            <a:off x="7909560" y="4983480"/>
            <a:ext cx="18288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2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Top 3</a:t>
            </a:r>
            <a:endParaRPr lang="en-US" sz="2200" dirty="0"/>
          </a:p>
        </p:txBody>
      </p:sp>
      <p:sp>
        <p:nvSpPr>
          <p:cNvPr id="31" name="Text 25"/>
          <p:cNvSpPr txBox="1"/>
          <p:nvPr/>
        </p:nvSpPr>
        <p:spPr>
          <a:xfrm>
            <a:off x="9784080" y="4983480"/>
            <a:ext cx="153893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Maps ranking goal within 90 days</a:t>
            </a:r>
            <a:endParaRPr lang="en-US" sz="1000" dirty="0"/>
          </a:p>
        </p:txBody>
      </p:sp>
      <p:sp>
        <p:nvSpPr>
          <p:cNvPr id="32" name="Shape 26"/>
          <p:cNvSpPr/>
          <p:nvPr/>
        </p:nvSpPr>
        <p:spPr>
          <a:xfrm>
            <a:off x="7909560" y="5532120"/>
            <a:ext cx="3413455" cy="310896"/>
          </a:xfrm>
          <a:prstGeom prst="roundRect">
            <a:avLst>
              <a:gd name="adj" fmla="val 50000"/>
            </a:avLst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33" name="Text 27"/>
          <p:cNvSpPr txBox="1"/>
          <p:nvPr/>
        </p:nvSpPr>
        <p:spPr>
          <a:xfrm>
            <a:off x="7909560" y="5532120"/>
            <a:ext cx="3413455" cy="310896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950" b="1" spc="100" kern="0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INCLUDED IN THIS PROPOSAL</a:t>
            </a:r>
            <a:endParaRPr lang="en-US" sz="95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 txBox="1"/>
          <p:nvPr/>
        </p:nvSpPr>
        <p:spPr>
          <a:xfrm>
            <a:off x="548640" y="64465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sparkscann.com</a:t>
            </a:r>
            <a:endParaRPr lang="en-US" sz="1000" dirty="0"/>
          </a:p>
        </p:txBody>
      </p:sp>
      <p:pic>
        <p:nvPicPr>
          <p:cNvPr id="3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05311" y="6355080"/>
            <a:ext cx="237744" cy="312104"/>
          </a:xfrm>
          <a:prstGeom prst="rect">
            <a:avLst/>
          </a:prstGeom>
        </p:spPr>
      </p:pic>
      <p:sp>
        <p:nvSpPr>
          <p:cNvPr id="4" name="Text 1"/>
          <p:cNvSpPr txBox="1"/>
          <p:nvPr/>
        </p:nvSpPr>
        <p:spPr>
          <a:xfrm>
            <a:off x="10362895" y="644652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13</a:t>
            </a:r>
            <a:endParaRPr lang="en-US" sz="1000" dirty="0"/>
          </a:p>
        </p:txBody>
      </p:sp>
      <p:sp>
        <p:nvSpPr>
          <p:cNvPr id="5" name="Text 2"/>
          <p:cNvSpPr txBox="1"/>
          <p:nvPr/>
        </p:nvSpPr>
        <p:spPr>
          <a:xfrm>
            <a:off x="548640" y="502920"/>
            <a:ext cx="11094415" cy="6311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DD5F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Your account team</a:t>
            </a:r>
            <a:endParaRPr lang="en-US" sz="3400" dirty="0"/>
          </a:p>
        </p:txBody>
      </p:sp>
      <p:sp>
        <p:nvSpPr>
          <p:cNvPr id="6" name="Text 3"/>
          <p:cNvSpPr txBox="1"/>
          <p:nvPr/>
        </p:nvSpPr>
        <p:spPr>
          <a:xfrm>
            <a:off x="548640" y="1225550"/>
            <a:ext cx="1109441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7A716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people who will run your listings.</a:t>
            </a:r>
            <a:endParaRPr lang="en-US" sz="1500" dirty="0"/>
          </a:p>
        </p:txBody>
      </p:sp>
      <p:sp>
        <p:nvSpPr>
          <p:cNvPr id="7" name="Shape 4"/>
          <p:cNvSpPr/>
          <p:nvPr/>
        </p:nvSpPr>
        <p:spPr>
          <a:xfrm>
            <a:off x="548640" y="2011680"/>
            <a:ext cx="3657600" cy="4114800"/>
          </a:xfrm>
          <a:prstGeom prst="roundRect">
            <a:avLst>
              <a:gd name="adj" fmla="val 3000"/>
            </a:avLst>
          </a:prstGeom>
          <a:solidFill>
            <a:srgbClr val="F8F3EF"/>
          </a:solidFill>
          <a:ln w="6350">
            <a:solidFill>
              <a:srgbClr val="F8F3EF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868680" y="2331720"/>
            <a:ext cx="1005840" cy="1005840"/>
          </a:xfrm>
          <a:prstGeom prst="ellipse">
            <a:avLst/>
          </a:prstGeom>
          <a:solidFill>
            <a:srgbClr val="DD5F13"/>
          </a:solidFill>
          <a:ln w="12700">
            <a:solidFill>
              <a:srgbClr val="DD5F13"/>
            </a:solidFill>
            <a:prstDash val="solid"/>
          </a:ln>
        </p:spPr>
      </p:sp>
      <p:sp>
        <p:nvSpPr>
          <p:cNvPr id="9" name="Text 6"/>
          <p:cNvSpPr txBox="1"/>
          <p:nvPr/>
        </p:nvSpPr>
        <p:spPr>
          <a:xfrm>
            <a:off x="868680" y="2331720"/>
            <a:ext cx="100584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KS</a:t>
            </a:r>
            <a:endParaRPr lang="en-US" sz="2800" dirty="0"/>
          </a:p>
        </p:txBody>
      </p:sp>
      <p:sp>
        <p:nvSpPr>
          <p:cNvPr id="10" name="Text 7"/>
          <p:cNvSpPr txBox="1"/>
          <p:nvPr/>
        </p:nvSpPr>
        <p:spPr>
          <a:xfrm>
            <a:off x="868680" y="3520440"/>
            <a:ext cx="301752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8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Kevin Sparks</a:t>
            </a:r>
            <a:endParaRPr lang="en-US" sz="1800" dirty="0"/>
          </a:p>
        </p:txBody>
      </p:sp>
      <p:sp>
        <p:nvSpPr>
          <p:cNvPr id="11" name="Text 8"/>
          <p:cNvSpPr txBox="1"/>
          <p:nvPr/>
        </p:nvSpPr>
        <p:spPr>
          <a:xfrm>
            <a:off x="868680" y="3931920"/>
            <a:ext cx="30175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DD5F1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Founder &amp; CEO</a:t>
            </a:r>
            <a:endParaRPr lang="en-US" sz="1200" dirty="0"/>
          </a:p>
        </p:txBody>
      </p:sp>
      <p:sp>
        <p:nvSpPr>
          <p:cNvPr id="12" name="Text 9"/>
          <p:cNvSpPr txBox="1"/>
          <p:nvPr/>
        </p:nvSpPr>
        <p:spPr>
          <a:xfrm>
            <a:off x="868680" y="4343400"/>
            <a:ext cx="3017520" cy="16459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2222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 years at Weedmaps working with the largest dispensaries in the world, then 3 years running listing management for Purple Lotus before founding Sparks in 2022.</a:t>
            </a:r>
            <a:endParaRPr lang="en-US" sz="1150" dirty="0"/>
          </a:p>
        </p:txBody>
      </p:sp>
      <p:sp>
        <p:nvSpPr>
          <p:cNvPr id="13" name="Shape 10"/>
          <p:cNvSpPr/>
          <p:nvPr/>
        </p:nvSpPr>
        <p:spPr>
          <a:xfrm>
            <a:off x="4663440" y="2011680"/>
            <a:ext cx="6979615" cy="4114800"/>
          </a:xfrm>
          <a:prstGeom prst="roundRect">
            <a:avLst>
              <a:gd name="adj" fmla="val 2667"/>
            </a:avLst>
          </a:prstGeom>
          <a:solidFill>
            <a:srgbClr val="DD5F13"/>
          </a:solidFill>
          <a:ln w="6350">
            <a:solidFill>
              <a:srgbClr val="DD5F13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4983480" y="2286000"/>
            <a:ext cx="6339535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b="1" spc="4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HOW WE WORK WITH YOU</a:t>
            </a:r>
            <a:endParaRPr lang="en-US" sz="1100" dirty="0"/>
          </a:p>
        </p:txBody>
      </p:sp>
      <p:sp>
        <p:nvSpPr>
          <p:cNvPr id="15" name="Text 12"/>
          <p:cNvSpPr txBox="1"/>
          <p:nvPr/>
        </p:nvSpPr>
        <p:spPr>
          <a:xfrm>
            <a:off x="4846320" y="2697480"/>
            <a:ext cx="6522415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Dedicated account lead and weekly performance report</a:t>
            </a:r>
            <a:endParaRPr lang="en-US" sz="13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Menu &amp; listing specialists working daily in your platforms</a:t>
            </a:r>
            <a:endParaRPr lang="en-US" sz="13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In-house creative for ads, deals and listing assets</a:t>
            </a:r>
            <a:endParaRPr lang="en-US" sz="13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Data team maintaining your POS-integrated dashboard</a:t>
            </a:r>
            <a:endParaRPr lang="en-US" sz="1300" dirty="0"/>
          </a:p>
          <a:p>
            <a:pPr marL="177800" indent="-177800">
              <a:spcAft>
                <a:spcPts val="500"/>
              </a:spcAft>
              <a:buSzPct val="100000"/>
              <a:buChar char="•"/>
            </a:pPr>
            <a:r>
              <a:rPr lang="en-US" sz="13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Direct line to leadership — no ticket queues</a:t>
            </a:r>
            <a:endParaRPr lang="en-US" sz="13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DD5F13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292608"/>
            <a:ext cx="11094415" cy="0"/>
          </a:xfrm>
          <a:prstGeom prst="line">
            <a:avLst/>
          </a:prstGeom>
          <a:noFill/>
          <a:ln w="12700">
            <a:solidFill>
              <a:srgbClr val="FFFFFF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548640" y="6291072"/>
            <a:ext cx="11094415" cy="0"/>
          </a:xfrm>
          <a:prstGeom prst="line">
            <a:avLst/>
          </a:prstGeom>
          <a:noFill/>
          <a:ln w="12700">
            <a:solidFill>
              <a:srgbClr val="FFFFFF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548640" y="6446520"/>
            <a:ext cx="5486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sparkscann.com</a:t>
            </a:r>
            <a:endParaRPr lang="en-US" sz="1000" dirty="0"/>
          </a:p>
        </p:txBody>
      </p:sp>
      <p:pic>
        <p:nvPicPr>
          <p:cNvPr id="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405311" y="6355080"/>
            <a:ext cx="237744" cy="312104"/>
          </a:xfrm>
          <a:prstGeom prst="rect">
            <a:avLst/>
          </a:prstGeom>
        </p:spPr>
      </p:pic>
      <p:sp>
        <p:nvSpPr>
          <p:cNvPr id="6" name="Text 3"/>
          <p:cNvSpPr txBox="1"/>
          <p:nvPr/>
        </p:nvSpPr>
        <p:spPr>
          <a:xfrm>
            <a:off x="10362895" y="6446520"/>
            <a:ext cx="914400" cy="2286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14</a:t>
            </a:r>
            <a:endParaRPr lang="en-US" sz="1000" dirty="0"/>
          </a:p>
        </p:txBody>
      </p:sp>
      <p:sp>
        <p:nvSpPr>
          <p:cNvPr id="7" name="Text 4"/>
          <p:cNvSpPr txBox="1"/>
          <p:nvPr/>
        </p:nvSpPr>
        <p:spPr>
          <a:xfrm>
            <a:off x="548640" y="502920"/>
            <a:ext cx="11094415" cy="63119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3400" b="1" dirty="0">
                <a:solidFill>
                  <a:srgbClr val="FFFFFF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Next steps</a:t>
            </a:r>
            <a:endParaRPr lang="en-US" sz="3400" dirty="0"/>
          </a:p>
        </p:txBody>
      </p:sp>
      <p:sp>
        <p:nvSpPr>
          <p:cNvPr id="8" name="Text 5"/>
          <p:cNvSpPr txBox="1"/>
          <p:nvPr/>
        </p:nvSpPr>
        <p:spPr>
          <a:xfrm>
            <a:off x="548640" y="1225550"/>
            <a:ext cx="11094415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 90-day Weedmaps launch plan for Green Valley Dispensary.</a:t>
            </a:r>
            <a:endParaRPr lang="en-US" sz="1500" dirty="0"/>
          </a:p>
        </p:txBody>
      </p:sp>
      <p:sp>
        <p:nvSpPr>
          <p:cNvPr id="9" name="Shape 6"/>
          <p:cNvSpPr/>
          <p:nvPr/>
        </p:nvSpPr>
        <p:spPr>
          <a:xfrm>
            <a:off x="548640" y="2240280"/>
            <a:ext cx="502920" cy="5029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0" name="Text 7"/>
          <p:cNvSpPr txBox="1"/>
          <p:nvPr/>
        </p:nvSpPr>
        <p:spPr>
          <a:xfrm>
            <a:off x="548640" y="224028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D5F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1</a:t>
            </a:r>
            <a:endParaRPr lang="en-US" sz="1600" dirty="0"/>
          </a:p>
        </p:txBody>
      </p:sp>
      <p:sp>
        <p:nvSpPr>
          <p:cNvPr id="11" name="Text 8"/>
          <p:cNvSpPr txBox="1"/>
          <p:nvPr/>
        </p:nvSpPr>
        <p:spPr>
          <a:xfrm>
            <a:off x="1280160" y="2148840"/>
            <a:ext cx="5943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Days 1–30</a:t>
            </a:r>
            <a:endParaRPr lang="en-US" sz="1500" dirty="0"/>
          </a:p>
        </p:txBody>
      </p:sp>
      <p:sp>
        <p:nvSpPr>
          <p:cNvPr id="12" name="Text 9"/>
          <p:cNvSpPr txBox="1"/>
          <p:nvPr/>
        </p:nvSpPr>
        <p:spPr>
          <a:xfrm>
            <a:off x="1280160" y="2514600"/>
            <a:ext cx="5943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Full audit, strategy, listing + menu clean-up, campaigns live</a:t>
            </a:r>
            <a:endParaRPr lang="en-US" sz="1200" dirty="0"/>
          </a:p>
        </p:txBody>
      </p:sp>
      <p:sp>
        <p:nvSpPr>
          <p:cNvPr id="13" name="Shape 10"/>
          <p:cNvSpPr/>
          <p:nvPr/>
        </p:nvSpPr>
        <p:spPr>
          <a:xfrm>
            <a:off x="548640" y="3200400"/>
            <a:ext cx="502920" cy="5029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4" name="Text 11"/>
          <p:cNvSpPr txBox="1"/>
          <p:nvPr/>
        </p:nvSpPr>
        <p:spPr>
          <a:xfrm>
            <a:off x="548640" y="320040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D5F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2</a:t>
            </a:r>
            <a:endParaRPr lang="en-US" sz="1600" dirty="0"/>
          </a:p>
        </p:txBody>
      </p:sp>
      <p:sp>
        <p:nvSpPr>
          <p:cNvPr id="15" name="Text 12"/>
          <p:cNvSpPr txBox="1"/>
          <p:nvPr/>
        </p:nvSpPr>
        <p:spPr>
          <a:xfrm>
            <a:off x="1280160" y="3108960"/>
            <a:ext cx="5943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Days 31–60</a:t>
            </a:r>
            <a:endParaRPr lang="en-US" sz="1500" dirty="0"/>
          </a:p>
        </p:txBody>
      </p:sp>
      <p:sp>
        <p:nvSpPr>
          <p:cNvPr id="16" name="Text 13"/>
          <p:cNvSpPr txBox="1"/>
          <p:nvPr/>
        </p:nvSpPr>
        <p:spPr>
          <a:xfrm>
            <a:off x="1280160" y="3474720"/>
            <a:ext cx="5943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Bid &amp; deal optimization, review program, dashboard attribution</a:t>
            </a:r>
            <a:endParaRPr lang="en-US" sz="1200" dirty="0"/>
          </a:p>
        </p:txBody>
      </p:sp>
      <p:sp>
        <p:nvSpPr>
          <p:cNvPr id="17" name="Shape 14"/>
          <p:cNvSpPr/>
          <p:nvPr/>
        </p:nvSpPr>
        <p:spPr>
          <a:xfrm>
            <a:off x="548640" y="4160520"/>
            <a:ext cx="502920" cy="502920"/>
          </a:xfrm>
          <a:prstGeom prst="ellipse">
            <a:avLst/>
          </a:prstGeom>
          <a:solidFill>
            <a:srgbClr val="FFFFFF"/>
          </a:solidFill>
          <a:ln w="12700">
            <a:solidFill>
              <a:srgbClr val="FFFFFF"/>
            </a:solidFill>
            <a:prstDash val="solid"/>
          </a:ln>
        </p:spPr>
      </p:sp>
      <p:sp>
        <p:nvSpPr>
          <p:cNvPr id="18" name="Text 15"/>
          <p:cNvSpPr txBox="1"/>
          <p:nvPr/>
        </p:nvSpPr>
        <p:spPr>
          <a:xfrm>
            <a:off x="548640" y="4160520"/>
            <a:ext cx="50292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600" b="1" dirty="0">
                <a:solidFill>
                  <a:srgbClr val="DD5F13"/>
                </a:solidFill>
                <a:latin typeface="Arial" pitchFamily="34" charset="0"/>
                <a:ea typeface="Arial" pitchFamily="34" charset="-122"/>
                <a:cs typeface="Arial" pitchFamily="34" charset="-120"/>
              </a:rPr>
              <a:t>3</a:t>
            </a:r>
            <a:endParaRPr lang="en-US" sz="1600" dirty="0"/>
          </a:p>
        </p:txBody>
      </p:sp>
      <p:sp>
        <p:nvSpPr>
          <p:cNvPr id="19" name="Text 16"/>
          <p:cNvSpPr txBox="1"/>
          <p:nvPr/>
        </p:nvSpPr>
        <p:spPr>
          <a:xfrm>
            <a:off x="1280160" y="4069080"/>
            <a:ext cx="594360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Days 61–90</a:t>
            </a:r>
            <a:endParaRPr lang="en-US" sz="1500" dirty="0"/>
          </a:p>
        </p:txBody>
      </p:sp>
      <p:sp>
        <p:nvSpPr>
          <p:cNvPr id="20" name="Text 17"/>
          <p:cNvSpPr txBox="1"/>
          <p:nvPr/>
        </p:nvSpPr>
        <p:spPr>
          <a:xfrm>
            <a:off x="1280160" y="4434840"/>
            <a:ext cx="594360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dirty="0">
                <a:solidFill>
                  <a:srgbClr val="FFE3D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Scale winners, Maps 3-pack push, quarterly plan</a:t>
            </a:r>
            <a:endParaRPr lang="en-US" sz="1200" dirty="0"/>
          </a:p>
        </p:txBody>
      </p:sp>
      <p:sp>
        <p:nvSpPr>
          <p:cNvPr id="21" name="Text 18"/>
          <p:cNvSpPr txBox="1"/>
          <p:nvPr/>
        </p:nvSpPr>
        <p:spPr>
          <a:xfrm>
            <a:off x="548640" y="5120640"/>
            <a:ext cx="667512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Results in 30 days or your money back.</a:t>
            </a:r>
            <a:endParaRPr lang="en-US" sz="1400" dirty="0"/>
          </a:p>
        </p:txBody>
      </p:sp>
      <p:pic>
        <p:nvPicPr>
          <p:cNvPr id="2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48640" y="5623560"/>
            <a:ext cx="914400" cy="611278"/>
          </a:xfrm>
          <a:prstGeom prst="rect">
            <a:avLst/>
          </a:prstGeom>
        </p:spPr>
      </p:pic>
      <p:sp>
        <p:nvSpPr>
          <p:cNvPr id="23" name="Shape 19"/>
          <p:cNvSpPr/>
          <p:nvPr/>
        </p:nvSpPr>
        <p:spPr>
          <a:xfrm>
            <a:off x="7589520" y="2148840"/>
            <a:ext cx="4053535" cy="3840480"/>
          </a:xfrm>
          <a:prstGeom prst="roundRect">
            <a:avLst>
              <a:gd name="adj" fmla="val 2857"/>
            </a:avLst>
          </a:prstGeom>
          <a:solidFill>
            <a:srgbClr val="B84C0C"/>
          </a:solidFill>
          <a:ln w="6350">
            <a:solidFill>
              <a:srgbClr val="B84C0C"/>
            </a:solidFill>
            <a:prstDash val="solid"/>
          </a:ln>
        </p:spPr>
      </p:sp>
      <p:sp>
        <p:nvSpPr>
          <p:cNvPr id="24" name="Text 20"/>
          <p:cNvSpPr txBox="1"/>
          <p:nvPr/>
        </p:nvSpPr>
        <p:spPr>
          <a:xfrm>
            <a:off x="7909560" y="2377440"/>
            <a:ext cx="268193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050" b="1" spc="300" kern="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INVESTMENT SUMMARY</a:t>
            </a:r>
            <a:endParaRPr lang="en-US" sz="1050" dirty="0"/>
          </a:p>
        </p:txBody>
      </p:sp>
      <p:sp>
        <p:nvSpPr>
          <p:cNvPr id="25" name="Text 21"/>
          <p:cNvSpPr txBox="1"/>
          <p:nvPr/>
        </p:nvSpPr>
        <p:spPr>
          <a:xfrm>
            <a:off x="7909560" y="2743200"/>
            <a:ext cx="2133295" cy="350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Launch</a:t>
            </a:r>
            <a:endParaRPr lang="en-US" sz="1200" dirty="0"/>
          </a:p>
        </p:txBody>
      </p:sp>
      <p:sp>
        <p:nvSpPr>
          <p:cNvPr id="26" name="Text 22"/>
          <p:cNvSpPr txBox="1"/>
          <p:nvPr/>
        </p:nvSpPr>
        <p:spPr>
          <a:xfrm>
            <a:off x="9859975" y="2743200"/>
            <a:ext cx="1463040" cy="350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</a:t>
            </a:r>
            <a:endParaRPr lang="en-US" sz="1200" dirty="0"/>
          </a:p>
        </p:txBody>
      </p:sp>
      <p:sp>
        <p:nvSpPr>
          <p:cNvPr id="27" name="Text 23"/>
          <p:cNvSpPr txBox="1"/>
          <p:nvPr/>
        </p:nvSpPr>
        <p:spPr>
          <a:xfrm>
            <a:off x="7909560" y="3093720"/>
            <a:ext cx="2133295" cy="350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Growth</a:t>
            </a:r>
            <a:endParaRPr lang="en-US" sz="1200" dirty="0"/>
          </a:p>
        </p:txBody>
      </p:sp>
      <p:sp>
        <p:nvSpPr>
          <p:cNvPr id="28" name="Text 24"/>
          <p:cNvSpPr txBox="1"/>
          <p:nvPr/>
        </p:nvSpPr>
        <p:spPr>
          <a:xfrm>
            <a:off x="9859975" y="3093720"/>
            <a:ext cx="1463040" cy="350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</a:t>
            </a:r>
            <a:endParaRPr lang="en-US" sz="1200" dirty="0"/>
          </a:p>
        </p:txBody>
      </p:sp>
      <p:sp>
        <p:nvSpPr>
          <p:cNvPr id="29" name="Text 25"/>
          <p:cNvSpPr txBox="1"/>
          <p:nvPr/>
        </p:nvSpPr>
        <p:spPr>
          <a:xfrm>
            <a:off x="7909560" y="3444240"/>
            <a:ext cx="2133295" cy="350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Dominate</a:t>
            </a:r>
            <a:endParaRPr lang="en-US" sz="1200" dirty="0"/>
          </a:p>
        </p:txBody>
      </p:sp>
      <p:sp>
        <p:nvSpPr>
          <p:cNvPr id="30" name="Text 26"/>
          <p:cNvSpPr txBox="1"/>
          <p:nvPr/>
        </p:nvSpPr>
        <p:spPr>
          <a:xfrm>
            <a:off x="9859975" y="3444240"/>
            <a:ext cx="1463040" cy="350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Custom</a:t>
            </a:r>
            <a:endParaRPr lang="en-US" sz="1200" dirty="0"/>
          </a:p>
        </p:txBody>
      </p:sp>
      <p:sp>
        <p:nvSpPr>
          <p:cNvPr id="31" name="Text 27"/>
          <p:cNvSpPr txBox="1"/>
          <p:nvPr/>
        </p:nvSpPr>
        <p:spPr>
          <a:xfrm>
            <a:off x="7909560" y="3794760"/>
            <a:ext cx="2133295" cy="350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Leafly Management</a:t>
            </a:r>
            <a:endParaRPr lang="en-US" sz="1200" dirty="0"/>
          </a:p>
        </p:txBody>
      </p:sp>
      <p:sp>
        <p:nvSpPr>
          <p:cNvPr id="32" name="Text 28"/>
          <p:cNvSpPr txBox="1"/>
          <p:nvPr/>
        </p:nvSpPr>
        <p:spPr>
          <a:xfrm>
            <a:off x="9859975" y="3794760"/>
            <a:ext cx="1463040" cy="350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Included</a:t>
            </a:r>
            <a:endParaRPr lang="en-US" sz="1200" dirty="0"/>
          </a:p>
        </p:txBody>
      </p:sp>
      <p:sp>
        <p:nvSpPr>
          <p:cNvPr id="33" name="Text 29"/>
          <p:cNvSpPr txBox="1"/>
          <p:nvPr/>
        </p:nvSpPr>
        <p:spPr>
          <a:xfrm>
            <a:off x="7909560" y="4145280"/>
            <a:ext cx="2133295" cy="350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Yelp Management</a:t>
            </a:r>
            <a:endParaRPr lang="en-US" sz="1200" dirty="0"/>
          </a:p>
        </p:txBody>
      </p:sp>
      <p:sp>
        <p:nvSpPr>
          <p:cNvPr id="34" name="Text 30"/>
          <p:cNvSpPr txBox="1"/>
          <p:nvPr/>
        </p:nvSpPr>
        <p:spPr>
          <a:xfrm>
            <a:off x="9859975" y="4145280"/>
            <a:ext cx="1463040" cy="350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Included</a:t>
            </a:r>
            <a:endParaRPr lang="en-US" sz="1200" dirty="0"/>
          </a:p>
        </p:txBody>
      </p:sp>
      <p:sp>
        <p:nvSpPr>
          <p:cNvPr id="35" name="Text 31"/>
          <p:cNvSpPr txBox="1"/>
          <p:nvPr/>
        </p:nvSpPr>
        <p:spPr>
          <a:xfrm>
            <a:off x="7909560" y="4495800"/>
            <a:ext cx="2133295" cy="350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2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Google &amp; Apple Maps Management</a:t>
            </a:r>
            <a:endParaRPr lang="en-US" sz="1200" dirty="0"/>
          </a:p>
        </p:txBody>
      </p:sp>
      <p:sp>
        <p:nvSpPr>
          <p:cNvPr id="36" name="Text 32"/>
          <p:cNvSpPr txBox="1"/>
          <p:nvPr/>
        </p:nvSpPr>
        <p:spPr>
          <a:xfrm>
            <a:off x="9859975" y="4495800"/>
            <a:ext cx="1463040" cy="350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Included</a:t>
            </a:r>
            <a:endParaRPr lang="en-US" sz="1200" dirty="0"/>
          </a:p>
        </p:txBody>
      </p:sp>
      <p:sp>
        <p:nvSpPr>
          <p:cNvPr id="37" name="Text 33"/>
          <p:cNvSpPr txBox="1"/>
          <p:nvPr/>
        </p:nvSpPr>
        <p:spPr>
          <a:xfrm>
            <a:off x="7909560" y="5074920"/>
            <a:ext cx="341345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Ready when you are.</a:t>
            </a:r>
            <a:endParaRPr lang="en-US" sz="1600" dirty="0"/>
          </a:p>
        </p:txBody>
      </p:sp>
      <p:sp>
        <p:nvSpPr>
          <p:cNvPr id="38" name="Text 34"/>
          <p:cNvSpPr txBox="1"/>
          <p:nvPr/>
        </p:nvSpPr>
        <p:spPr>
          <a:xfrm>
            <a:off x="7909560" y="5440680"/>
            <a:ext cx="3413455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Kevin Sparks, Founder &amp; CEO  ·  kevin@sparkscann.com</a:t>
            </a:r>
            <a:endParaRPr lang="en-US" sz="11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14</Slides>
  <Notes>14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14</vt:i4>
      </vt:variant>
    </vt:vector>
  </HeadingPairs>
  <TitlesOfParts>
    <vt:vector size="17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</vt:vector>
  </TitlesOfParts>
  <Company>Sparks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Sparks × Green Valley Dispensary</dc:title>
  <dc:subject>PptxGenJS Presentation</dc:subject>
  <dc:creator>Sparks</dc:creator>
  <cp:lastModifiedBy>Sparks</cp:lastModifiedBy>
  <cp:revision>1</cp:revision>
  <dcterms:created xsi:type="dcterms:W3CDTF">2026-09-14T19:43:07Z</dcterms:created>
  <dcterms:modified xsi:type="dcterms:W3CDTF">2026-09-14T19:43:07Z</dcterms:modified>
</cp:coreProperties>
</file>