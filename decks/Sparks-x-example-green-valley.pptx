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one-liner. Green Valley Dispensary is a dispensary in Sacramento, CA. Goal of this deck: show we've already looked at their listings, we know the platforms from the inside, and we can commit to results in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Airbnb's problem slide: three plain-language pains. Ours: four. Tie each one to something you saw on the prospect's listings (the audit slide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Airbnb's 'Book rooms with locals, rather than hotels' — one sentence the prospect can repeat back. Don't move on until they nod.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the channels before the pitch. Ask which platform they think drives the most orders — most owners are guessing, which is the opening for the audit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Airbnb 'market size' slide turned into their market. Read it like a doctor reading a chart — calm, specific, no blame. Each finding maps to a service on the scope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slide. Emphasize that these are operating routines with weekly cadence, not a one-time setup. Menu + Data are the two nobody else offers with POS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heart of the deck. Every one of the six standard services is shown, included or not, so the prospect sees the whole menu. Walk the included rows and tie each to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slide. Only cite numbers published on sparkscann.com. If asked how ROAS is measured: on-platform conversions plus POS-integrated attribution in the Sparks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case study closest to the prospect's situation (multi-location, delivery, new market). Purple Lotus is the 'we've done this for a decade-old account' story; Nuna Harvest is the 'new market, fast growth'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slide. Be fair to the in-house option — it works if they have a full-time person who has bid on Weedmaps before. Most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reasons to pick us over the options on the previous slide. The founder story is the credibility anchor; the dashboard is the differentiator no competitor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team members in brand/config.yml. Headshots can be dropped in later by replacing the initials circles in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slide. Add logos here later if desired — the layout leaves room inside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restate the 30-day guarantee, propose the start date, and ask for platform access (Weedmaps, Leafly, Yelp, GBP admin) to begin the audit. Term: Month-to-month after 90-day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a:t>
            </a:r>
            <a:endParaRPr lang="en-US" sz="1000" dirty="0"/>
          </a:p>
        </p:txBody>
      </p:sp>
      <p:sp>
        <p:nvSpPr>
          <p:cNvPr id="4" name="Shape 2"/>
          <p:cNvSpPr/>
          <p:nvPr/>
        </p:nvSpPr>
        <p:spPr>
          <a:xfrm>
            <a:off x="8412480" y="-1463040"/>
            <a:ext cx="5486400" cy="5486400"/>
          </a:xfrm>
          <a:prstGeom prst="ellipse">
            <a:avLst/>
          </a:prstGeom>
          <a:solidFill>
            <a:srgbClr val="1F6F43"/>
          </a:solidFill>
          <a:ln w="12700">
            <a:solidFill>
              <a:srgbClr val="1F6F43"/>
            </a:solidFill>
            <a:prstDash val="solid"/>
          </a:ln>
        </p:spPr>
      </p:sp>
      <p:sp>
        <p:nvSpPr>
          <p:cNvPr id="5" name="Shape 3"/>
          <p:cNvSpPr/>
          <p:nvPr/>
        </p:nvSpPr>
        <p:spPr>
          <a:xfrm>
            <a:off x="10241280" y="2377440"/>
            <a:ext cx="2926080" cy="2926080"/>
          </a:xfrm>
          <a:prstGeom prst="ellipse">
            <a:avLst/>
          </a:prstGeom>
          <a:solidFill>
            <a:srgbClr val="C8F04A"/>
          </a:solidFill>
          <a:ln w="12700">
            <a:solidFill>
              <a:srgbClr val="C8F04A"/>
            </a:solidFill>
            <a:prstDash val="solid"/>
          </a:ln>
        </p:spPr>
      </p:sp>
      <p:sp>
        <p:nvSpPr>
          <p:cNvPr id="6" name="Text 4"/>
          <p:cNvSpPr txBox="1"/>
          <p:nvPr/>
        </p:nvSpPr>
        <p:spPr>
          <a:xfrm>
            <a:off x="548640" y="640080"/>
            <a:ext cx="5486400" cy="365760"/>
          </a:xfrm>
          <a:prstGeom prst="rect">
            <a:avLst/>
          </a:prstGeom>
          <a:noFill/>
          <a:ln/>
        </p:spPr>
        <p:txBody>
          <a:bodyPr wrap="square" lIns="0" tIns="0" rIns="0" bIns="0" rtlCol="0" anchor="t"/>
          <a:lstStyle/>
          <a:p>
            <a:pPr indent="0" marL="0">
              <a:buNone/>
            </a:pPr>
            <a:r>
              <a:rPr lang="en-US" sz="1400" b="1" spc="600" kern="0" dirty="0">
                <a:solidFill>
                  <a:srgbClr val="C8F04A"/>
                </a:solidFill>
                <a:latin typeface="Calibri" pitchFamily="34" charset="0"/>
                <a:ea typeface="Calibri" pitchFamily="34" charset="-122"/>
                <a:cs typeface="Calibri" pitchFamily="34" charset="-120"/>
              </a:rPr>
              <a:t>SPARKS</a:t>
            </a:r>
            <a:endParaRPr lang="en-US" sz="1400" dirty="0"/>
          </a:p>
        </p:txBody>
      </p:sp>
      <p:sp>
        <p:nvSpPr>
          <p:cNvPr id="7" name="Text 5"/>
          <p:cNvSpPr txBox="1"/>
          <p:nvPr/>
        </p:nvSpPr>
        <p:spPr>
          <a:xfrm>
            <a:off x="548640" y="1851660"/>
            <a:ext cx="7863840" cy="16002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Sparks × Green Valley Dispensary</a:t>
            </a:r>
            <a:endParaRPr lang="en-US" sz="4800" dirty="0"/>
          </a:p>
        </p:txBody>
      </p:sp>
      <p:sp>
        <p:nvSpPr>
          <p:cNvPr id="8" name="Text 6"/>
          <p:cNvSpPr txBox="1"/>
          <p:nvPr/>
        </p:nvSpPr>
        <p:spPr>
          <a:xfrm>
            <a:off x="548640" y="3634740"/>
            <a:ext cx="6949440" cy="1005840"/>
          </a:xfrm>
          <a:prstGeom prst="rect">
            <a:avLst/>
          </a:prstGeom>
          <a:noFill/>
          <a:ln/>
        </p:spPr>
        <p:txBody>
          <a:bodyPr wrap="square" lIns="0" tIns="0" rIns="0" bIns="0" rtlCol="0" anchor="t"/>
          <a:lstStyle/>
          <a:p>
            <a:pPr indent="0" marL="0">
              <a:buNone/>
            </a:pPr>
            <a:r>
              <a:rPr lang="en-US" sz="1800" dirty="0">
                <a:solidFill>
                  <a:srgbClr val="E6EFE9"/>
                </a:solidFill>
                <a:latin typeface="Calibri" pitchFamily="34" charset="0"/>
                <a:ea typeface="Calibri" pitchFamily="34" charset="-122"/>
                <a:cs typeface="Calibri" pitchFamily="34" charset="-120"/>
              </a:rPr>
              <a:t>We manage your Weedmaps, Leafly, Yelp, and Google listings and ads so your dispensary gets found, clicked, and ordered from.</a:t>
            </a:r>
            <a:endParaRPr lang="en-US" sz="1800" dirty="0"/>
          </a:p>
        </p:txBody>
      </p:sp>
      <p:sp>
        <p:nvSpPr>
          <p:cNvPr id="9" name="Text 7"/>
          <p:cNvSpPr txBox="1"/>
          <p:nvPr/>
        </p:nvSpPr>
        <p:spPr>
          <a:xfrm>
            <a:off x="548640" y="4869180"/>
            <a:ext cx="8229600" cy="365760"/>
          </a:xfrm>
          <a:prstGeom prst="rect">
            <a:avLst/>
          </a:prstGeom>
          <a:noFill/>
          <a:ln/>
        </p:spPr>
        <p:txBody>
          <a:bodyPr wrap="square" lIns="0" tIns="0" rIns="0" bIns="0" rtlCol="0" anchor="t"/>
          <a:lstStyle/>
          <a:p>
            <a:pPr indent="0" marL="0">
              <a:buNone/>
            </a:pPr>
            <a:r>
              <a:rPr lang="en-US" sz="1200" dirty="0">
                <a:solidFill>
                  <a:srgbClr val="C8F04A"/>
                </a:solidFill>
                <a:latin typeface="Calibri" pitchFamily="34" charset="0"/>
                <a:ea typeface="Calibri" pitchFamily="34" charset="-122"/>
                <a:cs typeface="Calibri" pitchFamily="34" charset="-120"/>
              </a:rPr>
              <a:t>Sacramento, CA   ·   September 14, 2026   ·   Prepared for Jordan Lee, Owner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2</a:t>
            </a:r>
            <a:endParaRPr lang="en-US" sz="1000" dirty="0"/>
          </a:p>
        </p:txBody>
      </p:sp>
      <p:sp>
        <p:nvSpPr>
          <p:cNvPr id="4" name="Text 2"/>
          <p:cNvSpPr txBox="1"/>
          <p:nvPr/>
        </p:nvSpPr>
        <p:spPr>
          <a:xfrm>
            <a:off x="548640" y="502920"/>
            <a:ext cx="11094415" cy="599440"/>
          </a:xfrm>
          <a:prstGeom prst="rect">
            <a:avLst/>
          </a:prstGeom>
          <a:noFill/>
          <a:ln/>
        </p:spPr>
        <p:txBody>
          <a:bodyPr wrap="square" lIns="0" tIns="0" rIns="0" bIns="0" rtlCol="0" anchor="t"/>
          <a:lstStyle/>
          <a:p>
            <a:pPr indent="0" marL="0">
              <a:buNone/>
            </a:pPr>
            <a:r>
              <a:rPr lang="en-US" sz="3200" b="1" dirty="0">
                <a:solidFill>
                  <a:srgbClr val="0F2A1D"/>
                </a:solidFill>
                <a:latin typeface="Cambria" pitchFamily="34" charset="0"/>
                <a:ea typeface="Cambria" pitchFamily="34" charset="-122"/>
                <a:cs typeface="Cambria" pitchFamily="34" charset="-120"/>
              </a:rPr>
              <a:t>Cannabis can't market like everyone else</a:t>
            </a:r>
            <a:endParaRPr lang="en-US" sz="3200" dirty="0"/>
          </a:p>
        </p:txBody>
      </p:sp>
      <p:sp>
        <p:nvSpPr>
          <p:cNvPr id="5" name="Text 3"/>
          <p:cNvSpPr txBox="1"/>
          <p:nvPr/>
        </p:nvSpPr>
        <p:spPr>
          <a:xfrm>
            <a:off x="548640" y="12120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Ads are restricted, so the customer journey lives on four pay-to-play platforms — and most listings are left on autopilot.</a:t>
            </a:r>
            <a:endParaRPr lang="en-US" sz="1600" dirty="0"/>
          </a:p>
        </p:txBody>
      </p:sp>
      <p:sp>
        <p:nvSpPr>
          <p:cNvPr id="6" name="Shape 4"/>
          <p:cNvSpPr/>
          <p:nvPr/>
        </p:nvSpPr>
        <p:spPr>
          <a:xfrm>
            <a:off x="548640" y="2057400"/>
            <a:ext cx="2567864" cy="3566160"/>
          </a:xfrm>
          <a:prstGeom prst="roundRect">
            <a:avLst>
              <a:gd name="adj" fmla="val 4273"/>
            </a:avLst>
          </a:prstGeom>
          <a:solidFill>
            <a:srgbClr val="F4F7F2"/>
          </a:solidFill>
          <a:ln w="6350">
            <a:solidFill>
              <a:srgbClr val="F4F7F2"/>
            </a:solidFill>
            <a:prstDash val="solid"/>
          </a:ln>
        </p:spPr>
      </p:sp>
      <p:sp>
        <p:nvSpPr>
          <p:cNvPr id="7" name="Shape 5"/>
          <p:cNvSpPr/>
          <p:nvPr/>
        </p:nvSpPr>
        <p:spPr>
          <a:xfrm>
            <a:off x="822960" y="2331720"/>
            <a:ext cx="594360" cy="59436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83437" y="2492197"/>
            <a:ext cx="273406" cy="273406"/>
          </a:xfrm>
          <a:prstGeom prst="rect">
            <a:avLst/>
          </a:prstGeom>
        </p:spPr>
      </p:pic>
      <p:sp>
        <p:nvSpPr>
          <p:cNvPr id="9" name="Text 6"/>
          <p:cNvSpPr txBox="1"/>
          <p:nvPr/>
        </p:nvSpPr>
        <p:spPr>
          <a:xfrm>
            <a:off x="822960"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Restricted advertising</a:t>
            </a:r>
            <a:endParaRPr lang="en-US" sz="1700" dirty="0"/>
          </a:p>
        </p:txBody>
      </p:sp>
      <p:sp>
        <p:nvSpPr>
          <p:cNvPr id="10" name="Text 7"/>
          <p:cNvSpPr txBox="1"/>
          <p:nvPr/>
        </p:nvSpPr>
        <p:spPr>
          <a:xfrm>
            <a:off x="822960"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Google Ads, Meta and most networks block cannabis. Discovery happens on Weedmaps, Leafly, Yelp and Google Maps.</a:t>
            </a:r>
            <a:endParaRPr lang="en-US" sz="1300" dirty="0"/>
          </a:p>
        </p:txBody>
      </p:sp>
      <p:sp>
        <p:nvSpPr>
          <p:cNvPr id="11" name="Shape 8"/>
          <p:cNvSpPr/>
          <p:nvPr/>
        </p:nvSpPr>
        <p:spPr>
          <a:xfrm>
            <a:off x="3390824" y="2057400"/>
            <a:ext cx="2567864" cy="3566160"/>
          </a:xfrm>
          <a:prstGeom prst="roundRect">
            <a:avLst>
              <a:gd name="adj" fmla="val 4273"/>
            </a:avLst>
          </a:prstGeom>
          <a:solidFill>
            <a:srgbClr val="F4F7F2"/>
          </a:solidFill>
          <a:ln w="6350">
            <a:solidFill>
              <a:srgbClr val="F4F7F2"/>
            </a:solidFill>
            <a:prstDash val="solid"/>
          </a:ln>
        </p:spPr>
      </p:sp>
      <p:sp>
        <p:nvSpPr>
          <p:cNvPr id="12" name="Shape 9"/>
          <p:cNvSpPr/>
          <p:nvPr/>
        </p:nvSpPr>
        <p:spPr>
          <a:xfrm>
            <a:off x="3665144" y="2331720"/>
            <a:ext cx="594360" cy="59436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3825621" y="2492197"/>
            <a:ext cx="273406" cy="273406"/>
          </a:xfrm>
          <a:prstGeom prst="rect">
            <a:avLst/>
          </a:prstGeom>
        </p:spPr>
      </p:pic>
      <p:sp>
        <p:nvSpPr>
          <p:cNvPr id="14" name="Text 10"/>
          <p:cNvSpPr txBox="1"/>
          <p:nvPr/>
        </p:nvSpPr>
        <p:spPr>
          <a:xfrm>
            <a:off x="3665144"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Listings decay</a:t>
            </a:r>
            <a:endParaRPr lang="en-US" sz="1700" dirty="0"/>
          </a:p>
        </p:txBody>
      </p:sp>
      <p:sp>
        <p:nvSpPr>
          <p:cNvPr id="15" name="Text 11"/>
          <p:cNvSpPr txBox="1"/>
          <p:nvPr/>
        </p:nvSpPr>
        <p:spPr>
          <a:xfrm>
            <a:off x="3665144"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Menus drift from POS, deals expire, photos go stale, reviews sit unanswered. Every gap costs orders.</a:t>
            </a:r>
            <a:endParaRPr lang="en-US" sz="1300" dirty="0"/>
          </a:p>
        </p:txBody>
      </p:sp>
      <p:sp>
        <p:nvSpPr>
          <p:cNvPr id="16" name="Shape 12"/>
          <p:cNvSpPr/>
          <p:nvPr/>
        </p:nvSpPr>
        <p:spPr>
          <a:xfrm>
            <a:off x="6233008" y="2057400"/>
            <a:ext cx="2567864" cy="3566160"/>
          </a:xfrm>
          <a:prstGeom prst="roundRect">
            <a:avLst>
              <a:gd name="adj" fmla="val 4273"/>
            </a:avLst>
          </a:prstGeom>
          <a:solidFill>
            <a:srgbClr val="F4F7F2"/>
          </a:solidFill>
          <a:ln w="6350">
            <a:solidFill>
              <a:srgbClr val="F4F7F2"/>
            </a:solidFill>
            <a:prstDash val="solid"/>
          </a:ln>
        </p:spPr>
      </p:sp>
      <p:sp>
        <p:nvSpPr>
          <p:cNvPr id="17" name="Shape 13"/>
          <p:cNvSpPr/>
          <p:nvPr/>
        </p:nvSpPr>
        <p:spPr>
          <a:xfrm>
            <a:off x="6507328" y="2331720"/>
            <a:ext cx="594360" cy="59436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6667805" y="2492197"/>
            <a:ext cx="273406" cy="273406"/>
          </a:xfrm>
          <a:prstGeom prst="rect">
            <a:avLst/>
          </a:prstGeom>
        </p:spPr>
      </p:pic>
      <p:sp>
        <p:nvSpPr>
          <p:cNvPr id="19" name="Text 14"/>
          <p:cNvSpPr txBox="1"/>
          <p:nvPr/>
        </p:nvSpPr>
        <p:spPr>
          <a:xfrm>
            <a:off x="6507328"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Spend isn't managed</a:t>
            </a:r>
            <a:endParaRPr lang="en-US" sz="1700" dirty="0"/>
          </a:p>
        </p:txBody>
      </p:sp>
      <p:sp>
        <p:nvSpPr>
          <p:cNvPr id="20" name="Text 15"/>
          <p:cNvSpPr txBox="1"/>
          <p:nvPr/>
        </p:nvSpPr>
        <p:spPr>
          <a:xfrm>
            <a:off x="6507328"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Budgets are set once and never optimized. Platform reps grow platform revenue, not your ROAS.</a:t>
            </a:r>
            <a:endParaRPr lang="en-US" sz="1300" dirty="0"/>
          </a:p>
        </p:txBody>
      </p:sp>
      <p:sp>
        <p:nvSpPr>
          <p:cNvPr id="21" name="Shape 16"/>
          <p:cNvSpPr/>
          <p:nvPr/>
        </p:nvSpPr>
        <p:spPr>
          <a:xfrm>
            <a:off x="9075191" y="2057400"/>
            <a:ext cx="2567864" cy="3566160"/>
          </a:xfrm>
          <a:prstGeom prst="roundRect">
            <a:avLst>
              <a:gd name="adj" fmla="val 4273"/>
            </a:avLst>
          </a:prstGeom>
          <a:solidFill>
            <a:srgbClr val="F4F7F2"/>
          </a:solidFill>
          <a:ln w="6350">
            <a:solidFill>
              <a:srgbClr val="F4F7F2"/>
            </a:solidFill>
            <a:prstDash val="solid"/>
          </a:ln>
        </p:spPr>
      </p:sp>
      <p:sp>
        <p:nvSpPr>
          <p:cNvPr id="22" name="Shape 17"/>
          <p:cNvSpPr/>
          <p:nvPr/>
        </p:nvSpPr>
        <p:spPr>
          <a:xfrm>
            <a:off x="9349511" y="2331720"/>
            <a:ext cx="594360" cy="59436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9509989" y="2492197"/>
            <a:ext cx="273406" cy="273406"/>
          </a:xfrm>
          <a:prstGeom prst="rect">
            <a:avLst/>
          </a:prstGeom>
        </p:spPr>
      </p:pic>
      <p:sp>
        <p:nvSpPr>
          <p:cNvPr id="24" name="Text 18"/>
          <p:cNvSpPr txBox="1"/>
          <p:nvPr/>
        </p:nvSpPr>
        <p:spPr>
          <a:xfrm>
            <a:off x="9349511"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Nobody owns it</a:t>
            </a:r>
            <a:endParaRPr lang="en-US" sz="1700" dirty="0"/>
          </a:p>
        </p:txBody>
      </p:sp>
      <p:sp>
        <p:nvSpPr>
          <p:cNvPr id="25" name="Text 19"/>
          <p:cNvSpPr txBox="1"/>
          <p:nvPr/>
        </p:nvSpPr>
        <p:spPr>
          <a:xfrm>
            <a:off x="9349511"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GMs and budtenders juggle four dashboards on the side with no attribution and no accountability.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3</a:t>
            </a:r>
            <a:endParaRPr lang="en-US" sz="1000" dirty="0"/>
          </a:p>
        </p:txBody>
      </p:sp>
      <p:sp>
        <p:nvSpPr>
          <p:cNvPr id="4" name="Text 2"/>
          <p:cNvSpPr txBox="1"/>
          <p:nvPr/>
        </p:nvSpPr>
        <p:spPr>
          <a:xfrm>
            <a:off x="548640" y="548640"/>
            <a:ext cx="5486400" cy="365760"/>
          </a:xfrm>
          <a:prstGeom prst="rect">
            <a:avLst/>
          </a:prstGeom>
          <a:noFill/>
          <a:ln/>
        </p:spPr>
        <p:txBody>
          <a:bodyPr wrap="square" lIns="0" tIns="0" rIns="0" bIns="0" rtlCol="0" anchor="t"/>
          <a:lstStyle/>
          <a:p>
            <a:pPr indent="0" marL="0">
              <a:buNone/>
            </a:pPr>
            <a:r>
              <a:rPr lang="en-US" sz="1300" b="1" spc="600" kern="0" dirty="0">
                <a:solidFill>
                  <a:srgbClr val="C8F04A"/>
                </a:solidFill>
                <a:latin typeface="Calibri" pitchFamily="34" charset="0"/>
                <a:ea typeface="Calibri" pitchFamily="34" charset="-122"/>
                <a:cs typeface="Calibri" pitchFamily="34" charset="-120"/>
              </a:rPr>
              <a:t>THE SOLUTION</a:t>
            </a:r>
            <a:endParaRPr lang="en-US" sz="1300" dirty="0"/>
          </a:p>
        </p:txBody>
      </p:sp>
      <p:sp>
        <p:nvSpPr>
          <p:cNvPr id="5" name="Text 3"/>
          <p:cNvSpPr txBox="1"/>
          <p:nvPr/>
        </p:nvSpPr>
        <p:spPr>
          <a:xfrm>
            <a:off x="548640" y="1051560"/>
            <a:ext cx="7498080" cy="228600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We run your listings and ads on every platform your customers use — and we're accountable for the orders.</a:t>
            </a:r>
            <a:endParaRPr lang="en-US" sz="3200" dirty="0"/>
          </a:p>
        </p:txBody>
      </p:sp>
      <p:sp>
        <p:nvSpPr>
          <p:cNvPr id="6" name="Text 4"/>
          <p:cNvSpPr txBox="1"/>
          <p:nvPr/>
        </p:nvSpPr>
        <p:spPr>
          <a:xfrm>
            <a:off x="548640" y="3520440"/>
            <a:ext cx="7132320" cy="1097280"/>
          </a:xfrm>
          <a:prstGeom prst="rect">
            <a:avLst/>
          </a:prstGeom>
          <a:noFill/>
          <a:ln/>
        </p:spPr>
        <p:txBody>
          <a:bodyPr wrap="square" lIns="0" tIns="0" rIns="0" bIns="0" rtlCol="0" anchor="t"/>
          <a:lstStyle/>
          <a:p>
            <a:pPr indent="0" marL="0">
              <a:buNone/>
            </a:pPr>
            <a:r>
              <a:rPr lang="en-US" sz="1600" dirty="0">
                <a:solidFill>
                  <a:srgbClr val="D9E5DD"/>
                </a:solidFill>
                <a:latin typeface="Calibri" pitchFamily="34" charset="0"/>
                <a:ea typeface="Calibri" pitchFamily="34" charset="-122"/>
                <a:cs typeface="Calibri" pitchFamily="34" charset="-120"/>
              </a:rPr>
              <a:t>Full-service listing management for dispensaries and deliveries: spend, listings, menus, reviews, deals, creative and data — handled by ex-Weedmaps operators.</a:t>
            </a:r>
            <a:endParaRPr lang="en-US" sz="1600" dirty="0"/>
          </a:p>
        </p:txBody>
      </p:sp>
      <p:sp>
        <p:nvSpPr>
          <p:cNvPr id="7" name="Shape 5"/>
          <p:cNvSpPr/>
          <p:nvPr/>
        </p:nvSpPr>
        <p:spPr>
          <a:xfrm>
            <a:off x="4556455" y="4663440"/>
            <a:ext cx="1600200" cy="1417320"/>
          </a:xfrm>
          <a:prstGeom prst="roundRect">
            <a:avLst>
              <a:gd name="adj" fmla="val 7742"/>
            </a:avLst>
          </a:prstGeom>
          <a:solidFill>
            <a:srgbClr val="1F6F43"/>
          </a:solidFill>
          <a:ln w="635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5082235" y="4846320"/>
            <a:ext cx="548640" cy="548640"/>
          </a:xfrm>
          <a:prstGeom prst="rect">
            <a:avLst/>
          </a:prstGeom>
        </p:spPr>
      </p:pic>
      <p:sp>
        <p:nvSpPr>
          <p:cNvPr id="9" name="Text 6"/>
          <p:cNvSpPr txBox="1"/>
          <p:nvPr/>
        </p:nvSpPr>
        <p:spPr>
          <a:xfrm>
            <a:off x="4556455" y="5486400"/>
            <a:ext cx="160020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Weedmaps</a:t>
            </a:r>
            <a:endParaRPr lang="en-US" sz="1400" dirty="0"/>
          </a:p>
        </p:txBody>
      </p:sp>
      <p:sp>
        <p:nvSpPr>
          <p:cNvPr id="10" name="Shape 7"/>
          <p:cNvSpPr/>
          <p:nvPr/>
        </p:nvSpPr>
        <p:spPr>
          <a:xfrm>
            <a:off x="6385255" y="4663440"/>
            <a:ext cx="1600200" cy="1417320"/>
          </a:xfrm>
          <a:prstGeom prst="roundRect">
            <a:avLst>
              <a:gd name="adj" fmla="val 7742"/>
            </a:avLst>
          </a:prstGeom>
          <a:solidFill>
            <a:srgbClr val="1F6F43"/>
          </a:solidFill>
          <a:ln w="6350">
            <a:solidFill>
              <a:srgbClr val="1F6F43"/>
            </a:solidFill>
            <a:prstDash val="solid"/>
          </a:ln>
        </p:spPr>
      </p:sp>
      <p:pic>
        <p:nvPicPr>
          <p:cNvPr id="11" name="Image 1" descr="preencoded.png">    </p:cNvPr>
          <p:cNvPicPr>
            <a:picLocks noChangeAspect="1"/>
          </p:cNvPicPr>
          <p:nvPr/>
        </p:nvPicPr>
        <p:blipFill>
          <a:blip r:embed="rId2"/>
          <a:stretch>
            <a:fillRect/>
          </a:stretch>
        </p:blipFill>
        <p:spPr>
          <a:xfrm>
            <a:off x="6911035" y="4846320"/>
            <a:ext cx="548640" cy="548640"/>
          </a:xfrm>
          <a:prstGeom prst="rect">
            <a:avLst/>
          </a:prstGeom>
        </p:spPr>
      </p:pic>
      <p:sp>
        <p:nvSpPr>
          <p:cNvPr id="12" name="Text 8"/>
          <p:cNvSpPr txBox="1"/>
          <p:nvPr/>
        </p:nvSpPr>
        <p:spPr>
          <a:xfrm>
            <a:off x="6385255" y="5486400"/>
            <a:ext cx="160020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Leafly</a:t>
            </a:r>
            <a:endParaRPr lang="en-US" sz="1400" dirty="0"/>
          </a:p>
        </p:txBody>
      </p:sp>
      <p:sp>
        <p:nvSpPr>
          <p:cNvPr id="13" name="Shape 9"/>
          <p:cNvSpPr/>
          <p:nvPr/>
        </p:nvSpPr>
        <p:spPr>
          <a:xfrm>
            <a:off x="8214055" y="4663440"/>
            <a:ext cx="1600200" cy="1417320"/>
          </a:xfrm>
          <a:prstGeom prst="roundRect">
            <a:avLst>
              <a:gd name="adj" fmla="val 7742"/>
            </a:avLst>
          </a:prstGeom>
          <a:solidFill>
            <a:srgbClr val="1F6F43"/>
          </a:solidFill>
          <a:ln w="6350">
            <a:solidFill>
              <a:srgbClr val="1F6F43"/>
            </a:solidFill>
            <a:prstDash val="solid"/>
          </a:ln>
        </p:spPr>
      </p:sp>
      <p:pic>
        <p:nvPicPr>
          <p:cNvPr id="14" name="Image 2" descr="preencoded.png">    </p:cNvPr>
          <p:cNvPicPr>
            <a:picLocks noChangeAspect="1"/>
          </p:cNvPicPr>
          <p:nvPr/>
        </p:nvPicPr>
        <p:blipFill>
          <a:blip r:embed="rId3"/>
          <a:stretch>
            <a:fillRect/>
          </a:stretch>
        </p:blipFill>
        <p:spPr>
          <a:xfrm>
            <a:off x="8739835" y="4846320"/>
            <a:ext cx="548640" cy="548640"/>
          </a:xfrm>
          <a:prstGeom prst="rect">
            <a:avLst/>
          </a:prstGeom>
        </p:spPr>
      </p:pic>
      <p:sp>
        <p:nvSpPr>
          <p:cNvPr id="15" name="Text 10"/>
          <p:cNvSpPr txBox="1"/>
          <p:nvPr/>
        </p:nvSpPr>
        <p:spPr>
          <a:xfrm>
            <a:off x="8214055" y="5486400"/>
            <a:ext cx="160020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Yelp</a:t>
            </a:r>
            <a:endParaRPr lang="en-US" sz="1400" dirty="0"/>
          </a:p>
        </p:txBody>
      </p:sp>
      <p:sp>
        <p:nvSpPr>
          <p:cNvPr id="16" name="Shape 11"/>
          <p:cNvSpPr/>
          <p:nvPr/>
        </p:nvSpPr>
        <p:spPr>
          <a:xfrm>
            <a:off x="10042855" y="4663440"/>
            <a:ext cx="1600200" cy="1417320"/>
          </a:xfrm>
          <a:prstGeom prst="roundRect">
            <a:avLst>
              <a:gd name="adj" fmla="val 7742"/>
            </a:avLst>
          </a:prstGeom>
          <a:solidFill>
            <a:srgbClr val="1F6F43"/>
          </a:solidFill>
          <a:ln w="6350">
            <a:solidFill>
              <a:srgbClr val="1F6F43"/>
            </a:solidFill>
            <a:prstDash val="solid"/>
          </a:ln>
        </p:spPr>
      </p:sp>
      <p:pic>
        <p:nvPicPr>
          <p:cNvPr id="17" name="Image 3" descr="preencoded.png">    </p:cNvPr>
          <p:cNvPicPr>
            <a:picLocks noChangeAspect="1"/>
          </p:cNvPicPr>
          <p:nvPr/>
        </p:nvPicPr>
        <p:blipFill>
          <a:blip r:embed="rId4"/>
          <a:stretch>
            <a:fillRect/>
          </a:stretch>
        </p:blipFill>
        <p:spPr>
          <a:xfrm>
            <a:off x="10568635" y="4846320"/>
            <a:ext cx="548640" cy="548640"/>
          </a:xfrm>
          <a:prstGeom prst="rect">
            <a:avLst/>
          </a:prstGeom>
        </p:spPr>
      </p:pic>
      <p:sp>
        <p:nvSpPr>
          <p:cNvPr id="18" name="Text 12"/>
          <p:cNvSpPr txBox="1"/>
          <p:nvPr/>
        </p:nvSpPr>
        <p:spPr>
          <a:xfrm>
            <a:off x="10042855" y="5486400"/>
            <a:ext cx="160020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Google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4</a:t>
            </a:r>
            <a:endParaRPr lang="en-US" sz="1000" dirty="0"/>
          </a:p>
        </p:txBody>
      </p:sp>
      <p:sp>
        <p:nvSpPr>
          <p:cNvPr id="4" name="Text 2"/>
          <p:cNvSpPr txBox="1"/>
          <p:nvPr/>
        </p:nvSpPr>
        <p:spPr>
          <a:xfrm>
            <a:off x="548640" y="502920"/>
            <a:ext cx="11094415" cy="504190"/>
          </a:xfrm>
          <a:prstGeom prst="rect">
            <a:avLst/>
          </a:prstGeom>
          <a:noFill/>
          <a:ln/>
        </p:spPr>
        <p:txBody>
          <a:bodyPr wrap="square" lIns="0" tIns="0" rIns="0" bIns="0" rtlCol="0" anchor="t"/>
          <a:lstStyle/>
          <a:p>
            <a:pPr indent="0" marL="0">
              <a:buNone/>
            </a:pPr>
            <a:r>
              <a:rPr lang="en-US" sz="2600" b="1" dirty="0">
                <a:solidFill>
                  <a:srgbClr val="0F2A1D"/>
                </a:solidFill>
                <a:latin typeface="Cambria" pitchFamily="34" charset="0"/>
                <a:ea typeface="Cambria" pitchFamily="34" charset="-122"/>
                <a:cs typeface="Cambria" pitchFamily="34" charset="-120"/>
              </a:rPr>
              <a:t>Where Sacramento, CA customers find a dispensary</a:t>
            </a:r>
            <a:endParaRPr lang="en-US" sz="2600" dirty="0"/>
          </a:p>
        </p:txBody>
      </p:sp>
      <p:sp>
        <p:nvSpPr>
          <p:cNvPr id="5" name="Text 3"/>
          <p:cNvSpPr txBox="1"/>
          <p:nvPr/>
        </p:nvSpPr>
        <p:spPr>
          <a:xfrm>
            <a:off x="548640" y="111683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Market validation: the four channels that drive cannabis discovery and ordering.</a:t>
            </a:r>
            <a:endParaRPr lang="en-US" sz="1600" dirty="0"/>
          </a:p>
        </p:txBody>
      </p:sp>
      <p:sp>
        <p:nvSpPr>
          <p:cNvPr id="6" name="Shape 4"/>
          <p:cNvSpPr/>
          <p:nvPr/>
        </p:nvSpPr>
        <p:spPr>
          <a:xfrm>
            <a:off x="548640" y="2011680"/>
            <a:ext cx="7223760" cy="914400"/>
          </a:xfrm>
          <a:prstGeom prst="roundRect">
            <a:avLst>
              <a:gd name="adj" fmla="val 12000"/>
            </a:avLst>
          </a:prstGeom>
          <a:solidFill>
            <a:srgbClr val="F4F7F2"/>
          </a:solidFill>
          <a:ln w="6350">
            <a:solidFill>
              <a:srgbClr val="F4F7F2"/>
            </a:solidFill>
            <a:prstDash val="solid"/>
          </a:ln>
        </p:spPr>
      </p:sp>
      <p:sp>
        <p:nvSpPr>
          <p:cNvPr id="7" name="Shape 5"/>
          <p:cNvSpPr/>
          <p:nvPr/>
        </p:nvSpPr>
        <p:spPr>
          <a:xfrm>
            <a:off x="731520" y="2194560"/>
            <a:ext cx="548640" cy="54864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879653" y="2342693"/>
            <a:ext cx="252374" cy="252374"/>
          </a:xfrm>
          <a:prstGeom prst="rect">
            <a:avLst/>
          </a:prstGeom>
        </p:spPr>
      </p:pic>
      <p:sp>
        <p:nvSpPr>
          <p:cNvPr id="9" name="Text 6"/>
          <p:cNvSpPr txBox="1"/>
          <p:nvPr/>
        </p:nvSpPr>
        <p:spPr>
          <a:xfrm>
            <a:off x="1463040" y="214884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Weedmaps</a:t>
            </a:r>
            <a:endParaRPr lang="en-US" sz="1500" dirty="0"/>
          </a:p>
        </p:txBody>
      </p:sp>
      <p:sp>
        <p:nvSpPr>
          <p:cNvPr id="10" name="Text 7"/>
          <p:cNvSpPr txBox="1"/>
          <p:nvPr/>
        </p:nvSpPr>
        <p:spPr>
          <a:xfrm>
            <a:off x="1463040" y="245059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The largest cannabis marketplace. Auction-based placement in your service zone; menu, deals and reviews drive the order.</a:t>
            </a:r>
            <a:endParaRPr lang="en-US" sz="1150" dirty="0"/>
          </a:p>
        </p:txBody>
      </p:sp>
      <p:sp>
        <p:nvSpPr>
          <p:cNvPr id="11" name="Shape 8"/>
          <p:cNvSpPr/>
          <p:nvPr/>
        </p:nvSpPr>
        <p:spPr>
          <a:xfrm>
            <a:off x="548640" y="3063240"/>
            <a:ext cx="7223760" cy="914400"/>
          </a:xfrm>
          <a:prstGeom prst="roundRect">
            <a:avLst>
              <a:gd name="adj" fmla="val 12000"/>
            </a:avLst>
          </a:prstGeom>
          <a:solidFill>
            <a:srgbClr val="F4F7F2"/>
          </a:solidFill>
          <a:ln w="6350">
            <a:solidFill>
              <a:srgbClr val="F4F7F2"/>
            </a:solidFill>
            <a:prstDash val="solid"/>
          </a:ln>
        </p:spPr>
      </p:sp>
      <p:sp>
        <p:nvSpPr>
          <p:cNvPr id="12" name="Shape 9"/>
          <p:cNvSpPr/>
          <p:nvPr/>
        </p:nvSpPr>
        <p:spPr>
          <a:xfrm>
            <a:off x="731520" y="3246120"/>
            <a:ext cx="548640" cy="54864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879653" y="3394253"/>
            <a:ext cx="252374" cy="252374"/>
          </a:xfrm>
          <a:prstGeom prst="rect">
            <a:avLst/>
          </a:prstGeom>
        </p:spPr>
      </p:pic>
      <p:sp>
        <p:nvSpPr>
          <p:cNvPr id="14" name="Text 10"/>
          <p:cNvSpPr txBox="1"/>
          <p:nvPr/>
        </p:nvSpPr>
        <p:spPr>
          <a:xfrm>
            <a:off x="1463040" y="320040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Leafly</a:t>
            </a:r>
            <a:endParaRPr lang="en-US" sz="1500" dirty="0"/>
          </a:p>
        </p:txBody>
      </p:sp>
      <p:sp>
        <p:nvSpPr>
          <p:cNvPr id="15" name="Text 11"/>
          <p:cNvSpPr txBox="1"/>
          <p:nvPr/>
        </p:nvSpPr>
        <p:spPr>
          <a:xfrm>
            <a:off x="1463040" y="350215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Strain-led discovery and online ordering; second marketplace most customers check.</a:t>
            </a:r>
            <a:endParaRPr lang="en-US" sz="1150" dirty="0"/>
          </a:p>
        </p:txBody>
      </p:sp>
      <p:sp>
        <p:nvSpPr>
          <p:cNvPr id="16" name="Shape 12"/>
          <p:cNvSpPr/>
          <p:nvPr/>
        </p:nvSpPr>
        <p:spPr>
          <a:xfrm>
            <a:off x="548640" y="4114800"/>
            <a:ext cx="7223760" cy="914400"/>
          </a:xfrm>
          <a:prstGeom prst="roundRect">
            <a:avLst>
              <a:gd name="adj" fmla="val 12000"/>
            </a:avLst>
          </a:prstGeom>
          <a:solidFill>
            <a:srgbClr val="F4F7F2"/>
          </a:solidFill>
          <a:ln w="6350">
            <a:solidFill>
              <a:srgbClr val="F4F7F2"/>
            </a:solidFill>
            <a:prstDash val="solid"/>
          </a:ln>
        </p:spPr>
      </p:sp>
      <p:sp>
        <p:nvSpPr>
          <p:cNvPr id="17" name="Shape 13"/>
          <p:cNvSpPr/>
          <p:nvPr/>
        </p:nvSpPr>
        <p:spPr>
          <a:xfrm>
            <a:off x="731520" y="4297680"/>
            <a:ext cx="548640" cy="54864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879653" y="4445813"/>
            <a:ext cx="252374" cy="252374"/>
          </a:xfrm>
          <a:prstGeom prst="rect">
            <a:avLst/>
          </a:prstGeom>
        </p:spPr>
      </p:pic>
      <p:sp>
        <p:nvSpPr>
          <p:cNvPr id="19" name="Text 14"/>
          <p:cNvSpPr txBox="1"/>
          <p:nvPr/>
        </p:nvSpPr>
        <p:spPr>
          <a:xfrm>
            <a:off x="1463040" y="425196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Yelp</a:t>
            </a:r>
            <a:endParaRPr lang="en-US" sz="1500" dirty="0"/>
          </a:p>
        </p:txBody>
      </p:sp>
      <p:sp>
        <p:nvSpPr>
          <p:cNvPr id="20" name="Text 15"/>
          <p:cNvSpPr txBox="1"/>
          <p:nvPr/>
        </p:nvSpPr>
        <p:spPr>
          <a:xfrm>
            <a:off x="1463040" y="455371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Where reviews decide. Yelp Ads reach shoppers comparing local options; Sparks is a Yelp Ads Certified Partner.</a:t>
            </a:r>
            <a:endParaRPr lang="en-US" sz="1150" dirty="0"/>
          </a:p>
        </p:txBody>
      </p:sp>
      <p:sp>
        <p:nvSpPr>
          <p:cNvPr id="21" name="Shape 16"/>
          <p:cNvSpPr/>
          <p:nvPr/>
        </p:nvSpPr>
        <p:spPr>
          <a:xfrm>
            <a:off x="548640" y="5166360"/>
            <a:ext cx="7223760" cy="914400"/>
          </a:xfrm>
          <a:prstGeom prst="roundRect">
            <a:avLst>
              <a:gd name="adj" fmla="val 12000"/>
            </a:avLst>
          </a:prstGeom>
          <a:solidFill>
            <a:srgbClr val="F4F7F2"/>
          </a:solidFill>
          <a:ln w="6350">
            <a:solidFill>
              <a:srgbClr val="F4F7F2"/>
            </a:solidFill>
            <a:prstDash val="solid"/>
          </a:ln>
        </p:spPr>
      </p:sp>
      <p:sp>
        <p:nvSpPr>
          <p:cNvPr id="22" name="Shape 17"/>
          <p:cNvSpPr/>
          <p:nvPr/>
        </p:nvSpPr>
        <p:spPr>
          <a:xfrm>
            <a:off x="731520" y="5349240"/>
            <a:ext cx="548640" cy="54864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879653" y="5497373"/>
            <a:ext cx="252374" cy="252374"/>
          </a:xfrm>
          <a:prstGeom prst="rect">
            <a:avLst/>
          </a:prstGeom>
        </p:spPr>
      </p:pic>
      <p:sp>
        <p:nvSpPr>
          <p:cNvPr id="24" name="Text 18"/>
          <p:cNvSpPr txBox="1"/>
          <p:nvPr/>
        </p:nvSpPr>
        <p:spPr>
          <a:xfrm>
            <a:off x="1463040" y="530352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Google</a:t>
            </a:r>
            <a:endParaRPr lang="en-US" sz="1500" dirty="0"/>
          </a:p>
        </p:txBody>
      </p:sp>
      <p:sp>
        <p:nvSpPr>
          <p:cNvPr id="25" name="Text 19"/>
          <p:cNvSpPr txBox="1"/>
          <p:nvPr/>
        </p:nvSpPr>
        <p:spPr>
          <a:xfrm>
            <a:off x="1463040" y="560527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"Dispensary near me" — the Maps 3-pack, Business Profile, posts, reviews and compliant Ads.</a:t>
            </a:r>
            <a:endParaRPr lang="en-US" sz="1150" dirty="0"/>
          </a:p>
        </p:txBody>
      </p:sp>
      <p:sp>
        <p:nvSpPr>
          <p:cNvPr id="26" name="Shape 20"/>
          <p:cNvSpPr/>
          <p:nvPr/>
        </p:nvSpPr>
        <p:spPr>
          <a:xfrm>
            <a:off x="8046720" y="2011680"/>
            <a:ext cx="3596335" cy="4069080"/>
          </a:xfrm>
          <a:prstGeom prst="roundRect">
            <a:avLst>
              <a:gd name="adj" fmla="val 3051"/>
            </a:avLst>
          </a:prstGeom>
          <a:solidFill>
            <a:srgbClr val="0F2A1D"/>
          </a:solidFill>
          <a:ln w="6350">
            <a:solidFill>
              <a:srgbClr val="0F2A1D"/>
            </a:solidFill>
            <a:prstDash val="solid"/>
          </a:ln>
        </p:spPr>
      </p:sp>
      <p:sp>
        <p:nvSpPr>
          <p:cNvPr id="27" name="Text 21"/>
          <p:cNvSpPr txBox="1"/>
          <p:nvPr/>
        </p:nvSpPr>
        <p:spPr>
          <a:xfrm>
            <a:off x="8366760" y="2240280"/>
            <a:ext cx="295625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YOUR MARKET</a:t>
            </a:r>
            <a:endParaRPr lang="en-US" sz="1100" dirty="0"/>
          </a:p>
        </p:txBody>
      </p:sp>
      <p:sp>
        <p:nvSpPr>
          <p:cNvPr id="28" name="Text 22"/>
          <p:cNvSpPr txBox="1"/>
          <p:nvPr/>
        </p:nvSpPr>
        <p:spPr>
          <a:xfrm>
            <a:off x="8366760" y="2606040"/>
            <a:ext cx="2956255" cy="1005840"/>
          </a:xfrm>
          <a:prstGeom prst="rect">
            <a:avLst/>
          </a:prstGeom>
          <a:noFill/>
          <a:ln/>
        </p:spPr>
        <p:txBody>
          <a:bodyPr wrap="square" lIns="0" tIns="0" rIns="0" bIns="0" rtlCol="0" anchor="ctr"/>
          <a:lstStyle/>
          <a:p>
            <a:pPr indent="0" marL="0">
              <a:buNone/>
            </a:pPr>
            <a:r>
              <a:rPr lang="en-US" sz="6000" b="1" dirty="0">
                <a:solidFill>
                  <a:srgbClr val="C8F04A"/>
                </a:solidFill>
                <a:latin typeface="Cambria" pitchFamily="34" charset="0"/>
                <a:ea typeface="Cambria" pitchFamily="34" charset="-122"/>
                <a:cs typeface="Cambria" pitchFamily="34" charset="-120"/>
              </a:rPr>
              <a:t>8</a:t>
            </a:r>
            <a:endParaRPr lang="en-US" sz="6000" dirty="0"/>
          </a:p>
        </p:txBody>
      </p:sp>
      <p:sp>
        <p:nvSpPr>
          <p:cNvPr id="29" name="Text 23"/>
          <p:cNvSpPr txBox="1"/>
          <p:nvPr/>
        </p:nvSpPr>
        <p:spPr>
          <a:xfrm>
            <a:off x="8366760" y="3657600"/>
            <a:ext cx="2956255" cy="6400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competing dispensaries in your service zone</a:t>
            </a:r>
            <a:endParaRPr lang="en-US" sz="1300" dirty="0"/>
          </a:p>
        </p:txBody>
      </p:sp>
      <p:sp>
        <p:nvSpPr>
          <p:cNvPr id="30" name="Text 24"/>
          <p:cNvSpPr txBox="1"/>
          <p:nvPr/>
        </p:nvSpPr>
        <p:spPr>
          <a:xfrm>
            <a:off x="8366760" y="4389120"/>
            <a:ext cx="2956255" cy="155448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High-density market; Weedmaps and Google Maps drive most discovery.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5</a:t>
            </a:r>
            <a:endParaRPr lang="en-US" sz="1000" dirty="0"/>
          </a:p>
        </p:txBody>
      </p:sp>
      <p:sp>
        <p:nvSpPr>
          <p:cNvPr id="4" name="Text 2"/>
          <p:cNvSpPr txBox="1"/>
          <p:nvPr/>
        </p:nvSpPr>
        <p:spPr>
          <a:xfrm>
            <a:off x="548640" y="502920"/>
            <a:ext cx="11094415" cy="472440"/>
          </a:xfrm>
          <a:prstGeom prst="rect">
            <a:avLst/>
          </a:prstGeom>
          <a:noFill/>
          <a:ln/>
        </p:spPr>
        <p:txBody>
          <a:bodyPr wrap="square" lIns="0" tIns="0" rIns="0" bIns="0" rtlCol="0" anchor="t"/>
          <a:lstStyle/>
          <a:p>
            <a:pPr indent="0" marL="0">
              <a:buNone/>
            </a:pPr>
            <a:r>
              <a:rPr lang="en-US" sz="2400" b="1" dirty="0">
                <a:solidFill>
                  <a:srgbClr val="0F2A1D"/>
                </a:solidFill>
                <a:latin typeface="Cambria" pitchFamily="34" charset="0"/>
                <a:ea typeface="Cambria" pitchFamily="34" charset="-122"/>
                <a:cs typeface="Cambria" pitchFamily="34" charset="-120"/>
              </a:rPr>
              <a:t>What we found on Green Valley Dispensary's listings</a:t>
            </a:r>
            <a:endParaRPr lang="en-US" sz="2400" dirty="0"/>
          </a:p>
        </p:txBody>
      </p:sp>
      <p:sp>
        <p:nvSpPr>
          <p:cNvPr id="5" name="Text 3"/>
          <p:cNvSpPr txBox="1"/>
          <p:nvPr/>
        </p:nvSpPr>
        <p:spPr>
          <a:xfrm>
            <a:off x="548640" y="10850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Every row is revenue currently left on the table.</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1828800"/>
                <a:gridCol w="4846320"/>
                <a:gridCol w="441655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Platform</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we found</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it's costing you</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Weedmaps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Listing live but no paid placement; 40% of menu unverified</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Buried below 6 competitors in the service zone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Leafly</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Menu last synced 3 weeks ago; no deals running</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Out-of-stock items still showing; lost orders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Yelp</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4 unanswered 1-star reviews; no Yelp Ads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3.4 rating vs 4.5 market average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Google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GBP not claimed / wrong hours; 0 posts in 6 months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Not in the Maps 3-pack for 'dispensary near me'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166360"/>
            <a:ext cx="11094415" cy="1143000"/>
          </a:xfrm>
          <a:prstGeom prst="roundRect">
            <a:avLst>
              <a:gd name="adj" fmla="val 9600"/>
            </a:avLst>
          </a:prstGeom>
          <a:solidFill>
            <a:srgbClr val="0F2A1D"/>
          </a:solidFill>
          <a:ln w="6350">
            <a:solidFill>
              <a:srgbClr val="0F2A1D"/>
            </a:solidFill>
            <a:prstDash val="solid"/>
          </a:ln>
        </p:spPr>
      </p:sp>
      <p:sp>
        <p:nvSpPr>
          <p:cNvPr id="8" name="Text 5"/>
          <p:cNvSpPr txBox="1"/>
          <p:nvPr/>
        </p:nvSpPr>
        <p:spPr>
          <a:xfrm>
            <a:off x="868680" y="5349240"/>
            <a:ext cx="4114800" cy="411480"/>
          </a:xfrm>
          <a:prstGeom prst="rect">
            <a:avLst/>
          </a:prstGeom>
          <a:noFill/>
          <a:ln/>
        </p:spPr>
        <p:txBody>
          <a:bodyPr wrap="square" lIns="0" tIns="0" rIns="0" bIns="0" rtlCol="0" anchor="t"/>
          <a:lstStyle/>
          <a:p>
            <a:pPr indent="0" marL="0">
              <a:buNone/>
            </a:pPr>
            <a:r>
              <a:rPr lang="en-US" sz="1800" b="1" dirty="0">
                <a:solidFill>
                  <a:srgbClr val="C8F04A"/>
                </a:solidFill>
                <a:latin typeface="Calibri" pitchFamily="34" charset="0"/>
                <a:ea typeface="Calibri" pitchFamily="34" charset="-122"/>
                <a:cs typeface="Calibri" pitchFamily="34" charset="-120"/>
              </a:rPr>
              <a:t>4 gaps across 4 platforms</a:t>
            </a:r>
            <a:endParaRPr lang="en-US" sz="1800" dirty="0"/>
          </a:p>
        </p:txBody>
      </p:sp>
      <p:sp>
        <p:nvSpPr>
          <p:cNvPr id="9" name="Text 6"/>
          <p:cNvSpPr txBox="1"/>
          <p:nvPr/>
        </p:nvSpPr>
        <p:spPr>
          <a:xfrm>
            <a:off x="868680" y="5733288"/>
            <a:ext cx="10454335" cy="5029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Each one maps to a service in your scope (slide 7). All of them are fixed inside the first 30 days of the launch plan.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548640" y="502920"/>
            <a:ext cx="11094415" cy="535940"/>
          </a:xfrm>
          <a:prstGeom prst="rect">
            <a:avLst/>
          </a:prstGeom>
          <a:noFill/>
          <a:ln/>
        </p:spPr>
        <p:txBody>
          <a:bodyPr wrap="square" lIns="0" tIns="0" rIns="0" bIns="0" rtlCol="0" anchor="t"/>
          <a:lstStyle/>
          <a:p>
            <a:pPr indent="0" marL="0">
              <a:buNone/>
            </a:pPr>
            <a:r>
              <a:rPr lang="en-US" sz="2800" b="1" dirty="0">
                <a:solidFill>
                  <a:srgbClr val="0F2A1D"/>
                </a:solidFill>
                <a:latin typeface="Cambria" pitchFamily="34" charset="0"/>
                <a:ea typeface="Cambria" pitchFamily="34" charset="-122"/>
                <a:cs typeface="Cambria" pitchFamily="34" charset="-120"/>
              </a:rPr>
              <a:t>How it works: seven pillars on every platform</a:t>
            </a:r>
            <a:endParaRPr lang="en-US" sz="2800" dirty="0"/>
          </a:p>
        </p:txBody>
      </p:sp>
      <p:sp>
        <p:nvSpPr>
          <p:cNvPr id="5" name="Text 3"/>
          <p:cNvSpPr txBox="1"/>
          <p:nvPr/>
        </p:nvSpPr>
        <p:spPr>
          <a:xfrm>
            <a:off x="548640" y="1148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The same operating system runs on Weedmaps, Leafly, Yelp and Google.</a:t>
            </a:r>
            <a:endParaRPr lang="en-US" sz="1600" dirty="0"/>
          </a:p>
        </p:txBody>
      </p:sp>
      <p:sp>
        <p:nvSpPr>
          <p:cNvPr id="6" name="Shape 4"/>
          <p:cNvSpPr/>
          <p:nvPr/>
        </p:nvSpPr>
        <p:spPr>
          <a:xfrm>
            <a:off x="548640" y="2011680"/>
            <a:ext cx="2602154" cy="1874520"/>
          </a:xfrm>
          <a:prstGeom prst="roundRect">
            <a:avLst>
              <a:gd name="adj" fmla="val 5854"/>
            </a:avLst>
          </a:prstGeom>
          <a:solidFill>
            <a:srgbClr val="F4F7F2"/>
          </a:solidFill>
          <a:ln w="6350">
            <a:solidFill>
              <a:srgbClr val="F4F7F2"/>
            </a:solidFill>
            <a:prstDash val="solid"/>
          </a:ln>
        </p:spPr>
      </p:sp>
      <p:sp>
        <p:nvSpPr>
          <p:cNvPr id="7" name="Shape 5"/>
          <p:cNvSpPr/>
          <p:nvPr/>
        </p:nvSpPr>
        <p:spPr>
          <a:xfrm>
            <a:off x="777240" y="2240280"/>
            <a:ext cx="502920" cy="50292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13028" y="2376068"/>
            <a:ext cx="231343" cy="231343"/>
          </a:xfrm>
          <a:prstGeom prst="rect">
            <a:avLst/>
          </a:prstGeom>
        </p:spPr>
      </p:pic>
      <p:sp>
        <p:nvSpPr>
          <p:cNvPr id="9" name="Text 6"/>
          <p:cNvSpPr txBox="1"/>
          <p:nvPr/>
        </p:nvSpPr>
        <p:spPr>
          <a:xfrm>
            <a:off x="1417320"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Spend</a:t>
            </a:r>
            <a:endParaRPr lang="en-US" sz="1600" dirty="0"/>
          </a:p>
        </p:txBody>
      </p:sp>
      <p:sp>
        <p:nvSpPr>
          <p:cNvPr id="10" name="Text 7"/>
          <p:cNvSpPr txBox="1"/>
          <p:nvPr/>
        </p:nvSpPr>
        <p:spPr>
          <a:xfrm>
            <a:off x="777240"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Bid, budget and negotiate placements; optimize for ROAS, not impressions.</a:t>
            </a:r>
            <a:endParaRPr lang="en-US" sz="1200" dirty="0"/>
          </a:p>
        </p:txBody>
      </p:sp>
      <p:sp>
        <p:nvSpPr>
          <p:cNvPr id="11" name="Shape 8"/>
          <p:cNvSpPr/>
          <p:nvPr/>
        </p:nvSpPr>
        <p:spPr>
          <a:xfrm>
            <a:off x="3379394" y="2011680"/>
            <a:ext cx="2602154" cy="1874520"/>
          </a:xfrm>
          <a:prstGeom prst="roundRect">
            <a:avLst>
              <a:gd name="adj" fmla="val 5854"/>
            </a:avLst>
          </a:prstGeom>
          <a:solidFill>
            <a:srgbClr val="F4F7F2"/>
          </a:solidFill>
          <a:ln w="6350">
            <a:solidFill>
              <a:srgbClr val="F4F7F2"/>
            </a:solidFill>
            <a:prstDash val="solid"/>
          </a:ln>
        </p:spPr>
      </p:sp>
      <p:sp>
        <p:nvSpPr>
          <p:cNvPr id="12" name="Shape 9"/>
          <p:cNvSpPr/>
          <p:nvPr/>
        </p:nvSpPr>
        <p:spPr>
          <a:xfrm>
            <a:off x="3607994" y="2240280"/>
            <a:ext cx="502920" cy="50292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3743782" y="2376068"/>
            <a:ext cx="231343" cy="231343"/>
          </a:xfrm>
          <a:prstGeom prst="rect">
            <a:avLst/>
          </a:prstGeom>
        </p:spPr>
      </p:pic>
      <p:sp>
        <p:nvSpPr>
          <p:cNvPr id="14" name="Text 10"/>
          <p:cNvSpPr txBox="1"/>
          <p:nvPr/>
        </p:nvSpPr>
        <p:spPr>
          <a:xfrm>
            <a:off x="4248074"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Listing</a:t>
            </a:r>
            <a:endParaRPr lang="en-US" sz="1600" dirty="0"/>
          </a:p>
        </p:txBody>
      </p:sp>
      <p:sp>
        <p:nvSpPr>
          <p:cNvPr id="15" name="Text 11"/>
          <p:cNvSpPr txBox="1"/>
          <p:nvPr/>
        </p:nvSpPr>
        <p:spPr>
          <a:xfrm>
            <a:off x="3607994"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Hours, address, photos, attributes and Q&amp;A kept accurate and conversion-ready.</a:t>
            </a:r>
            <a:endParaRPr lang="en-US" sz="1200" dirty="0"/>
          </a:p>
        </p:txBody>
      </p:sp>
      <p:sp>
        <p:nvSpPr>
          <p:cNvPr id="16" name="Shape 12"/>
          <p:cNvSpPr/>
          <p:nvPr/>
        </p:nvSpPr>
        <p:spPr>
          <a:xfrm>
            <a:off x="6210148" y="2011680"/>
            <a:ext cx="2602154" cy="1874520"/>
          </a:xfrm>
          <a:prstGeom prst="roundRect">
            <a:avLst>
              <a:gd name="adj" fmla="val 5854"/>
            </a:avLst>
          </a:prstGeom>
          <a:solidFill>
            <a:srgbClr val="F4F7F2"/>
          </a:solidFill>
          <a:ln w="6350">
            <a:solidFill>
              <a:srgbClr val="F4F7F2"/>
            </a:solidFill>
            <a:prstDash val="solid"/>
          </a:ln>
        </p:spPr>
      </p:sp>
      <p:sp>
        <p:nvSpPr>
          <p:cNvPr id="17" name="Shape 13"/>
          <p:cNvSpPr/>
          <p:nvPr/>
        </p:nvSpPr>
        <p:spPr>
          <a:xfrm>
            <a:off x="6438748" y="2240280"/>
            <a:ext cx="502920" cy="50292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6574536" y="2376068"/>
            <a:ext cx="231343" cy="231343"/>
          </a:xfrm>
          <a:prstGeom prst="rect">
            <a:avLst/>
          </a:prstGeom>
        </p:spPr>
      </p:pic>
      <p:sp>
        <p:nvSpPr>
          <p:cNvPr id="19" name="Text 14"/>
          <p:cNvSpPr txBox="1"/>
          <p:nvPr/>
        </p:nvSpPr>
        <p:spPr>
          <a:xfrm>
            <a:off x="7078828"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Menu</a:t>
            </a:r>
            <a:endParaRPr lang="en-US" sz="1600" dirty="0"/>
          </a:p>
        </p:txBody>
      </p:sp>
      <p:sp>
        <p:nvSpPr>
          <p:cNvPr id="20" name="Text 15"/>
          <p:cNvSpPr txBox="1"/>
          <p:nvPr/>
        </p:nvSpPr>
        <p:spPr>
          <a:xfrm>
            <a:off x="6438748"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Products verified, pricing and stock synced to POS, best-sellers featured.</a:t>
            </a:r>
            <a:endParaRPr lang="en-US" sz="1200" dirty="0"/>
          </a:p>
        </p:txBody>
      </p:sp>
      <p:sp>
        <p:nvSpPr>
          <p:cNvPr id="21" name="Shape 16"/>
          <p:cNvSpPr/>
          <p:nvPr/>
        </p:nvSpPr>
        <p:spPr>
          <a:xfrm>
            <a:off x="9040901" y="2011680"/>
            <a:ext cx="2602154" cy="1874520"/>
          </a:xfrm>
          <a:prstGeom prst="roundRect">
            <a:avLst>
              <a:gd name="adj" fmla="val 5854"/>
            </a:avLst>
          </a:prstGeom>
          <a:solidFill>
            <a:srgbClr val="F4F7F2"/>
          </a:solidFill>
          <a:ln w="6350">
            <a:solidFill>
              <a:srgbClr val="F4F7F2"/>
            </a:solidFill>
            <a:prstDash val="solid"/>
          </a:ln>
        </p:spPr>
      </p:sp>
      <p:sp>
        <p:nvSpPr>
          <p:cNvPr id="22" name="Shape 17"/>
          <p:cNvSpPr/>
          <p:nvPr/>
        </p:nvSpPr>
        <p:spPr>
          <a:xfrm>
            <a:off x="9269501" y="2240280"/>
            <a:ext cx="502920" cy="50292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9405290" y="2376068"/>
            <a:ext cx="231343" cy="231343"/>
          </a:xfrm>
          <a:prstGeom prst="rect">
            <a:avLst/>
          </a:prstGeom>
        </p:spPr>
      </p:pic>
      <p:sp>
        <p:nvSpPr>
          <p:cNvPr id="24" name="Text 18"/>
          <p:cNvSpPr txBox="1"/>
          <p:nvPr/>
        </p:nvSpPr>
        <p:spPr>
          <a:xfrm>
            <a:off x="9909581"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Reviews</a:t>
            </a:r>
            <a:endParaRPr lang="en-US" sz="1600" dirty="0"/>
          </a:p>
        </p:txBody>
      </p:sp>
      <p:sp>
        <p:nvSpPr>
          <p:cNvPr id="25" name="Text 19"/>
          <p:cNvSpPr txBox="1"/>
          <p:nvPr/>
        </p:nvSpPr>
        <p:spPr>
          <a:xfrm>
            <a:off x="9269501"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Same-day responses; removal requests for guideline-breaking reviews.</a:t>
            </a:r>
            <a:endParaRPr lang="en-US" sz="1200" dirty="0"/>
          </a:p>
        </p:txBody>
      </p:sp>
      <p:sp>
        <p:nvSpPr>
          <p:cNvPr id="26" name="Shape 20"/>
          <p:cNvSpPr/>
          <p:nvPr/>
        </p:nvSpPr>
        <p:spPr>
          <a:xfrm>
            <a:off x="548640" y="4114800"/>
            <a:ext cx="2602154" cy="1874520"/>
          </a:xfrm>
          <a:prstGeom prst="roundRect">
            <a:avLst>
              <a:gd name="adj" fmla="val 5854"/>
            </a:avLst>
          </a:prstGeom>
          <a:solidFill>
            <a:srgbClr val="F4F7F2"/>
          </a:solidFill>
          <a:ln w="6350">
            <a:solidFill>
              <a:srgbClr val="F4F7F2"/>
            </a:solidFill>
            <a:prstDash val="solid"/>
          </a:ln>
        </p:spPr>
      </p:sp>
      <p:sp>
        <p:nvSpPr>
          <p:cNvPr id="27" name="Shape 21"/>
          <p:cNvSpPr/>
          <p:nvPr/>
        </p:nvSpPr>
        <p:spPr>
          <a:xfrm>
            <a:off x="777240" y="4343400"/>
            <a:ext cx="502920" cy="502920"/>
          </a:xfrm>
          <a:prstGeom prst="ellipse">
            <a:avLst/>
          </a:prstGeom>
          <a:solidFill>
            <a:srgbClr val="1F6F43"/>
          </a:solidFill>
          <a:ln w="12700">
            <a:solidFill>
              <a:srgbClr val="1F6F43"/>
            </a:solidFill>
            <a:prstDash val="solid"/>
          </a:ln>
        </p:spPr>
      </p:sp>
      <p:pic>
        <p:nvPicPr>
          <p:cNvPr id="28" name="Image 4" descr="preencoded.png">    </p:cNvPr>
          <p:cNvPicPr>
            <a:picLocks noChangeAspect="1"/>
          </p:cNvPicPr>
          <p:nvPr/>
        </p:nvPicPr>
        <p:blipFill>
          <a:blip r:embed="rId5"/>
          <a:stretch>
            <a:fillRect/>
          </a:stretch>
        </p:blipFill>
        <p:spPr>
          <a:xfrm>
            <a:off x="913028" y="4479188"/>
            <a:ext cx="231343" cy="231343"/>
          </a:xfrm>
          <a:prstGeom prst="rect">
            <a:avLst/>
          </a:prstGeom>
        </p:spPr>
      </p:pic>
      <p:sp>
        <p:nvSpPr>
          <p:cNvPr id="29" name="Text 22"/>
          <p:cNvSpPr txBox="1"/>
          <p:nvPr/>
        </p:nvSpPr>
        <p:spPr>
          <a:xfrm>
            <a:off x="1417320"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Deals</a:t>
            </a:r>
            <a:endParaRPr lang="en-US" sz="1600" dirty="0"/>
          </a:p>
        </p:txBody>
      </p:sp>
      <p:sp>
        <p:nvSpPr>
          <p:cNvPr id="30" name="Text 23"/>
          <p:cNvSpPr txBox="1"/>
          <p:nvPr/>
        </p:nvSpPr>
        <p:spPr>
          <a:xfrm>
            <a:off x="777240"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Daily and monthly promos, BOGOs, events and Google Posts on every platform.</a:t>
            </a:r>
            <a:endParaRPr lang="en-US" sz="1200" dirty="0"/>
          </a:p>
        </p:txBody>
      </p:sp>
      <p:sp>
        <p:nvSpPr>
          <p:cNvPr id="31" name="Shape 24"/>
          <p:cNvSpPr/>
          <p:nvPr/>
        </p:nvSpPr>
        <p:spPr>
          <a:xfrm>
            <a:off x="3379394" y="4114800"/>
            <a:ext cx="2602154" cy="1874520"/>
          </a:xfrm>
          <a:prstGeom prst="roundRect">
            <a:avLst>
              <a:gd name="adj" fmla="val 5854"/>
            </a:avLst>
          </a:prstGeom>
          <a:solidFill>
            <a:srgbClr val="F4F7F2"/>
          </a:solidFill>
          <a:ln w="6350">
            <a:solidFill>
              <a:srgbClr val="F4F7F2"/>
            </a:solidFill>
            <a:prstDash val="solid"/>
          </a:ln>
        </p:spPr>
      </p:sp>
      <p:sp>
        <p:nvSpPr>
          <p:cNvPr id="32" name="Shape 25"/>
          <p:cNvSpPr/>
          <p:nvPr/>
        </p:nvSpPr>
        <p:spPr>
          <a:xfrm>
            <a:off x="3607994" y="4343400"/>
            <a:ext cx="502920" cy="502920"/>
          </a:xfrm>
          <a:prstGeom prst="ellipse">
            <a:avLst/>
          </a:prstGeom>
          <a:solidFill>
            <a:srgbClr val="1F6F43"/>
          </a:solidFill>
          <a:ln w="12700">
            <a:solidFill>
              <a:srgbClr val="1F6F43"/>
            </a:solidFill>
            <a:prstDash val="solid"/>
          </a:ln>
        </p:spPr>
      </p:sp>
      <p:pic>
        <p:nvPicPr>
          <p:cNvPr id="33" name="Image 5" descr="preencoded.png">    </p:cNvPr>
          <p:cNvPicPr>
            <a:picLocks noChangeAspect="1"/>
          </p:cNvPicPr>
          <p:nvPr/>
        </p:nvPicPr>
        <p:blipFill>
          <a:blip r:embed="rId6"/>
          <a:stretch>
            <a:fillRect/>
          </a:stretch>
        </p:blipFill>
        <p:spPr>
          <a:xfrm>
            <a:off x="3743782" y="4479188"/>
            <a:ext cx="231343" cy="231343"/>
          </a:xfrm>
          <a:prstGeom prst="rect">
            <a:avLst/>
          </a:prstGeom>
        </p:spPr>
      </p:pic>
      <p:sp>
        <p:nvSpPr>
          <p:cNvPr id="34" name="Text 26"/>
          <p:cNvSpPr txBox="1"/>
          <p:nvPr/>
        </p:nvSpPr>
        <p:spPr>
          <a:xfrm>
            <a:off x="4248074"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Creative</a:t>
            </a:r>
            <a:endParaRPr lang="en-US" sz="1600" dirty="0"/>
          </a:p>
        </p:txBody>
      </p:sp>
      <p:sp>
        <p:nvSpPr>
          <p:cNvPr id="35" name="Text 27"/>
          <p:cNvSpPr txBox="1"/>
          <p:nvPr/>
        </p:nvSpPr>
        <p:spPr>
          <a:xfrm>
            <a:off x="3607994"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In-house graphics for every ad format and listing asset.</a:t>
            </a:r>
            <a:endParaRPr lang="en-US" sz="1200" dirty="0"/>
          </a:p>
        </p:txBody>
      </p:sp>
      <p:sp>
        <p:nvSpPr>
          <p:cNvPr id="36" name="Shape 28"/>
          <p:cNvSpPr/>
          <p:nvPr/>
        </p:nvSpPr>
        <p:spPr>
          <a:xfrm>
            <a:off x="6210148" y="4114800"/>
            <a:ext cx="2602154" cy="1874520"/>
          </a:xfrm>
          <a:prstGeom prst="roundRect">
            <a:avLst>
              <a:gd name="adj" fmla="val 5854"/>
            </a:avLst>
          </a:prstGeom>
          <a:solidFill>
            <a:srgbClr val="F4F7F2"/>
          </a:solidFill>
          <a:ln w="6350">
            <a:solidFill>
              <a:srgbClr val="F4F7F2"/>
            </a:solidFill>
            <a:prstDash val="solid"/>
          </a:ln>
        </p:spPr>
      </p:sp>
      <p:sp>
        <p:nvSpPr>
          <p:cNvPr id="37" name="Shape 29"/>
          <p:cNvSpPr/>
          <p:nvPr/>
        </p:nvSpPr>
        <p:spPr>
          <a:xfrm>
            <a:off x="6438748" y="4343400"/>
            <a:ext cx="502920" cy="502920"/>
          </a:xfrm>
          <a:prstGeom prst="ellipse">
            <a:avLst/>
          </a:prstGeom>
          <a:solidFill>
            <a:srgbClr val="1F6F43"/>
          </a:solidFill>
          <a:ln w="12700">
            <a:solidFill>
              <a:srgbClr val="1F6F43"/>
            </a:solidFill>
            <a:prstDash val="solid"/>
          </a:ln>
        </p:spPr>
      </p:sp>
      <p:pic>
        <p:nvPicPr>
          <p:cNvPr id="38" name="Image 6" descr="preencoded.png">    </p:cNvPr>
          <p:cNvPicPr>
            <a:picLocks noChangeAspect="1"/>
          </p:cNvPicPr>
          <p:nvPr/>
        </p:nvPicPr>
        <p:blipFill>
          <a:blip r:embed="rId7"/>
          <a:stretch>
            <a:fillRect/>
          </a:stretch>
        </p:blipFill>
        <p:spPr>
          <a:xfrm>
            <a:off x="6574536" y="4479188"/>
            <a:ext cx="231343" cy="231343"/>
          </a:xfrm>
          <a:prstGeom prst="rect">
            <a:avLst/>
          </a:prstGeom>
        </p:spPr>
      </p:pic>
      <p:sp>
        <p:nvSpPr>
          <p:cNvPr id="39" name="Text 30"/>
          <p:cNvSpPr txBox="1"/>
          <p:nvPr/>
        </p:nvSpPr>
        <p:spPr>
          <a:xfrm>
            <a:off x="7078828"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Data</a:t>
            </a:r>
            <a:endParaRPr lang="en-US" sz="1600" dirty="0"/>
          </a:p>
        </p:txBody>
      </p:sp>
      <p:sp>
        <p:nvSpPr>
          <p:cNvPr id="40" name="Text 31"/>
          <p:cNvSpPr txBox="1"/>
          <p:nvPr/>
        </p:nvSpPr>
        <p:spPr>
          <a:xfrm>
            <a:off x="6438748"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One dashboard with POS-integrated attribution across every channel.</a:t>
            </a:r>
            <a:endParaRPr lang="en-US" sz="1200" dirty="0"/>
          </a:p>
        </p:txBody>
      </p:sp>
      <p:sp>
        <p:nvSpPr>
          <p:cNvPr id="41" name="Shape 32"/>
          <p:cNvSpPr/>
          <p:nvPr/>
        </p:nvSpPr>
        <p:spPr>
          <a:xfrm>
            <a:off x="9040901" y="4114800"/>
            <a:ext cx="2602154" cy="1874520"/>
          </a:xfrm>
          <a:prstGeom prst="roundRect">
            <a:avLst>
              <a:gd name="adj" fmla="val 5854"/>
            </a:avLst>
          </a:prstGeom>
          <a:solidFill>
            <a:srgbClr val="C8F04A"/>
          </a:solidFill>
          <a:ln w="6350">
            <a:solidFill>
              <a:srgbClr val="C8F04A"/>
            </a:solidFill>
            <a:prstDash val="solid"/>
          </a:ln>
        </p:spPr>
      </p:sp>
      <p:sp>
        <p:nvSpPr>
          <p:cNvPr id="42" name="Text 33"/>
          <p:cNvSpPr txBox="1"/>
          <p:nvPr/>
        </p:nvSpPr>
        <p:spPr>
          <a:xfrm>
            <a:off x="9269501" y="4389120"/>
            <a:ext cx="214495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Guarantee</a:t>
            </a:r>
            <a:endParaRPr lang="en-US" sz="1600" dirty="0"/>
          </a:p>
        </p:txBody>
      </p:sp>
      <p:sp>
        <p:nvSpPr>
          <p:cNvPr id="43" name="Text 34"/>
          <p:cNvSpPr txBox="1"/>
          <p:nvPr/>
        </p:nvSpPr>
        <p:spPr>
          <a:xfrm>
            <a:off x="9269501" y="4892040"/>
            <a:ext cx="2144954" cy="1005840"/>
          </a:xfrm>
          <a:prstGeom prst="rect">
            <a:avLst/>
          </a:prstGeom>
          <a:noFill/>
          <a:ln/>
        </p:spPr>
        <p:txBody>
          <a:bodyPr wrap="square" lIns="0" tIns="0" rIns="0" bIns="0" rtlCol="0" anchor="t"/>
          <a:lstStyle/>
          <a:p>
            <a:pPr indent="0" marL="0">
              <a:buNone/>
            </a:pPr>
            <a:r>
              <a:rPr lang="en-US" sz="1400" b="1" dirty="0">
                <a:solidFill>
                  <a:srgbClr val="0F2A1D"/>
                </a:solidFill>
                <a:latin typeface="Calibri" pitchFamily="34" charset="0"/>
                <a:ea typeface="Calibri" pitchFamily="34" charset="-122"/>
                <a:cs typeface="Calibri" pitchFamily="34" charset="-120"/>
              </a:rPr>
              <a:t>Results in 30 days or your money back.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Your scope of services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What Sparks will run for Green Valley Dispensary.</a:t>
            </a:r>
            <a:endParaRPr lang="en-US" sz="1600" dirty="0"/>
          </a:p>
        </p:txBody>
      </p:sp>
      <p:sp>
        <p:nvSpPr>
          <p:cNvPr id="6" name="Shape 4"/>
          <p:cNvSpPr/>
          <p:nvPr/>
        </p:nvSpPr>
        <p:spPr>
          <a:xfrm>
            <a:off x="548640" y="1965960"/>
            <a:ext cx="11094415" cy="603504"/>
          </a:xfrm>
          <a:prstGeom prst="roundRect">
            <a:avLst>
              <a:gd name="adj" fmla="val 18182"/>
            </a:avLst>
          </a:prstGeom>
          <a:solidFill>
            <a:srgbClr val="F4F7F2"/>
          </a:solidFill>
          <a:ln w="6350">
            <a:solidFill>
              <a:srgbClr val="F4F7F2"/>
            </a:solidFill>
            <a:prstDash val="solid"/>
          </a:ln>
        </p:spPr>
      </p:sp>
      <p:sp>
        <p:nvSpPr>
          <p:cNvPr id="7" name="Shape 5"/>
          <p:cNvSpPr/>
          <p:nvPr/>
        </p:nvSpPr>
        <p:spPr>
          <a:xfrm>
            <a:off x="685800" y="2066544"/>
            <a:ext cx="402336" cy="402336"/>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794431" y="2175175"/>
            <a:ext cx="185075" cy="185075"/>
          </a:xfrm>
          <a:prstGeom prst="rect">
            <a:avLst/>
          </a:prstGeom>
        </p:spPr>
      </p:pic>
      <p:sp>
        <p:nvSpPr>
          <p:cNvPr id="9" name="Text 6"/>
          <p:cNvSpPr txBox="1"/>
          <p:nvPr/>
        </p:nvSpPr>
        <p:spPr>
          <a:xfrm>
            <a:off x="1234440" y="2039112"/>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Weedmaps Management</a:t>
            </a:r>
            <a:endParaRPr lang="en-US" sz="1400" dirty="0"/>
          </a:p>
        </p:txBody>
      </p:sp>
      <p:sp>
        <p:nvSpPr>
          <p:cNvPr id="10" name="Text 7"/>
          <p:cNvSpPr txBox="1"/>
          <p:nvPr/>
        </p:nvSpPr>
        <p:spPr>
          <a:xfrm>
            <a:off x="4526280" y="2039112"/>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Bid strategy for top-3 placement in zone, full menu verification, weekly deal rotation, review responses, weekly reporting.</a:t>
            </a:r>
            <a:endParaRPr lang="en-US" sz="1100" dirty="0"/>
          </a:p>
        </p:txBody>
      </p:sp>
      <p:sp>
        <p:nvSpPr>
          <p:cNvPr id="11" name="Shape 8"/>
          <p:cNvSpPr/>
          <p:nvPr/>
        </p:nvSpPr>
        <p:spPr>
          <a:xfrm>
            <a:off x="10362895" y="2112264"/>
            <a:ext cx="1143000" cy="310896"/>
          </a:xfrm>
          <a:prstGeom prst="roundRect">
            <a:avLst>
              <a:gd name="adj" fmla="val 50000"/>
            </a:avLst>
          </a:prstGeom>
          <a:solidFill>
            <a:srgbClr val="C8F04A"/>
          </a:solidFill>
          <a:ln w="12700">
            <a:solidFill>
              <a:srgbClr val="C8F04A"/>
            </a:solidFill>
            <a:prstDash val="solid"/>
          </a:ln>
        </p:spPr>
      </p:sp>
      <p:sp>
        <p:nvSpPr>
          <p:cNvPr id="12" name="Text 9"/>
          <p:cNvSpPr txBox="1"/>
          <p:nvPr/>
        </p:nvSpPr>
        <p:spPr>
          <a:xfrm>
            <a:off x="10362895" y="2112264"/>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13" name="Shape 10"/>
          <p:cNvSpPr/>
          <p:nvPr/>
        </p:nvSpPr>
        <p:spPr>
          <a:xfrm>
            <a:off x="548640" y="2660904"/>
            <a:ext cx="11094415" cy="603504"/>
          </a:xfrm>
          <a:prstGeom prst="roundRect">
            <a:avLst>
              <a:gd name="adj" fmla="val 18182"/>
            </a:avLst>
          </a:prstGeom>
          <a:solidFill>
            <a:srgbClr val="F4F7F2"/>
          </a:solidFill>
          <a:ln w="6350">
            <a:solidFill>
              <a:srgbClr val="F4F7F2"/>
            </a:solidFill>
            <a:prstDash val="solid"/>
          </a:ln>
        </p:spPr>
      </p:sp>
      <p:sp>
        <p:nvSpPr>
          <p:cNvPr id="14" name="Shape 11"/>
          <p:cNvSpPr/>
          <p:nvPr/>
        </p:nvSpPr>
        <p:spPr>
          <a:xfrm>
            <a:off x="685800" y="2761488"/>
            <a:ext cx="402336" cy="402336"/>
          </a:xfrm>
          <a:prstGeom prst="ellipse">
            <a:avLst/>
          </a:prstGeom>
          <a:solidFill>
            <a:srgbClr val="1F6F43"/>
          </a:solidFill>
          <a:ln w="12700">
            <a:solidFill>
              <a:srgbClr val="1F6F43"/>
            </a:solidFill>
            <a:prstDash val="solid"/>
          </a:ln>
        </p:spPr>
      </p:sp>
      <p:pic>
        <p:nvPicPr>
          <p:cNvPr id="15" name="Image 1" descr="preencoded.png">    </p:cNvPr>
          <p:cNvPicPr>
            <a:picLocks noChangeAspect="1"/>
          </p:cNvPicPr>
          <p:nvPr/>
        </p:nvPicPr>
        <p:blipFill>
          <a:blip r:embed="rId2"/>
          <a:stretch>
            <a:fillRect/>
          </a:stretch>
        </p:blipFill>
        <p:spPr>
          <a:xfrm>
            <a:off x="794431" y="2870119"/>
            <a:ext cx="185075" cy="185075"/>
          </a:xfrm>
          <a:prstGeom prst="rect">
            <a:avLst/>
          </a:prstGeom>
        </p:spPr>
      </p:pic>
      <p:sp>
        <p:nvSpPr>
          <p:cNvPr id="16" name="Text 12"/>
          <p:cNvSpPr txBox="1"/>
          <p:nvPr/>
        </p:nvSpPr>
        <p:spPr>
          <a:xfrm>
            <a:off x="1234440" y="2734056"/>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Leafly Management</a:t>
            </a:r>
            <a:endParaRPr lang="en-US" sz="1400" dirty="0"/>
          </a:p>
        </p:txBody>
      </p:sp>
      <p:sp>
        <p:nvSpPr>
          <p:cNvPr id="17" name="Text 13"/>
          <p:cNvSpPr txBox="1"/>
          <p:nvPr/>
        </p:nvSpPr>
        <p:spPr>
          <a:xfrm>
            <a:off x="4526280" y="2734056"/>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Menu sync with POS, Leafly ads, deal activations, review management.</a:t>
            </a:r>
            <a:endParaRPr lang="en-US" sz="1100" dirty="0"/>
          </a:p>
        </p:txBody>
      </p:sp>
      <p:sp>
        <p:nvSpPr>
          <p:cNvPr id="18" name="Shape 14"/>
          <p:cNvSpPr/>
          <p:nvPr/>
        </p:nvSpPr>
        <p:spPr>
          <a:xfrm>
            <a:off x="10362895" y="2807208"/>
            <a:ext cx="1143000" cy="310896"/>
          </a:xfrm>
          <a:prstGeom prst="roundRect">
            <a:avLst>
              <a:gd name="adj" fmla="val 50000"/>
            </a:avLst>
          </a:prstGeom>
          <a:solidFill>
            <a:srgbClr val="C8F04A"/>
          </a:solidFill>
          <a:ln w="12700">
            <a:solidFill>
              <a:srgbClr val="C8F04A"/>
            </a:solidFill>
            <a:prstDash val="solid"/>
          </a:ln>
        </p:spPr>
      </p:sp>
      <p:sp>
        <p:nvSpPr>
          <p:cNvPr id="19" name="Text 15"/>
          <p:cNvSpPr txBox="1"/>
          <p:nvPr/>
        </p:nvSpPr>
        <p:spPr>
          <a:xfrm>
            <a:off x="10362895" y="2807208"/>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20" name="Shape 16"/>
          <p:cNvSpPr/>
          <p:nvPr/>
        </p:nvSpPr>
        <p:spPr>
          <a:xfrm>
            <a:off x="548640" y="3355848"/>
            <a:ext cx="11094415" cy="603504"/>
          </a:xfrm>
          <a:prstGeom prst="roundRect">
            <a:avLst>
              <a:gd name="adj" fmla="val 18182"/>
            </a:avLst>
          </a:prstGeom>
          <a:solidFill>
            <a:srgbClr val="F4F7F2"/>
          </a:solidFill>
          <a:ln w="6350">
            <a:solidFill>
              <a:srgbClr val="F4F7F2"/>
            </a:solidFill>
            <a:prstDash val="solid"/>
          </a:ln>
        </p:spPr>
      </p:sp>
      <p:sp>
        <p:nvSpPr>
          <p:cNvPr id="21" name="Shape 17"/>
          <p:cNvSpPr/>
          <p:nvPr/>
        </p:nvSpPr>
        <p:spPr>
          <a:xfrm>
            <a:off x="685800" y="3456432"/>
            <a:ext cx="402336" cy="402336"/>
          </a:xfrm>
          <a:prstGeom prst="ellipse">
            <a:avLst/>
          </a:prstGeom>
          <a:solidFill>
            <a:srgbClr val="1F6F43"/>
          </a:solidFill>
          <a:ln w="12700">
            <a:solidFill>
              <a:srgbClr val="1F6F43"/>
            </a:solidFill>
            <a:prstDash val="solid"/>
          </a:ln>
        </p:spPr>
      </p:sp>
      <p:pic>
        <p:nvPicPr>
          <p:cNvPr id="22" name="Image 2" descr="preencoded.png">    </p:cNvPr>
          <p:cNvPicPr>
            <a:picLocks noChangeAspect="1"/>
          </p:cNvPicPr>
          <p:nvPr/>
        </p:nvPicPr>
        <p:blipFill>
          <a:blip r:embed="rId3"/>
          <a:stretch>
            <a:fillRect/>
          </a:stretch>
        </p:blipFill>
        <p:spPr>
          <a:xfrm>
            <a:off x="794431" y="3565063"/>
            <a:ext cx="185075" cy="185075"/>
          </a:xfrm>
          <a:prstGeom prst="rect">
            <a:avLst/>
          </a:prstGeom>
        </p:spPr>
      </p:pic>
      <p:sp>
        <p:nvSpPr>
          <p:cNvPr id="23" name="Text 18"/>
          <p:cNvSpPr txBox="1"/>
          <p:nvPr/>
        </p:nvSpPr>
        <p:spPr>
          <a:xfrm>
            <a:off x="1234440" y="3429000"/>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Yelp Management</a:t>
            </a:r>
            <a:endParaRPr lang="en-US" sz="1400" dirty="0"/>
          </a:p>
        </p:txBody>
      </p:sp>
      <p:sp>
        <p:nvSpPr>
          <p:cNvPr id="24" name="Text 19"/>
          <p:cNvSpPr txBox="1"/>
          <p:nvPr/>
        </p:nvSpPr>
        <p:spPr>
          <a:xfrm>
            <a:off x="4526280" y="3429000"/>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Yelp Ads (Certified Partner), profile optimization, review responses and removal requests, lead tracking.</a:t>
            </a:r>
            <a:endParaRPr lang="en-US" sz="1100" dirty="0"/>
          </a:p>
        </p:txBody>
      </p:sp>
      <p:sp>
        <p:nvSpPr>
          <p:cNvPr id="25" name="Shape 20"/>
          <p:cNvSpPr/>
          <p:nvPr/>
        </p:nvSpPr>
        <p:spPr>
          <a:xfrm>
            <a:off x="10362895" y="3502152"/>
            <a:ext cx="1143000" cy="310896"/>
          </a:xfrm>
          <a:prstGeom prst="roundRect">
            <a:avLst>
              <a:gd name="adj" fmla="val 50000"/>
            </a:avLst>
          </a:prstGeom>
          <a:solidFill>
            <a:srgbClr val="C8F04A"/>
          </a:solidFill>
          <a:ln w="12700">
            <a:solidFill>
              <a:srgbClr val="C8F04A"/>
            </a:solidFill>
            <a:prstDash val="solid"/>
          </a:ln>
        </p:spPr>
      </p:sp>
      <p:sp>
        <p:nvSpPr>
          <p:cNvPr id="26" name="Text 21"/>
          <p:cNvSpPr txBox="1"/>
          <p:nvPr/>
        </p:nvSpPr>
        <p:spPr>
          <a:xfrm>
            <a:off x="10362895" y="3502152"/>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27" name="Shape 22"/>
          <p:cNvSpPr/>
          <p:nvPr/>
        </p:nvSpPr>
        <p:spPr>
          <a:xfrm>
            <a:off x="548640" y="4050792"/>
            <a:ext cx="11094415" cy="603504"/>
          </a:xfrm>
          <a:prstGeom prst="roundRect">
            <a:avLst>
              <a:gd name="adj" fmla="val 18182"/>
            </a:avLst>
          </a:prstGeom>
          <a:solidFill>
            <a:srgbClr val="F4F7F2"/>
          </a:solidFill>
          <a:ln w="6350">
            <a:solidFill>
              <a:srgbClr val="F4F7F2"/>
            </a:solidFill>
            <a:prstDash val="solid"/>
          </a:ln>
        </p:spPr>
      </p:sp>
      <p:sp>
        <p:nvSpPr>
          <p:cNvPr id="28" name="Shape 23"/>
          <p:cNvSpPr/>
          <p:nvPr/>
        </p:nvSpPr>
        <p:spPr>
          <a:xfrm>
            <a:off x="685800" y="4151376"/>
            <a:ext cx="402336" cy="402336"/>
          </a:xfrm>
          <a:prstGeom prst="ellipse">
            <a:avLst/>
          </a:prstGeom>
          <a:solidFill>
            <a:srgbClr val="1F6F43"/>
          </a:solidFill>
          <a:ln w="12700">
            <a:solidFill>
              <a:srgbClr val="1F6F43"/>
            </a:solidFill>
            <a:prstDash val="solid"/>
          </a:ln>
        </p:spPr>
      </p:sp>
      <p:pic>
        <p:nvPicPr>
          <p:cNvPr id="29" name="Image 3" descr="preencoded.png">    </p:cNvPr>
          <p:cNvPicPr>
            <a:picLocks noChangeAspect="1"/>
          </p:cNvPicPr>
          <p:nvPr/>
        </p:nvPicPr>
        <p:blipFill>
          <a:blip r:embed="rId4"/>
          <a:stretch>
            <a:fillRect/>
          </a:stretch>
        </p:blipFill>
        <p:spPr>
          <a:xfrm>
            <a:off x="794431" y="4260007"/>
            <a:ext cx="185075" cy="185075"/>
          </a:xfrm>
          <a:prstGeom prst="rect">
            <a:avLst/>
          </a:prstGeom>
        </p:spPr>
      </p:pic>
      <p:sp>
        <p:nvSpPr>
          <p:cNvPr id="30" name="Text 24"/>
          <p:cNvSpPr txBox="1"/>
          <p:nvPr/>
        </p:nvSpPr>
        <p:spPr>
          <a:xfrm>
            <a:off x="1234440" y="4123944"/>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Google (GBP) Management</a:t>
            </a:r>
            <a:endParaRPr lang="en-US" sz="1400" dirty="0"/>
          </a:p>
        </p:txBody>
      </p:sp>
      <p:sp>
        <p:nvSpPr>
          <p:cNvPr id="31" name="Text 25"/>
          <p:cNvSpPr txBox="1"/>
          <p:nvPr/>
        </p:nvSpPr>
        <p:spPr>
          <a:xfrm>
            <a:off x="4526280" y="4123944"/>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Claim &amp; optimize GBP, weekly Google Posts, photo refresh, Q&amp;A, review response. Target: Maps 3-pack in 90 days.</a:t>
            </a:r>
            <a:endParaRPr lang="en-US" sz="1100" dirty="0"/>
          </a:p>
        </p:txBody>
      </p:sp>
      <p:sp>
        <p:nvSpPr>
          <p:cNvPr id="32" name="Shape 26"/>
          <p:cNvSpPr/>
          <p:nvPr/>
        </p:nvSpPr>
        <p:spPr>
          <a:xfrm>
            <a:off x="10362895" y="4197096"/>
            <a:ext cx="1143000" cy="310896"/>
          </a:xfrm>
          <a:prstGeom prst="roundRect">
            <a:avLst>
              <a:gd name="adj" fmla="val 50000"/>
            </a:avLst>
          </a:prstGeom>
          <a:solidFill>
            <a:srgbClr val="C8F04A"/>
          </a:solidFill>
          <a:ln w="12700">
            <a:solidFill>
              <a:srgbClr val="C8F04A"/>
            </a:solidFill>
            <a:prstDash val="solid"/>
          </a:ln>
        </p:spPr>
      </p:sp>
      <p:sp>
        <p:nvSpPr>
          <p:cNvPr id="33" name="Text 27"/>
          <p:cNvSpPr txBox="1"/>
          <p:nvPr/>
        </p:nvSpPr>
        <p:spPr>
          <a:xfrm>
            <a:off x="10362895" y="4197096"/>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34" name="Shape 28"/>
          <p:cNvSpPr/>
          <p:nvPr/>
        </p:nvSpPr>
        <p:spPr>
          <a:xfrm>
            <a:off x="548640" y="4745736"/>
            <a:ext cx="11094415" cy="603504"/>
          </a:xfrm>
          <a:prstGeom prst="roundRect">
            <a:avLst>
              <a:gd name="adj" fmla="val 18182"/>
            </a:avLst>
          </a:prstGeom>
          <a:solidFill>
            <a:srgbClr val="F4F7F2"/>
          </a:solidFill>
          <a:ln w="6350">
            <a:solidFill>
              <a:srgbClr val="F4F7F2"/>
            </a:solidFill>
            <a:prstDash val="solid"/>
          </a:ln>
        </p:spPr>
      </p:sp>
      <p:sp>
        <p:nvSpPr>
          <p:cNvPr id="35" name="Shape 29"/>
          <p:cNvSpPr/>
          <p:nvPr/>
        </p:nvSpPr>
        <p:spPr>
          <a:xfrm>
            <a:off x="685800" y="4846320"/>
            <a:ext cx="402336" cy="402336"/>
          </a:xfrm>
          <a:prstGeom prst="ellipse">
            <a:avLst/>
          </a:prstGeom>
          <a:solidFill>
            <a:srgbClr val="1F6F43"/>
          </a:solidFill>
          <a:ln w="12700">
            <a:solidFill>
              <a:srgbClr val="1F6F43"/>
            </a:solidFill>
            <a:prstDash val="solid"/>
          </a:ln>
        </p:spPr>
      </p:sp>
      <p:pic>
        <p:nvPicPr>
          <p:cNvPr id="36" name="Image 4" descr="preencoded.png">    </p:cNvPr>
          <p:cNvPicPr>
            <a:picLocks noChangeAspect="1"/>
          </p:cNvPicPr>
          <p:nvPr/>
        </p:nvPicPr>
        <p:blipFill>
          <a:blip r:embed="rId5"/>
          <a:stretch>
            <a:fillRect/>
          </a:stretch>
        </p:blipFill>
        <p:spPr>
          <a:xfrm>
            <a:off x="794431" y="4954951"/>
            <a:ext cx="185075" cy="185075"/>
          </a:xfrm>
          <a:prstGeom prst="rect">
            <a:avLst/>
          </a:prstGeom>
        </p:spPr>
      </p:pic>
      <p:sp>
        <p:nvSpPr>
          <p:cNvPr id="37" name="Text 30"/>
          <p:cNvSpPr txBox="1"/>
          <p:nvPr/>
        </p:nvSpPr>
        <p:spPr>
          <a:xfrm>
            <a:off x="1234440" y="4818888"/>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Local SEO</a:t>
            </a:r>
            <a:endParaRPr lang="en-US" sz="1400" dirty="0"/>
          </a:p>
        </p:txBody>
      </p:sp>
      <p:sp>
        <p:nvSpPr>
          <p:cNvPr id="38" name="Text 31"/>
          <p:cNvSpPr txBox="1"/>
          <p:nvPr/>
        </p:nvSpPr>
        <p:spPr>
          <a:xfrm>
            <a:off x="4526280" y="4818888"/>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NAP cleanup and citations across 50+ directories, voice-assistant visibility.</a:t>
            </a:r>
            <a:endParaRPr lang="en-US" sz="1100" dirty="0"/>
          </a:p>
        </p:txBody>
      </p:sp>
      <p:sp>
        <p:nvSpPr>
          <p:cNvPr id="39" name="Shape 32"/>
          <p:cNvSpPr/>
          <p:nvPr/>
        </p:nvSpPr>
        <p:spPr>
          <a:xfrm>
            <a:off x="10362895" y="4892040"/>
            <a:ext cx="1143000" cy="310896"/>
          </a:xfrm>
          <a:prstGeom prst="roundRect">
            <a:avLst>
              <a:gd name="adj" fmla="val 50000"/>
            </a:avLst>
          </a:prstGeom>
          <a:solidFill>
            <a:srgbClr val="C8F04A"/>
          </a:solidFill>
          <a:ln w="12700">
            <a:solidFill>
              <a:srgbClr val="C8F04A"/>
            </a:solidFill>
            <a:prstDash val="solid"/>
          </a:ln>
        </p:spPr>
      </p:sp>
      <p:sp>
        <p:nvSpPr>
          <p:cNvPr id="40" name="Text 33"/>
          <p:cNvSpPr txBox="1"/>
          <p:nvPr/>
        </p:nvSpPr>
        <p:spPr>
          <a:xfrm>
            <a:off x="10362895" y="4892040"/>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41" name="Shape 34"/>
          <p:cNvSpPr/>
          <p:nvPr/>
        </p:nvSpPr>
        <p:spPr>
          <a:xfrm>
            <a:off x="548640" y="5440680"/>
            <a:ext cx="11094415" cy="603504"/>
          </a:xfrm>
          <a:prstGeom prst="roundRect">
            <a:avLst>
              <a:gd name="adj" fmla="val 18182"/>
            </a:avLst>
          </a:prstGeom>
          <a:solidFill>
            <a:srgbClr val="F4F7F2"/>
          </a:solidFill>
          <a:ln w="6350">
            <a:solidFill>
              <a:srgbClr val="F4F7F2"/>
            </a:solidFill>
            <a:prstDash val="solid"/>
          </a:ln>
        </p:spPr>
      </p:sp>
      <p:sp>
        <p:nvSpPr>
          <p:cNvPr id="42" name="Shape 35"/>
          <p:cNvSpPr/>
          <p:nvPr/>
        </p:nvSpPr>
        <p:spPr>
          <a:xfrm>
            <a:off x="685800" y="5541264"/>
            <a:ext cx="402336" cy="402336"/>
          </a:xfrm>
          <a:prstGeom prst="ellipse">
            <a:avLst/>
          </a:prstGeom>
          <a:solidFill>
            <a:srgbClr val="1F6F43"/>
          </a:solidFill>
          <a:ln w="12700">
            <a:solidFill>
              <a:srgbClr val="1F6F43"/>
            </a:solidFill>
            <a:prstDash val="solid"/>
          </a:ln>
        </p:spPr>
      </p:sp>
      <p:pic>
        <p:nvPicPr>
          <p:cNvPr id="43" name="Image 5" descr="preencoded.png">    </p:cNvPr>
          <p:cNvPicPr>
            <a:picLocks noChangeAspect="1"/>
          </p:cNvPicPr>
          <p:nvPr/>
        </p:nvPicPr>
        <p:blipFill>
          <a:blip r:embed="rId6"/>
          <a:stretch>
            <a:fillRect/>
          </a:stretch>
        </p:blipFill>
        <p:spPr>
          <a:xfrm>
            <a:off x="794431" y="5649895"/>
            <a:ext cx="185075" cy="185075"/>
          </a:xfrm>
          <a:prstGeom prst="rect">
            <a:avLst/>
          </a:prstGeom>
        </p:spPr>
      </p:pic>
      <p:sp>
        <p:nvSpPr>
          <p:cNvPr id="44" name="Text 36"/>
          <p:cNvSpPr txBox="1"/>
          <p:nvPr/>
        </p:nvSpPr>
        <p:spPr>
          <a:xfrm>
            <a:off x="1234440" y="5513832"/>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Programmatic Advertising</a:t>
            </a:r>
            <a:endParaRPr lang="en-US" sz="1400" dirty="0"/>
          </a:p>
        </p:txBody>
      </p:sp>
      <p:sp>
        <p:nvSpPr>
          <p:cNvPr id="45" name="Text 37"/>
          <p:cNvSpPr txBox="1"/>
          <p:nvPr/>
        </p:nvSpPr>
        <p:spPr>
          <a:xfrm>
            <a:off x="4526280" y="5513832"/>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Geo-fenced display + CTV within 5 miles via compliant DSPs; retargeting listing visitors.</a:t>
            </a:r>
            <a:endParaRPr lang="en-US" sz="1100" dirty="0"/>
          </a:p>
        </p:txBody>
      </p:sp>
      <p:sp>
        <p:nvSpPr>
          <p:cNvPr id="46" name="Shape 38"/>
          <p:cNvSpPr/>
          <p:nvPr/>
        </p:nvSpPr>
        <p:spPr>
          <a:xfrm>
            <a:off x="10362895" y="5586984"/>
            <a:ext cx="1143000" cy="310896"/>
          </a:xfrm>
          <a:prstGeom prst="roundRect">
            <a:avLst>
              <a:gd name="adj" fmla="val 50000"/>
            </a:avLst>
          </a:prstGeom>
          <a:solidFill>
            <a:srgbClr val="C8F04A"/>
          </a:solidFill>
          <a:ln w="12700">
            <a:solidFill>
              <a:srgbClr val="C8F04A"/>
            </a:solidFill>
            <a:prstDash val="solid"/>
          </a:ln>
        </p:spPr>
      </p:sp>
      <p:sp>
        <p:nvSpPr>
          <p:cNvPr id="47" name="Text 39"/>
          <p:cNvSpPr txBox="1"/>
          <p:nvPr/>
        </p:nvSpPr>
        <p:spPr>
          <a:xfrm>
            <a:off x="10362895" y="5586984"/>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results our clients see</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Averages across Sparks-managed accounts.</a:t>
            </a:r>
            <a:endParaRPr lang="en-US" sz="1600" dirty="0"/>
          </a:p>
        </p:txBody>
      </p:sp>
      <p:sp>
        <p:nvSpPr>
          <p:cNvPr id="6" name="Shape 4"/>
          <p:cNvSpPr/>
          <p:nvPr/>
        </p:nvSpPr>
        <p:spPr>
          <a:xfrm>
            <a:off x="548640" y="2194560"/>
            <a:ext cx="2567864" cy="3108960"/>
          </a:xfrm>
          <a:prstGeom prst="roundRect">
            <a:avLst>
              <a:gd name="adj" fmla="val 4273"/>
            </a:avLst>
          </a:prstGeom>
          <a:solidFill>
            <a:srgbClr val="163826"/>
          </a:solidFill>
          <a:ln w="6350">
            <a:solidFill>
              <a:srgbClr val="163826"/>
            </a:solidFill>
            <a:prstDash val="solid"/>
          </a:ln>
        </p:spPr>
      </p:sp>
      <p:sp>
        <p:nvSpPr>
          <p:cNvPr id="7" name="Text 5"/>
          <p:cNvSpPr txBox="1"/>
          <p:nvPr/>
        </p:nvSpPr>
        <p:spPr>
          <a:xfrm>
            <a:off x="822960"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88%</a:t>
            </a:r>
            <a:endParaRPr lang="en-US" sz="5000" dirty="0"/>
          </a:p>
        </p:txBody>
      </p:sp>
      <p:sp>
        <p:nvSpPr>
          <p:cNvPr id="8" name="Text 6"/>
          <p:cNvSpPr txBox="1"/>
          <p:nvPr/>
        </p:nvSpPr>
        <p:spPr>
          <a:xfrm>
            <a:off x="822960"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avg. increase in order conversions in the first 90 days</a:t>
            </a:r>
            <a:endParaRPr lang="en-US" sz="1400" dirty="0"/>
          </a:p>
        </p:txBody>
      </p:sp>
      <p:sp>
        <p:nvSpPr>
          <p:cNvPr id="9" name="Shape 7"/>
          <p:cNvSpPr/>
          <p:nvPr/>
        </p:nvSpPr>
        <p:spPr>
          <a:xfrm>
            <a:off x="3390824" y="2194560"/>
            <a:ext cx="2567864" cy="3108960"/>
          </a:xfrm>
          <a:prstGeom prst="roundRect">
            <a:avLst>
              <a:gd name="adj" fmla="val 4273"/>
            </a:avLst>
          </a:prstGeom>
          <a:solidFill>
            <a:srgbClr val="163826"/>
          </a:solidFill>
          <a:ln w="6350">
            <a:solidFill>
              <a:srgbClr val="163826"/>
            </a:solidFill>
            <a:prstDash val="solid"/>
          </a:ln>
        </p:spPr>
      </p:sp>
      <p:sp>
        <p:nvSpPr>
          <p:cNvPr id="10" name="Text 8"/>
          <p:cNvSpPr txBox="1"/>
          <p:nvPr/>
        </p:nvSpPr>
        <p:spPr>
          <a:xfrm>
            <a:off x="3665144"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$17</a:t>
            </a:r>
            <a:endParaRPr lang="en-US" sz="5000" dirty="0"/>
          </a:p>
        </p:txBody>
      </p:sp>
      <p:sp>
        <p:nvSpPr>
          <p:cNvPr id="11" name="Text 9"/>
          <p:cNvSpPr txBox="1"/>
          <p:nvPr/>
        </p:nvSpPr>
        <p:spPr>
          <a:xfrm>
            <a:off x="3665144"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avg. return on every $1 of Weedmaps ad spend</a:t>
            </a:r>
            <a:endParaRPr lang="en-US" sz="1400" dirty="0"/>
          </a:p>
        </p:txBody>
      </p:sp>
      <p:sp>
        <p:nvSpPr>
          <p:cNvPr id="12" name="Shape 10"/>
          <p:cNvSpPr/>
          <p:nvPr/>
        </p:nvSpPr>
        <p:spPr>
          <a:xfrm>
            <a:off x="6233008" y="2194560"/>
            <a:ext cx="2567864" cy="3108960"/>
          </a:xfrm>
          <a:prstGeom prst="roundRect">
            <a:avLst>
              <a:gd name="adj" fmla="val 4273"/>
            </a:avLst>
          </a:prstGeom>
          <a:solidFill>
            <a:srgbClr val="163826"/>
          </a:solidFill>
          <a:ln w="6350">
            <a:solidFill>
              <a:srgbClr val="163826"/>
            </a:solidFill>
            <a:prstDash val="solid"/>
          </a:ln>
        </p:spPr>
      </p:sp>
      <p:sp>
        <p:nvSpPr>
          <p:cNvPr id="13" name="Text 11"/>
          <p:cNvSpPr txBox="1"/>
          <p:nvPr/>
        </p:nvSpPr>
        <p:spPr>
          <a:xfrm>
            <a:off x="6507328"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25%</a:t>
            </a:r>
            <a:endParaRPr lang="en-US" sz="5000" dirty="0"/>
          </a:p>
        </p:txBody>
      </p:sp>
      <p:sp>
        <p:nvSpPr>
          <p:cNvPr id="14" name="Text 12"/>
          <p:cNvSpPr txBox="1"/>
          <p:nvPr/>
        </p:nvSpPr>
        <p:spPr>
          <a:xfrm>
            <a:off x="6507328"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higher average order value than non-managed accounts</a:t>
            </a:r>
            <a:endParaRPr lang="en-US" sz="1400" dirty="0"/>
          </a:p>
        </p:txBody>
      </p:sp>
      <p:sp>
        <p:nvSpPr>
          <p:cNvPr id="15" name="Shape 13"/>
          <p:cNvSpPr/>
          <p:nvPr/>
        </p:nvSpPr>
        <p:spPr>
          <a:xfrm>
            <a:off x="9075191" y="2194560"/>
            <a:ext cx="2567864" cy="3108960"/>
          </a:xfrm>
          <a:prstGeom prst="roundRect">
            <a:avLst>
              <a:gd name="adj" fmla="val 4273"/>
            </a:avLst>
          </a:prstGeom>
          <a:solidFill>
            <a:srgbClr val="163826"/>
          </a:solidFill>
          <a:ln w="6350">
            <a:solidFill>
              <a:srgbClr val="163826"/>
            </a:solidFill>
            <a:prstDash val="solid"/>
          </a:ln>
        </p:spPr>
      </p:sp>
      <p:sp>
        <p:nvSpPr>
          <p:cNvPr id="16" name="Text 14"/>
          <p:cNvSpPr txBox="1"/>
          <p:nvPr/>
        </p:nvSpPr>
        <p:spPr>
          <a:xfrm>
            <a:off x="9349511"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100+</a:t>
            </a:r>
            <a:endParaRPr lang="en-US" sz="5000" dirty="0"/>
          </a:p>
        </p:txBody>
      </p:sp>
      <p:sp>
        <p:nvSpPr>
          <p:cNvPr id="17" name="Text 15"/>
          <p:cNvSpPr txBox="1"/>
          <p:nvPr/>
        </p:nvSpPr>
        <p:spPr>
          <a:xfrm>
            <a:off x="9349511"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dispensaries, deliveries &amp; brands managed</a:t>
            </a:r>
            <a:endParaRPr lang="en-US" sz="1400" dirty="0"/>
          </a:p>
        </p:txBody>
      </p:sp>
      <p:sp>
        <p:nvSpPr>
          <p:cNvPr id="18" name="Text 16"/>
          <p:cNvSpPr txBox="1"/>
          <p:nvPr/>
        </p:nvSpPr>
        <p:spPr>
          <a:xfrm>
            <a:off x="548640" y="5577840"/>
            <a:ext cx="11094415" cy="457200"/>
          </a:xfrm>
          <a:prstGeom prst="rect">
            <a:avLst/>
          </a:prstGeom>
          <a:noFill/>
          <a:ln/>
        </p:spPr>
        <p:txBody>
          <a:bodyPr wrap="square" lIns="0" tIns="0" rIns="0" bIns="0" rtlCol="0" anchor="t"/>
          <a:lstStyle/>
          <a:p>
            <a:pPr indent="0" marL="0">
              <a:buNone/>
            </a:pPr>
            <a:r>
              <a:rPr lang="en-US" sz="1300" i="1" dirty="0">
                <a:solidFill>
                  <a:srgbClr val="D9E5DD"/>
                </a:solidFill>
                <a:latin typeface="Calibri" pitchFamily="34" charset="0"/>
                <a:ea typeface="Calibri" pitchFamily="34" charset="-122"/>
                <a:cs typeface="Calibri" pitchFamily="34" charset="-120"/>
              </a:rPr>
              <a:t>Significant conversion gains typically show within 60–90 days as optimizations compound across every channel.</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Case studies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What full ownership of listings looks like in practice.</a:t>
            </a:r>
            <a:endParaRPr lang="en-US" sz="1600" dirty="0"/>
          </a:p>
        </p:txBody>
      </p:sp>
      <p:sp>
        <p:nvSpPr>
          <p:cNvPr id="6" name="Shape 4"/>
          <p:cNvSpPr/>
          <p:nvPr/>
        </p:nvSpPr>
        <p:spPr>
          <a:xfrm>
            <a:off x="548640" y="2011680"/>
            <a:ext cx="5387188" cy="4114800"/>
          </a:xfrm>
          <a:prstGeom prst="roundRect">
            <a:avLst>
              <a:gd name="adj" fmla="val 2667"/>
            </a:avLst>
          </a:prstGeom>
          <a:solidFill>
            <a:srgbClr val="F4F7F2"/>
          </a:solidFill>
          <a:ln w="6350">
            <a:solidFill>
              <a:srgbClr val="F4F7F2"/>
            </a:solidFill>
            <a:prstDash val="solid"/>
          </a:ln>
        </p:spPr>
      </p:sp>
      <p:sp>
        <p:nvSpPr>
          <p:cNvPr id="7" name="Text 5"/>
          <p:cNvSpPr txBox="1"/>
          <p:nvPr/>
        </p:nvSpPr>
        <p:spPr>
          <a:xfrm>
            <a:off x="868680" y="2286000"/>
            <a:ext cx="4747108" cy="411480"/>
          </a:xfrm>
          <a:prstGeom prst="rect">
            <a:avLst/>
          </a:prstGeom>
          <a:noFill/>
          <a:ln/>
        </p:spPr>
        <p:txBody>
          <a:bodyPr wrap="square" lIns="0" tIns="0" rIns="0" bIns="0" rtlCol="0" anchor="t"/>
          <a:lstStyle/>
          <a:p>
            <a:pPr indent="0" marL="0">
              <a:buNone/>
            </a:pPr>
            <a:r>
              <a:rPr lang="en-US" sz="2000" b="1" dirty="0">
                <a:solidFill>
                  <a:srgbClr val="0F2A1D"/>
                </a:solidFill>
                <a:latin typeface="Calibri" pitchFamily="34" charset="0"/>
                <a:ea typeface="Calibri" pitchFamily="34" charset="-122"/>
                <a:cs typeface="Calibri" pitchFamily="34" charset="-120"/>
              </a:rPr>
              <a:t>Purple Lotus</a:t>
            </a:r>
            <a:endParaRPr lang="en-US" sz="2000" dirty="0"/>
          </a:p>
        </p:txBody>
      </p:sp>
      <p:sp>
        <p:nvSpPr>
          <p:cNvPr id="8" name="Text 6"/>
          <p:cNvSpPr txBox="1"/>
          <p:nvPr/>
        </p:nvSpPr>
        <p:spPr>
          <a:xfrm>
            <a:off x="868680" y="2697480"/>
            <a:ext cx="4747108" cy="320040"/>
          </a:xfrm>
          <a:prstGeom prst="rect">
            <a:avLst/>
          </a:prstGeom>
          <a:noFill/>
          <a:ln/>
        </p:spPr>
        <p:txBody>
          <a:bodyPr wrap="square" lIns="0" tIns="0" rIns="0" bIns="0" rtlCol="0" anchor="t"/>
          <a:lstStyle/>
          <a:p>
            <a:pPr indent="0" marL="0">
              <a:buNone/>
            </a:pPr>
            <a:r>
              <a:rPr lang="en-US" sz="1200" dirty="0">
                <a:solidFill>
                  <a:srgbClr val="6B7A70"/>
                </a:solidFill>
                <a:latin typeface="Calibri" pitchFamily="34" charset="0"/>
                <a:ea typeface="Calibri" pitchFamily="34" charset="-122"/>
                <a:cs typeface="Calibri" pitchFamily="34" charset="-120"/>
              </a:rPr>
              <a:t>Dispensary · San Jose, CA</a:t>
            </a:r>
            <a:endParaRPr lang="en-US" sz="1200" dirty="0"/>
          </a:p>
        </p:txBody>
      </p:sp>
      <p:sp>
        <p:nvSpPr>
          <p:cNvPr id="9" name="Text 7"/>
          <p:cNvSpPr txBox="1"/>
          <p:nvPr/>
        </p:nvSpPr>
        <p:spPr>
          <a:xfrm>
            <a:off x="868680" y="3108960"/>
            <a:ext cx="4747108" cy="73152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Situation  </a:t>
            </a:r>
            <a:pPr indent="0" marL="0">
              <a:buNone/>
            </a:pPr>
            <a:r>
              <a:rPr lang="en-US" sz="1200" dirty="0">
                <a:solidFill>
                  <a:srgbClr val="16211B"/>
                </a:solidFill>
                <a:latin typeface="Calibri" pitchFamily="34" charset="0"/>
                <a:ea typeface="Calibri" pitchFamily="34" charset="-122"/>
                <a:cs typeface="Calibri" pitchFamily="34" charset="-120"/>
              </a:rPr>
              <a:t>10+ years on Weedmaps, Leafly and Yelp; hundreds of thousands spent on ads with weak returns.</a:t>
            </a:r>
            <a:endParaRPr lang="en-US" sz="1200" dirty="0"/>
          </a:p>
        </p:txBody>
      </p:sp>
      <p:sp>
        <p:nvSpPr>
          <p:cNvPr id="10" name="Text 8"/>
          <p:cNvSpPr txBox="1"/>
          <p:nvPr/>
        </p:nvSpPr>
        <p:spPr>
          <a:xfrm>
            <a:off x="868680" y="3840480"/>
            <a:ext cx="4747108" cy="86868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What we did  </a:t>
            </a:r>
            <a:pPr indent="0" marL="0">
              <a:buNone/>
            </a:pPr>
            <a:r>
              <a:rPr lang="en-US" sz="1200" dirty="0">
                <a:solidFill>
                  <a:srgbClr val="16211B"/>
                </a:solidFill>
                <a:latin typeface="Calibri" pitchFamily="34" charset="0"/>
                <a:ea typeface="Calibri" pitchFamily="34" charset="-122"/>
                <a:cs typeface="Calibri" pitchFamily="34" charset="-120"/>
              </a:rPr>
              <a:t>Reorganized ad positions, adjusted pricing and ranks, rebuilt deal strategy, added display ads, verified every product.</a:t>
            </a:r>
            <a:endParaRPr lang="en-US" sz="1200" dirty="0"/>
          </a:p>
        </p:txBody>
      </p:sp>
      <p:sp>
        <p:nvSpPr>
          <p:cNvPr id="11" name="Text 9"/>
          <p:cNvSpPr txBox="1"/>
          <p:nvPr/>
        </p:nvSpPr>
        <p:spPr>
          <a:xfrm>
            <a:off x="868680"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+63%</a:t>
            </a:r>
            <a:endParaRPr lang="en-US" sz="2400" dirty="0"/>
          </a:p>
        </p:txBody>
      </p:sp>
      <p:sp>
        <p:nvSpPr>
          <p:cNvPr id="12" name="Text 10"/>
          <p:cNvSpPr txBox="1"/>
          <p:nvPr/>
        </p:nvSpPr>
        <p:spPr>
          <a:xfrm>
            <a:off x="868680"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conversion rate</a:t>
            </a:r>
            <a:endParaRPr lang="en-US" sz="1100" dirty="0"/>
          </a:p>
        </p:txBody>
      </p:sp>
      <p:sp>
        <p:nvSpPr>
          <p:cNvPr id="13" name="Text 11"/>
          <p:cNvSpPr txBox="1"/>
          <p:nvPr/>
        </p:nvSpPr>
        <p:spPr>
          <a:xfrm>
            <a:off x="2451049"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2x</a:t>
            </a:r>
            <a:endParaRPr lang="en-US" sz="2400" dirty="0"/>
          </a:p>
        </p:txBody>
      </p:sp>
      <p:sp>
        <p:nvSpPr>
          <p:cNvPr id="14" name="Text 12"/>
          <p:cNvSpPr txBox="1"/>
          <p:nvPr/>
        </p:nvSpPr>
        <p:spPr>
          <a:xfrm>
            <a:off x="2451049"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on-platform ROAS in 3 months</a:t>
            </a:r>
            <a:endParaRPr lang="en-US" sz="1100" dirty="0"/>
          </a:p>
        </p:txBody>
      </p:sp>
      <p:sp>
        <p:nvSpPr>
          <p:cNvPr id="15" name="Text 13"/>
          <p:cNvSpPr txBox="1"/>
          <p:nvPr/>
        </p:nvSpPr>
        <p:spPr>
          <a:xfrm>
            <a:off x="4033418"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2x</a:t>
            </a:r>
            <a:endParaRPr lang="en-US" sz="2400" dirty="0"/>
          </a:p>
        </p:txBody>
      </p:sp>
      <p:sp>
        <p:nvSpPr>
          <p:cNvPr id="16" name="Text 14"/>
          <p:cNvSpPr txBox="1"/>
          <p:nvPr/>
        </p:nvSpPr>
        <p:spPr>
          <a:xfrm>
            <a:off x="4033418"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total return in 6 months</a:t>
            </a:r>
            <a:endParaRPr lang="en-US" sz="1100" dirty="0"/>
          </a:p>
        </p:txBody>
      </p:sp>
      <p:sp>
        <p:nvSpPr>
          <p:cNvPr id="17" name="Shape 15"/>
          <p:cNvSpPr/>
          <p:nvPr/>
        </p:nvSpPr>
        <p:spPr>
          <a:xfrm>
            <a:off x="6255868" y="2011680"/>
            <a:ext cx="5387188" cy="4114800"/>
          </a:xfrm>
          <a:prstGeom prst="roundRect">
            <a:avLst>
              <a:gd name="adj" fmla="val 2667"/>
            </a:avLst>
          </a:prstGeom>
          <a:solidFill>
            <a:srgbClr val="F4F7F2"/>
          </a:solidFill>
          <a:ln w="6350">
            <a:solidFill>
              <a:srgbClr val="F4F7F2"/>
            </a:solidFill>
            <a:prstDash val="solid"/>
          </a:ln>
        </p:spPr>
      </p:sp>
      <p:sp>
        <p:nvSpPr>
          <p:cNvPr id="18" name="Text 16"/>
          <p:cNvSpPr txBox="1"/>
          <p:nvPr/>
        </p:nvSpPr>
        <p:spPr>
          <a:xfrm>
            <a:off x="6575908" y="2286000"/>
            <a:ext cx="4747108" cy="411480"/>
          </a:xfrm>
          <a:prstGeom prst="rect">
            <a:avLst/>
          </a:prstGeom>
          <a:noFill/>
          <a:ln/>
        </p:spPr>
        <p:txBody>
          <a:bodyPr wrap="square" lIns="0" tIns="0" rIns="0" bIns="0" rtlCol="0" anchor="t"/>
          <a:lstStyle/>
          <a:p>
            <a:pPr indent="0" marL="0">
              <a:buNone/>
            </a:pPr>
            <a:r>
              <a:rPr lang="en-US" sz="2000" b="1" dirty="0">
                <a:solidFill>
                  <a:srgbClr val="0F2A1D"/>
                </a:solidFill>
                <a:latin typeface="Calibri" pitchFamily="34" charset="0"/>
                <a:ea typeface="Calibri" pitchFamily="34" charset="-122"/>
                <a:cs typeface="Calibri" pitchFamily="34" charset="-120"/>
              </a:rPr>
              <a:t>Nuna Harvest</a:t>
            </a:r>
            <a:endParaRPr lang="en-US" sz="2000" dirty="0"/>
          </a:p>
        </p:txBody>
      </p:sp>
      <p:sp>
        <p:nvSpPr>
          <p:cNvPr id="19" name="Text 17"/>
          <p:cNvSpPr txBox="1"/>
          <p:nvPr/>
        </p:nvSpPr>
        <p:spPr>
          <a:xfrm>
            <a:off x="6575908" y="2697480"/>
            <a:ext cx="4747108" cy="320040"/>
          </a:xfrm>
          <a:prstGeom prst="rect">
            <a:avLst/>
          </a:prstGeom>
          <a:noFill/>
          <a:ln/>
        </p:spPr>
        <p:txBody>
          <a:bodyPr wrap="square" lIns="0" tIns="0" rIns="0" bIns="0" rtlCol="0" anchor="t"/>
          <a:lstStyle/>
          <a:p>
            <a:pPr indent="0" marL="0">
              <a:buNone/>
            </a:pPr>
            <a:r>
              <a:rPr lang="en-US" sz="1200" dirty="0">
                <a:solidFill>
                  <a:srgbClr val="6B7A70"/>
                </a:solidFill>
                <a:latin typeface="Calibri" pitchFamily="34" charset="0"/>
                <a:ea typeface="Calibri" pitchFamily="34" charset="-122"/>
                <a:cs typeface="Calibri" pitchFamily="34" charset="-120"/>
              </a:rPr>
              <a:t>Dispensary + Delivery · New York</a:t>
            </a:r>
            <a:endParaRPr lang="en-US" sz="1200" dirty="0"/>
          </a:p>
        </p:txBody>
      </p:sp>
      <p:sp>
        <p:nvSpPr>
          <p:cNvPr id="20" name="Text 18"/>
          <p:cNvSpPr txBox="1"/>
          <p:nvPr/>
        </p:nvSpPr>
        <p:spPr>
          <a:xfrm>
            <a:off x="6575908" y="3108960"/>
            <a:ext cx="4747108" cy="73152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Situation  </a:t>
            </a:r>
            <a:pPr indent="0" marL="0">
              <a:buNone/>
            </a:pPr>
            <a:r>
              <a:rPr lang="en-US" sz="1200" dirty="0">
                <a:solidFill>
                  <a:srgbClr val="16211B"/>
                </a:solidFill>
                <a:latin typeface="Calibri" pitchFamily="34" charset="0"/>
                <a:ea typeface="Calibri" pitchFamily="34" charset="-122"/>
                <a:cs typeface="Calibri" pitchFamily="34" charset="-120"/>
              </a:rPr>
              <a:t>New York retail and delivery operation competing in a fast-growing market.</a:t>
            </a:r>
            <a:endParaRPr lang="en-US" sz="1200" dirty="0"/>
          </a:p>
        </p:txBody>
      </p:sp>
      <p:sp>
        <p:nvSpPr>
          <p:cNvPr id="21" name="Text 19"/>
          <p:cNvSpPr txBox="1"/>
          <p:nvPr/>
        </p:nvSpPr>
        <p:spPr>
          <a:xfrm>
            <a:off x="6575908" y="3840480"/>
            <a:ext cx="4747108" cy="86868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What we did  </a:t>
            </a:r>
            <a:pPr indent="0" marL="0">
              <a:buNone/>
            </a:pPr>
            <a:r>
              <a:rPr lang="en-US" sz="1200" dirty="0">
                <a:solidFill>
                  <a:srgbClr val="16211B"/>
                </a:solidFill>
                <a:latin typeface="Calibri" pitchFamily="34" charset="0"/>
                <a:ea typeface="Calibri" pitchFamily="34" charset="-122"/>
                <a:cs typeface="Calibri" pitchFamily="34" charset="-120"/>
              </a:rPr>
              <a:t>Full listing management across Weedmaps, Leafly and Yelp with deal activations and review management.</a:t>
            </a:r>
            <a:endParaRPr lang="en-US" sz="1200" dirty="0"/>
          </a:p>
        </p:txBody>
      </p:sp>
      <p:sp>
        <p:nvSpPr>
          <p:cNvPr id="22" name="Text 20"/>
          <p:cNvSpPr txBox="1"/>
          <p:nvPr/>
        </p:nvSpPr>
        <p:spPr>
          <a:xfrm>
            <a:off x="6575908"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+638%</a:t>
            </a:r>
            <a:endParaRPr lang="en-US" sz="2400" dirty="0"/>
          </a:p>
        </p:txBody>
      </p:sp>
      <p:sp>
        <p:nvSpPr>
          <p:cNvPr id="23" name="Text 21"/>
          <p:cNvSpPr txBox="1"/>
          <p:nvPr/>
        </p:nvSpPr>
        <p:spPr>
          <a:xfrm>
            <a:off x="6575908"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Weedmaps ROAS in 6 months</a:t>
            </a:r>
            <a:endParaRPr lang="en-US" sz="1100" dirty="0"/>
          </a:p>
        </p:txBody>
      </p:sp>
      <p:sp>
        <p:nvSpPr>
          <p:cNvPr id="24" name="Text 22"/>
          <p:cNvSpPr txBox="1"/>
          <p:nvPr/>
        </p:nvSpPr>
        <p:spPr>
          <a:xfrm>
            <a:off x="8158277"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+44%</a:t>
            </a:r>
            <a:endParaRPr lang="en-US" sz="2400" dirty="0"/>
          </a:p>
        </p:txBody>
      </p:sp>
      <p:sp>
        <p:nvSpPr>
          <p:cNvPr id="25" name="Text 23"/>
          <p:cNvSpPr txBox="1"/>
          <p:nvPr/>
        </p:nvSpPr>
        <p:spPr>
          <a:xfrm>
            <a:off x="8158277"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Leafly ROAS</a:t>
            </a:r>
            <a:endParaRPr lang="en-US" sz="1100" dirty="0"/>
          </a:p>
        </p:txBody>
      </p:sp>
      <p:sp>
        <p:nvSpPr>
          <p:cNvPr id="26" name="Text 24"/>
          <p:cNvSpPr txBox="1"/>
          <p:nvPr/>
        </p:nvSpPr>
        <p:spPr>
          <a:xfrm>
            <a:off x="9740646"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+109%</a:t>
            </a:r>
            <a:endParaRPr lang="en-US" sz="2400" dirty="0"/>
          </a:p>
        </p:txBody>
      </p:sp>
      <p:sp>
        <p:nvSpPr>
          <p:cNvPr id="27" name="Text 25"/>
          <p:cNvSpPr txBox="1"/>
          <p:nvPr/>
        </p:nvSpPr>
        <p:spPr>
          <a:xfrm>
            <a:off x="9740646"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Yelp leads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Your options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How the alternatives compare.</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3566160"/>
                <a:gridCol w="1874520"/>
                <a:gridCol w="1874520"/>
                <a:gridCol w="1874520"/>
                <a:gridCol w="1901952"/>
              </a:tblGrid>
              <a:tr h="457200">
                <a:tc>
                  <a:txBody>
                    <a:bodyPr/>
                    <a:lstStyle/>
                    <a:p>
                      <a:pPr algn="ctr" indent="0" marL="0">
                        <a:buNone/>
                      </a:pP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In-house</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Platform reps</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General agency</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Sparks</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1F6F43"/>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Covers Weedmaps, Leafly, Yelp &amp; Google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Partially</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Rarely</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Marketplace auction &amp; bidding expertise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One platform</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Incentive aligned to your ROAS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Varies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Cannabis compliance know-how</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Varies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POS-integrated attribution dashboard</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Weekly menu, deal &amp; review cadence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If staffed</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Results guarantee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Why Sparks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Competitive advantages you can verify.</a:t>
            </a:r>
            <a:endParaRPr lang="en-US" sz="1600" dirty="0"/>
          </a:p>
        </p:txBody>
      </p:sp>
      <p:sp>
        <p:nvSpPr>
          <p:cNvPr id="6" name="Shape 4"/>
          <p:cNvSpPr/>
          <p:nvPr/>
        </p:nvSpPr>
        <p:spPr>
          <a:xfrm>
            <a:off x="548640" y="2057400"/>
            <a:ext cx="5410048" cy="1783080"/>
          </a:xfrm>
          <a:prstGeom prst="roundRect">
            <a:avLst>
              <a:gd name="adj" fmla="val 6154"/>
            </a:avLst>
          </a:prstGeom>
          <a:solidFill>
            <a:srgbClr val="163826"/>
          </a:solidFill>
          <a:ln w="6350">
            <a:solidFill>
              <a:srgbClr val="163826"/>
            </a:solidFill>
            <a:prstDash val="solid"/>
          </a:ln>
        </p:spPr>
      </p:sp>
      <p:sp>
        <p:nvSpPr>
          <p:cNvPr id="7" name="Shape 5"/>
          <p:cNvSpPr/>
          <p:nvPr/>
        </p:nvSpPr>
        <p:spPr>
          <a:xfrm>
            <a:off x="822960" y="2331720"/>
            <a:ext cx="548640" cy="548640"/>
          </a:xfrm>
          <a:prstGeom prst="ellipse">
            <a:avLst/>
          </a:prstGeom>
          <a:solidFill>
            <a:srgbClr val="C8F04A"/>
          </a:solidFill>
          <a:ln w="12700">
            <a:solidFill>
              <a:srgbClr val="C8F04A"/>
            </a:solidFill>
            <a:prstDash val="solid"/>
          </a:ln>
        </p:spPr>
      </p:sp>
      <p:pic>
        <p:nvPicPr>
          <p:cNvPr id="8" name="Image 0" descr="preencoded.png">    </p:cNvPr>
          <p:cNvPicPr>
            <a:picLocks noChangeAspect="1"/>
          </p:cNvPicPr>
          <p:nvPr/>
        </p:nvPicPr>
        <p:blipFill>
          <a:blip r:embed="rId1"/>
          <a:stretch>
            <a:fillRect/>
          </a:stretch>
        </p:blipFill>
        <p:spPr>
          <a:xfrm>
            <a:off x="971093" y="2479853"/>
            <a:ext cx="252374" cy="252374"/>
          </a:xfrm>
          <a:prstGeom prst="rect">
            <a:avLst/>
          </a:prstGeom>
        </p:spPr>
      </p:pic>
      <p:sp>
        <p:nvSpPr>
          <p:cNvPr id="9" name="Text 6"/>
          <p:cNvSpPr txBox="1"/>
          <p:nvPr/>
        </p:nvSpPr>
        <p:spPr>
          <a:xfrm>
            <a:off x="1554480" y="23317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Built by ex-Weedmaps operators</a:t>
            </a:r>
            <a:endParaRPr lang="en-US" sz="1600" dirty="0"/>
          </a:p>
        </p:txBody>
      </p:sp>
      <p:sp>
        <p:nvSpPr>
          <p:cNvPr id="10" name="Text 7"/>
          <p:cNvSpPr txBox="1"/>
          <p:nvPr/>
        </p:nvSpPr>
        <p:spPr>
          <a:xfrm>
            <a:off x="1554480" y="28803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Four years inside Weedmaps working with the largest dispensaries. We know how the auction, ranking and menu systems actually work.</a:t>
            </a:r>
            <a:endParaRPr lang="en-US" sz="1200" dirty="0"/>
          </a:p>
        </p:txBody>
      </p:sp>
      <p:sp>
        <p:nvSpPr>
          <p:cNvPr id="11" name="Shape 8"/>
          <p:cNvSpPr/>
          <p:nvPr/>
        </p:nvSpPr>
        <p:spPr>
          <a:xfrm>
            <a:off x="6233008" y="2057400"/>
            <a:ext cx="5410048" cy="1783080"/>
          </a:xfrm>
          <a:prstGeom prst="roundRect">
            <a:avLst>
              <a:gd name="adj" fmla="val 6154"/>
            </a:avLst>
          </a:prstGeom>
          <a:solidFill>
            <a:srgbClr val="163826"/>
          </a:solidFill>
          <a:ln w="6350">
            <a:solidFill>
              <a:srgbClr val="163826"/>
            </a:solidFill>
            <a:prstDash val="solid"/>
          </a:ln>
        </p:spPr>
      </p:sp>
      <p:sp>
        <p:nvSpPr>
          <p:cNvPr id="12" name="Shape 9"/>
          <p:cNvSpPr/>
          <p:nvPr/>
        </p:nvSpPr>
        <p:spPr>
          <a:xfrm>
            <a:off x="6507328" y="2331720"/>
            <a:ext cx="548640" cy="548640"/>
          </a:xfrm>
          <a:prstGeom prst="ellipse">
            <a:avLst/>
          </a:prstGeom>
          <a:solidFill>
            <a:srgbClr val="C8F04A"/>
          </a:solidFill>
          <a:ln w="12700">
            <a:solidFill>
              <a:srgbClr val="C8F04A"/>
            </a:solidFill>
            <a:prstDash val="solid"/>
          </a:ln>
        </p:spPr>
      </p:sp>
      <p:pic>
        <p:nvPicPr>
          <p:cNvPr id="13" name="Image 1" descr="preencoded.png">    </p:cNvPr>
          <p:cNvPicPr>
            <a:picLocks noChangeAspect="1"/>
          </p:cNvPicPr>
          <p:nvPr/>
        </p:nvPicPr>
        <p:blipFill>
          <a:blip r:embed="rId2"/>
          <a:stretch>
            <a:fillRect/>
          </a:stretch>
        </p:blipFill>
        <p:spPr>
          <a:xfrm>
            <a:off x="6655460" y="2479853"/>
            <a:ext cx="252374" cy="252374"/>
          </a:xfrm>
          <a:prstGeom prst="rect">
            <a:avLst/>
          </a:prstGeom>
        </p:spPr>
      </p:pic>
      <p:sp>
        <p:nvSpPr>
          <p:cNvPr id="14" name="Text 10"/>
          <p:cNvSpPr txBox="1"/>
          <p:nvPr/>
        </p:nvSpPr>
        <p:spPr>
          <a:xfrm>
            <a:off x="7238848" y="23317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All four platforms + 50 directories</a:t>
            </a:r>
            <a:endParaRPr lang="en-US" sz="1600" dirty="0"/>
          </a:p>
        </p:txBody>
      </p:sp>
      <p:sp>
        <p:nvSpPr>
          <p:cNvPr id="15" name="Text 11"/>
          <p:cNvSpPr txBox="1"/>
          <p:nvPr/>
        </p:nvSpPr>
        <p:spPr>
          <a:xfrm>
            <a:off x="7238848" y="28803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One team, one strategy, one report across Weedmaps, Leafly, Yelp, Google and every citation that feeds local SEO.</a:t>
            </a:r>
            <a:endParaRPr lang="en-US" sz="1200" dirty="0"/>
          </a:p>
        </p:txBody>
      </p:sp>
      <p:sp>
        <p:nvSpPr>
          <p:cNvPr id="16" name="Shape 12"/>
          <p:cNvSpPr/>
          <p:nvPr/>
        </p:nvSpPr>
        <p:spPr>
          <a:xfrm>
            <a:off x="548640" y="4114800"/>
            <a:ext cx="5410048" cy="1783080"/>
          </a:xfrm>
          <a:prstGeom prst="roundRect">
            <a:avLst>
              <a:gd name="adj" fmla="val 6154"/>
            </a:avLst>
          </a:prstGeom>
          <a:solidFill>
            <a:srgbClr val="163826"/>
          </a:solidFill>
          <a:ln w="6350">
            <a:solidFill>
              <a:srgbClr val="163826"/>
            </a:solidFill>
            <a:prstDash val="solid"/>
          </a:ln>
        </p:spPr>
      </p:sp>
      <p:sp>
        <p:nvSpPr>
          <p:cNvPr id="17" name="Shape 13"/>
          <p:cNvSpPr/>
          <p:nvPr/>
        </p:nvSpPr>
        <p:spPr>
          <a:xfrm>
            <a:off x="822960" y="4389120"/>
            <a:ext cx="548640" cy="548640"/>
          </a:xfrm>
          <a:prstGeom prst="ellipse">
            <a:avLst/>
          </a:prstGeom>
          <a:solidFill>
            <a:srgbClr val="C8F04A"/>
          </a:solidFill>
          <a:ln w="12700">
            <a:solidFill>
              <a:srgbClr val="C8F04A"/>
            </a:solidFill>
            <a:prstDash val="solid"/>
          </a:ln>
        </p:spPr>
      </p:sp>
      <p:pic>
        <p:nvPicPr>
          <p:cNvPr id="18" name="Image 2" descr="preencoded.png">    </p:cNvPr>
          <p:cNvPicPr>
            <a:picLocks noChangeAspect="1"/>
          </p:cNvPicPr>
          <p:nvPr/>
        </p:nvPicPr>
        <p:blipFill>
          <a:blip r:embed="rId3"/>
          <a:stretch>
            <a:fillRect/>
          </a:stretch>
        </p:blipFill>
        <p:spPr>
          <a:xfrm>
            <a:off x="971093" y="4537253"/>
            <a:ext cx="252374" cy="252374"/>
          </a:xfrm>
          <a:prstGeom prst="rect">
            <a:avLst/>
          </a:prstGeom>
        </p:spPr>
      </p:pic>
      <p:sp>
        <p:nvSpPr>
          <p:cNvPr id="19" name="Text 14"/>
          <p:cNvSpPr txBox="1"/>
          <p:nvPr/>
        </p:nvSpPr>
        <p:spPr>
          <a:xfrm>
            <a:off x="1554480" y="43891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POS-integrated attribution</a:t>
            </a:r>
            <a:endParaRPr lang="en-US" sz="1600" dirty="0"/>
          </a:p>
        </p:txBody>
      </p:sp>
      <p:sp>
        <p:nvSpPr>
          <p:cNvPr id="20" name="Text 15"/>
          <p:cNvSpPr txBox="1"/>
          <p:nvPr/>
        </p:nvSpPr>
        <p:spPr>
          <a:xfrm>
            <a:off x="1554480" y="49377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Treez, Dutchie and other POS data joined with ad spend and platform metrics — you see which platform, campaign and deal drove revenue.</a:t>
            </a:r>
            <a:endParaRPr lang="en-US" sz="1200" dirty="0"/>
          </a:p>
        </p:txBody>
      </p:sp>
      <p:sp>
        <p:nvSpPr>
          <p:cNvPr id="21" name="Shape 16"/>
          <p:cNvSpPr/>
          <p:nvPr/>
        </p:nvSpPr>
        <p:spPr>
          <a:xfrm>
            <a:off x="6233008" y="4114800"/>
            <a:ext cx="5410048" cy="1783080"/>
          </a:xfrm>
          <a:prstGeom prst="roundRect">
            <a:avLst>
              <a:gd name="adj" fmla="val 6154"/>
            </a:avLst>
          </a:prstGeom>
          <a:solidFill>
            <a:srgbClr val="163826"/>
          </a:solidFill>
          <a:ln w="6350">
            <a:solidFill>
              <a:srgbClr val="163826"/>
            </a:solidFill>
            <a:prstDash val="solid"/>
          </a:ln>
        </p:spPr>
      </p:sp>
      <p:sp>
        <p:nvSpPr>
          <p:cNvPr id="22" name="Shape 17"/>
          <p:cNvSpPr/>
          <p:nvPr/>
        </p:nvSpPr>
        <p:spPr>
          <a:xfrm>
            <a:off x="6507328" y="4389120"/>
            <a:ext cx="548640" cy="548640"/>
          </a:xfrm>
          <a:prstGeom prst="ellipse">
            <a:avLst/>
          </a:prstGeom>
          <a:solidFill>
            <a:srgbClr val="C8F04A"/>
          </a:solidFill>
          <a:ln w="12700">
            <a:solidFill>
              <a:srgbClr val="C8F04A"/>
            </a:solidFill>
            <a:prstDash val="solid"/>
          </a:ln>
        </p:spPr>
      </p:sp>
      <p:pic>
        <p:nvPicPr>
          <p:cNvPr id="23" name="Image 3" descr="preencoded.png">    </p:cNvPr>
          <p:cNvPicPr>
            <a:picLocks noChangeAspect="1"/>
          </p:cNvPicPr>
          <p:nvPr/>
        </p:nvPicPr>
        <p:blipFill>
          <a:blip r:embed="rId4"/>
          <a:stretch>
            <a:fillRect/>
          </a:stretch>
        </p:blipFill>
        <p:spPr>
          <a:xfrm>
            <a:off x="6655460" y="4537253"/>
            <a:ext cx="252374" cy="252374"/>
          </a:xfrm>
          <a:prstGeom prst="rect">
            <a:avLst/>
          </a:prstGeom>
        </p:spPr>
      </p:pic>
      <p:sp>
        <p:nvSpPr>
          <p:cNvPr id="24" name="Text 18"/>
          <p:cNvSpPr txBox="1"/>
          <p:nvPr/>
        </p:nvSpPr>
        <p:spPr>
          <a:xfrm>
            <a:off x="7238848" y="43891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Results in 30 days or your money back.</a:t>
            </a:r>
            <a:endParaRPr lang="en-US" sz="1600" dirty="0"/>
          </a:p>
        </p:txBody>
      </p:sp>
      <p:sp>
        <p:nvSpPr>
          <p:cNvPr id="25" name="Text 19"/>
          <p:cNvSpPr txBox="1"/>
          <p:nvPr/>
        </p:nvSpPr>
        <p:spPr>
          <a:xfrm>
            <a:off x="7238848" y="49377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We've done this for 100+ businesses. If the first 30 days don't show results, you don't pay.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Team</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The people who will run your account.</a:t>
            </a:r>
            <a:endParaRPr lang="en-US" sz="1600" dirty="0"/>
          </a:p>
        </p:txBody>
      </p:sp>
      <p:sp>
        <p:nvSpPr>
          <p:cNvPr id="6" name="Shape 4"/>
          <p:cNvSpPr/>
          <p:nvPr/>
        </p:nvSpPr>
        <p:spPr>
          <a:xfrm>
            <a:off x="548640" y="2103120"/>
            <a:ext cx="3657600" cy="3840480"/>
          </a:xfrm>
          <a:prstGeom prst="roundRect">
            <a:avLst>
              <a:gd name="adj" fmla="val 3000"/>
            </a:avLst>
          </a:prstGeom>
          <a:solidFill>
            <a:srgbClr val="F4F7F2"/>
          </a:solidFill>
          <a:ln w="6350">
            <a:solidFill>
              <a:srgbClr val="F4F7F2"/>
            </a:solidFill>
            <a:prstDash val="solid"/>
          </a:ln>
        </p:spPr>
      </p:sp>
      <p:sp>
        <p:nvSpPr>
          <p:cNvPr id="7" name="Shape 5"/>
          <p:cNvSpPr/>
          <p:nvPr/>
        </p:nvSpPr>
        <p:spPr>
          <a:xfrm>
            <a:off x="868680" y="2423160"/>
            <a:ext cx="1005840" cy="1005840"/>
          </a:xfrm>
          <a:prstGeom prst="ellipse">
            <a:avLst/>
          </a:prstGeom>
          <a:solidFill>
            <a:srgbClr val="1F6F43"/>
          </a:solidFill>
          <a:ln w="12700">
            <a:solidFill>
              <a:srgbClr val="1F6F43"/>
            </a:solidFill>
            <a:prstDash val="solid"/>
          </a:ln>
        </p:spPr>
      </p:sp>
      <p:sp>
        <p:nvSpPr>
          <p:cNvPr id="8" name="Text 6"/>
          <p:cNvSpPr txBox="1"/>
          <p:nvPr/>
        </p:nvSpPr>
        <p:spPr>
          <a:xfrm>
            <a:off x="868680" y="2423160"/>
            <a:ext cx="1005840" cy="10058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KS</a:t>
            </a:r>
            <a:endParaRPr lang="en-US" sz="2800" dirty="0"/>
          </a:p>
        </p:txBody>
      </p:sp>
      <p:sp>
        <p:nvSpPr>
          <p:cNvPr id="9" name="Text 7"/>
          <p:cNvSpPr txBox="1"/>
          <p:nvPr/>
        </p:nvSpPr>
        <p:spPr>
          <a:xfrm>
            <a:off x="868680" y="3611880"/>
            <a:ext cx="3017520" cy="411480"/>
          </a:xfrm>
          <a:prstGeom prst="rect">
            <a:avLst/>
          </a:prstGeom>
          <a:noFill/>
          <a:ln/>
        </p:spPr>
        <p:txBody>
          <a:bodyPr wrap="square" lIns="0" tIns="0" rIns="0" bIns="0" rtlCol="0" anchor="t"/>
          <a:lstStyle/>
          <a:p>
            <a:pPr indent="0" marL="0">
              <a:buNone/>
            </a:pPr>
            <a:r>
              <a:rPr lang="en-US" sz="1800" b="1" dirty="0">
                <a:solidFill>
                  <a:srgbClr val="0F2A1D"/>
                </a:solidFill>
                <a:latin typeface="Calibri" pitchFamily="34" charset="0"/>
                <a:ea typeface="Calibri" pitchFamily="34" charset="-122"/>
                <a:cs typeface="Calibri" pitchFamily="34" charset="-120"/>
              </a:rPr>
              <a:t>Kevin Sparks</a:t>
            </a:r>
            <a:endParaRPr lang="en-US" sz="1800" dirty="0"/>
          </a:p>
        </p:txBody>
      </p:sp>
      <p:sp>
        <p:nvSpPr>
          <p:cNvPr id="10" name="Text 8"/>
          <p:cNvSpPr txBox="1"/>
          <p:nvPr/>
        </p:nvSpPr>
        <p:spPr>
          <a:xfrm>
            <a:off x="868680" y="4023360"/>
            <a:ext cx="3017520" cy="32004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Founder &amp; CEO</a:t>
            </a:r>
            <a:endParaRPr lang="en-US" sz="1200" dirty="0"/>
          </a:p>
        </p:txBody>
      </p:sp>
      <p:sp>
        <p:nvSpPr>
          <p:cNvPr id="11" name="Text 9"/>
          <p:cNvSpPr txBox="1"/>
          <p:nvPr/>
        </p:nvSpPr>
        <p:spPr>
          <a:xfrm>
            <a:off x="868680" y="4434840"/>
            <a:ext cx="3017520" cy="13716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4 years at Weedmaps working with the largest dispensaries in the world, then 3 years running listing management for Purple Lotus before founding Sparks in 2022.</a:t>
            </a:r>
            <a:endParaRPr lang="en-US" sz="1150" dirty="0"/>
          </a:p>
        </p:txBody>
      </p:sp>
      <p:sp>
        <p:nvSpPr>
          <p:cNvPr id="12" name="Shape 10"/>
          <p:cNvSpPr/>
          <p:nvPr/>
        </p:nvSpPr>
        <p:spPr>
          <a:xfrm>
            <a:off x="4663440" y="2103120"/>
            <a:ext cx="6979615" cy="3840480"/>
          </a:xfrm>
          <a:prstGeom prst="roundRect">
            <a:avLst>
              <a:gd name="adj" fmla="val 2857"/>
            </a:avLst>
          </a:prstGeom>
          <a:solidFill>
            <a:srgbClr val="0F2A1D"/>
          </a:solidFill>
          <a:ln w="6350">
            <a:solidFill>
              <a:srgbClr val="0F2A1D"/>
            </a:solidFill>
            <a:prstDash val="solid"/>
          </a:ln>
        </p:spPr>
      </p:sp>
      <p:sp>
        <p:nvSpPr>
          <p:cNvPr id="13" name="Text 11"/>
          <p:cNvSpPr txBox="1"/>
          <p:nvPr/>
        </p:nvSpPr>
        <p:spPr>
          <a:xfrm>
            <a:off x="4983480" y="2377440"/>
            <a:ext cx="633953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YOUR ACCOUNT TEAM</a:t>
            </a:r>
            <a:endParaRPr lang="en-US" sz="1100" dirty="0"/>
          </a:p>
        </p:txBody>
      </p:sp>
      <p:sp>
        <p:nvSpPr>
          <p:cNvPr id="14" name="Text 12"/>
          <p:cNvSpPr txBox="1"/>
          <p:nvPr/>
        </p:nvSpPr>
        <p:spPr>
          <a:xfrm>
            <a:off x="4846320" y="2788920"/>
            <a:ext cx="6522415" cy="3017520"/>
          </a:xfrm>
          <a:prstGeom prst="rect">
            <a:avLst/>
          </a:prstGeom>
          <a:noFill/>
          <a:ln/>
        </p:spPr>
        <p:txBody>
          <a:bodyPr wrap="square" rtlCol="0" anchor="t"/>
          <a:lstStyle/>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Dedicated account lead and weekly performance report</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Menu &amp; listing specialists working daily in your platforms</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In-house creative for ads, deals and listing assets</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Data team maintaining your POS-integrated dashboard</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Direct line to leadership — no ticket queues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Recognition</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Press and partner credentials.</a:t>
            </a:r>
            <a:endParaRPr lang="en-US" sz="1600" dirty="0"/>
          </a:p>
        </p:txBody>
      </p:sp>
      <p:sp>
        <p:nvSpPr>
          <p:cNvPr id="6" name="Shape 4"/>
          <p:cNvSpPr/>
          <p:nvPr/>
        </p:nvSpPr>
        <p:spPr>
          <a:xfrm>
            <a:off x="548640" y="2057400"/>
            <a:ext cx="5410048" cy="1737360"/>
          </a:xfrm>
          <a:prstGeom prst="roundRect">
            <a:avLst>
              <a:gd name="adj" fmla="val 6316"/>
            </a:avLst>
          </a:prstGeom>
          <a:solidFill>
            <a:srgbClr val="F4F7F2"/>
          </a:solidFill>
          <a:ln w="6350">
            <a:solidFill>
              <a:srgbClr val="F4F7F2"/>
            </a:solidFill>
            <a:prstDash val="solid"/>
          </a:ln>
        </p:spPr>
      </p:sp>
      <p:sp>
        <p:nvSpPr>
          <p:cNvPr id="7" name="Shape 5"/>
          <p:cNvSpPr/>
          <p:nvPr/>
        </p:nvSpPr>
        <p:spPr>
          <a:xfrm>
            <a:off x="822960" y="2331720"/>
            <a:ext cx="548640" cy="54864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71093" y="2479853"/>
            <a:ext cx="252374" cy="252374"/>
          </a:xfrm>
          <a:prstGeom prst="rect">
            <a:avLst/>
          </a:prstGeom>
        </p:spPr>
      </p:pic>
      <p:sp>
        <p:nvSpPr>
          <p:cNvPr id="9" name="Text 6"/>
          <p:cNvSpPr txBox="1"/>
          <p:nvPr/>
        </p:nvSpPr>
        <p:spPr>
          <a:xfrm>
            <a:off x="1554480" y="233172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Top Cannabis Listing Management Agency 2026</a:t>
            </a:r>
            <a:endParaRPr lang="en-US" sz="1600" dirty="0"/>
          </a:p>
        </p:txBody>
      </p:sp>
      <p:sp>
        <p:nvSpPr>
          <p:cNvPr id="10" name="Text 7"/>
          <p:cNvSpPr txBox="1"/>
          <p:nvPr/>
        </p:nvSpPr>
        <p:spPr>
          <a:xfrm>
            <a:off x="1554480" y="288036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Cannabis Business Insights Magazine, based on an editorial interview with CEO Kevin Sparks.</a:t>
            </a:r>
            <a:endParaRPr lang="en-US" sz="1200" dirty="0"/>
          </a:p>
        </p:txBody>
      </p:sp>
      <p:sp>
        <p:nvSpPr>
          <p:cNvPr id="11" name="Shape 8"/>
          <p:cNvSpPr/>
          <p:nvPr/>
        </p:nvSpPr>
        <p:spPr>
          <a:xfrm>
            <a:off x="6233008" y="2057400"/>
            <a:ext cx="5410048" cy="1737360"/>
          </a:xfrm>
          <a:prstGeom prst="roundRect">
            <a:avLst>
              <a:gd name="adj" fmla="val 6316"/>
            </a:avLst>
          </a:prstGeom>
          <a:solidFill>
            <a:srgbClr val="F4F7F2"/>
          </a:solidFill>
          <a:ln w="6350">
            <a:solidFill>
              <a:srgbClr val="F4F7F2"/>
            </a:solidFill>
            <a:prstDash val="solid"/>
          </a:ln>
        </p:spPr>
      </p:sp>
      <p:sp>
        <p:nvSpPr>
          <p:cNvPr id="12" name="Shape 9"/>
          <p:cNvSpPr/>
          <p:nvPr/>
        </p:nvSpPr>
        <p:spPr>
          <a:xfrm>
            <a:off x="6507328" y="2331720"/>
            <a:ext cx="548640" cy="54864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6655460" y="2479853"/>
            <a:ext cx="252374" cy="252374"/>
          </a:xfrm>
          <a:prstGeom prst="rect">
            <a:avLst/>
          </a:prstGeom>
        </p:spPr>
      </p:pic>
      <p:sp>
        <p:nvSpPr>
          <p:cNvPr id="14" name="Text 10"/>
          <p:cNvSpPr txBox="1"/>
          <p:nvPr/>
        </p:nvSpPr>
        <p:spPr>
          <a:xfrm>
            <a:off x="7238848" y="233172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Yelp Ads Certified Partner</a:t>
            </a:r>
            <a:endParaRPr lang="en-US" sz="1600" dirty="0"/>
          </a:p>
        </p:txBody>
      </p:sp>
      <p:sp>
        <p:nvSpPr>
          <p:cNvPr id="15" name="Text 11"/>
          <p:cNvSpPr txBox="1"/>
          <p:nvPr/>
        </p:nvSpPr>
        <p:spPr>
          <a:xfrm>
            <a:off x="7238848" y="288036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One of the few cannabis partners recognized by Yelp, with direct access to Yelp Ads and review tools.</a:t>
            </a:r>
            <a:endParaRPr lang="en-US" sz="1200" dirty="0"/>
          </a:p>
        </p:txBody>
      </p:sp>
      <p:sp>
        <p:nvSpPr>
          <p:cNvPr id="16" name="Shape 12"/>
          <p:cNvSpPr/>
          <p:nvPr/>
        </p:nvSpPr>
        <p:spPr>
          <a:xfrm>
            <a:off x="548640" y="4069080"/>
            <a:ext cx="5410048" cy="1737360"/>
          </a:xfrm>
          <a:prstGeom prst="roundRect">
            <a:avLst>
              <a:gd name="adj" fmla="val 6316"/>
            </a:avLst>
          </a:prstGeom>
          <a:solidFill>
            <a:srgbClr val="F4F7F2"/>
          </a:solidFill>
          <a:ln w="6350">
            <a:solidFill>
              <a:srgbClr val="F4F7F2"/>
            </a:solidFill>
            <a:prstDash val="solid"/>
          </a:ln>
        </p:spPr>
      </p:sp>
      <p:sp>
        <p:nvSpPr>
          <p:cNvPr id="17" name="Shape 13"/>
          <p:cNvSpPr/>
          <p:nvPr/>
        </p:nvSpPr>
        <p:spPr>
          <a:xfrm>
            <a:off x="822960" y="4343400"/>
            <a:ext cx="548640" cy="54864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971093" y="4491533"/>
            <a:ext cx="252374" cy="252374"/>
          </a:xfrm>
          <a:prstGeom prst="rect">
            <a:avLst/>
          </a:prstGeom>
        </p:spPr>
      </p:pic>
      <p:sp>
        <p:nvSpPr>
          <p:cNvPr id="19" name="Text 14"/>
          <p:cNvSpPr txBox="1"/>
          <p:nvPr/>
        </p:nvSpPr>
        <p:spPr>
          <a:xfrm>
            <a:off x="1554480" y="434340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Respect My Region podcast partner</a:t>
            </a:r>
            <a:endParaRPr lang="en-US" sz="1600" dirty="0"/>
          </a:p>
        </p:txBody>
      </p:sp>
      <p:sp>
        <p:nvSpPr>
          <p:cNvPr id="20" name="Text 15"/>
          <p:cNvSpPr txBox="1"/>
          <p:nvPr/>
        </p:nvSpPr>
        <p:spPr>
          <a:xfrm>
            <a:off x="1554480" y="489204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Three-episode series on optimizing Weedmaps, Leafly and Yelp for revenue.</a:t>
            </a:r>
            <a:endParaRPr lang="en-US" sz="1200" dirty="0"/>
          </a:p>
        </p:txBody>
      </p:sp>
      <p:sp>
        <p:nvSpPr>
          <p:cNvPr id="21" name="Shape 16"/>
          <p:cNvSpPr/>
          <p:nvPr/>
        </p:nvSpPr>
        <p:spPr>
          <a:xfrm>
            <a:off x="6233008" y="4069080"/>
            <a:ext cx="5410048" cy="1737360"/>
          </a:xfrm>
          <a:prstGeom prst="roundRect">
            <a:avLst>
              <a:gd name="adj" fmla="val 6316"/>
            </a:avLst>
          </a:prstGeom>
          <a:solidFill>
            <a:srgbClr val="F4F7F2"/>
          </a:solidFill>
          <a:ln w="6350">
            <a:solidFill>
              <a:srgbClr val="F4F7F2"/>
            </a:solidFill>
            <a:prstDash val="solid"/>
          </a:ln>
        </p:spPr>
      </p:sp>
      <p:sp>
        <p:nvSpPr>
          <p:cNvPr id="22" name="Shape 17"/>
          <p:cNvSpPr/>
          <p:nvPr/>
        </p:nvSpPr>
        <p:spPr>
          <a:xfrm>
            <a:off x="6507328" y="4343400"/>
            <a:ext cx="548640" cy="54864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6655460" y="4491533"/>
            <a:ext cx="252374" cy="252374"/>
          </a:xfrm>
          <a:prstGeom prst="rect">
            <a:avLst/>
          </a:prstGeom>
        </p:spPr>
      </p:pic>
      <p:sp>
        <p:nvSpPr>
          <p:cNvPr id="24" name="Text 18"/>
          <p:cNvSpPr txBox="1"/>
          <p:nvPr/>
        </p:nvSpPr>
        <p:spPr>
          <a:xfrm>
            <a:off x="7238848" y="434340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Weedmaps alumni-founded</a:t>
            </a:r>
            <a:endParaRPr lang="en-US" sz="1600" dirty="0"/>
          </a:p>
        </p:txBody>
      </p:sp>
      <p:sp>
        <p:nvSpPr>
          <p:cNvPr id="25" name="Text 19"/>
          <p:cNvSpPr txBox="1"/>
          <p:nvPr/>
        </p:nvSpPr>
        <p:spPr>
          <a:xfrm>
            <a:off x="7238848" y="489204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Founder spent four years inside Weedmaps before starting Sparks in 2022.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Investment &amp; next steps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A 90-day launch plan for Green Valley Dispensary.</a:t>
            </a:r>
            <a:endParaRPr lang="en-US" sz="1600" dirty="0"/>
          </a:p>
        </p:txBody>
      </p:sp>
      <p:sp>
        <p:nvSpPr>
          <p:cNvPr id="6" name="Shape 4"/>
          <p:cNvSpPr/>
          <p:nvPr/>
        </p:nvSpPr>
        <p:spPr>
          <a:xfrm>
            <a:off x="548640" y="2167128"/>
            <a:ext cx="502920" cy="502920"/>
          </a:xfrm>
          <a:prstGeom prst="ellipse">
            <a:avLst/>
          </a:prstGeom>
          <a:solidFill>
            <a:srgbClr val="C8F04A"/>
          </a:solidFill>
          <a:ln w="12700">
            <a:solidFill>
              <a:srgbClr val="C8F04A"/>
            </a:solidFill>
            <a:prstDash val="solid"/>
          </a:ln>
        </p:spPr>
      </p:sp>
      <p:sp>
        <p:nvSpPr>
          <p:cNvPr id="7" name="Text 5"/>
          <p:cNvSpPr txBox="1"/>
          <p:nvPr/>
        </p:nvSpPr>
        <p:spPr>
          <a:xfrm>
            <a:off x="548640" y="216712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280160" y="205740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1–30</a:t>
            </a:r>
            <a:endParaRPr lang="en-US" sz="1500" dirty="0"/>
          </a:p>
        </p:txBody>
      </p:sp>
      <p:sp>
        <p:nvSpPr>
          <p:cNvPr id="9" name="Text 7"/>
          <p:cNvSpPr txBox="1"/>
          <p:nvPr/>
        </p:nvSpPr>
        <p:spPr>
          <a:xfrm>
            <a:off x="1280160" y="242316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Full audit, strategy, listing + menu clean-up, campaigns live</a:t>
            </a:r>
            <a:endParaRPr lang="en-US" sz="1200" dirty="0"/>
          </a:p>
        </p:txBody>
      </p:sp>
      <p:sp>
        <p:nvSpPr>
          <p:cNvPr id="10" name="Shape 8"/>
          <p:cNvSpPr/>
          <p:nvPr/>
        </p:nvSpPr>
        <p:spPr>
          <a:xfrm>
            <a:off x="548640" y="3172968"/>
            <a:ext cx="502920" cy="502920"/>
          </a:xfrm>
          <a:prstGeom prst="ellipse">
            <a:avLst/>
          </a:prstGeom>
          <a:solidFill>
            <a:srgbClr val="C8F04A"/>
          </a:solidFill>
          <a:ln w="12700">
            <a:solidFill>
              <a:srgbClr val="C8F04A"/>
            </a:solidFill>
            <a:prstDash val="solid"/>
          </a:ln>
        </p:spPr>
      </p:sp>
      <p:sp>
        <p:nvSpPr>
          <p:cNvPr id="11" name="Text 9"/>
          <p:cNvSpPr txBox="1"/>
          <p:nvPr/>
        </p:nvSpPr>
        <p:spPr>
          <a:xfrm>
            <a:off x="548640" y="317296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280160" y="306324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31–60</a:t>
            </a:r>
            <a:endParaRPr lang="en-US" sz="1500" dirty="0"/>
          </a:p>
        </p:txBody>
      </p:sp>
      <p:sp>
        <p:nvSpPr>
          <p:cNvPr id="13" name="Text 11"/>
          <p:cNvSpPr txBox="1"/>
          <p:nvPr/>
        </p:nvSpPr>
        <p:spPr>
          <a:xfrm>
            <a:off x="1280160" y="342900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Bid &amp; deal optimization, review program, dashboard attribution</a:t>
            </a:r>
            <a:endParaRPr lang="en-US" sz="1200" dirty="0"/>
          </a:p>
        </p:txBody>
      </p:sp>
      <p:sp>
        <p:nvSpPr>
          <p:cNvPr id="14" name="Shape 12"/>
          <p:cNvSpPr/>
          <p:nvPr/>
        </p:nvSpPr>
        <p:spPr>
          <a:xfrm>
            <a:off x="548640" y="4178808"/>
            <a:ext cx="502920" cy="502920"/>
          </a:xfrm>
          <a:prstGeom prst="ellipse">
            <a:avLst/>
          </a:prstGeom>
          <a:solidFill>
            <a:srgbClr val="C8F04A"/>
          </a:solidFill>
          <a:ln w="12700">
            <a:solidFill>
              <a:srgbClr val="C8F04A"/>
            </a:solidFill>
            <a:prstDash val="solid"/>
          </a:ln>
        </p:spPr>
      </p:sp>
      <p:sp>
        <p:nvSpPr>
          <p:cNvPr id="15" name="Text 13"/>
          <p:cNvSpPr txBox="1"/>
          <p:nvPr/>
        </p:nvSpPr>
        <p:spPr>
          <a:xfrm>
            <a:off x="548640" y="417880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280160" y="406908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61–90</a:t>
            </a:r>
            <a:endParaRPr lang="en-US" sz="1500" dirty="0"/>
          </a:p>
        </p:txBody>
      </p:sp>
      <p:sp>
        <p:nvSpPr>
          <p:cNvPr id="17" name="Text 15"/>
          <p:cNvSpPr txBox="1"/>
          <p:nvPr/>
        </p:nvSpPr>
        <p:spPr>
          <a:xfrm>
            <a:off x="1280160" y="443484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Scale winners, Maps 3-pack push, quarterly plan</a:t>
            </a:r>
            <a:endParaRPr lang="en-US" sz="1200" dirty="0"/>
          </a:p>
        </p:txBody>
      </p:sp>
      <p:sp>
        <p:nvSpPr>
          <p:cNvPr id="18" name="Text 16"/>
          <p:cNvSpPr txBox="1"/>
          <p:nvPr/>
        </p:nvSpPr>
        <p:spPr>
          <a:xfrm>
            <a:off x="548640" y="5120640"/>
            <a:ext cx="6675120" cy="365760"/>
          </a:xfrm>
          <a:prstGeom prst="rect">
            <a:avLst/>
          </a:prstGeom>
          <a:noFill/>
          <a:ln/>
        </p:spPr>
        <p:txBody>
          <a:bodyPr wrap="square" lIns="0" tIns="0" rIns="0" bIns="0" rtlCol="0" anchor="t"/>
          <a:lstStyle/>
          <a:p>
            <a:pPr indent="0" marL="0">
              <a:buNone/>
            </a:pPr>
            <a:r>
              <a:rPr lang="en-US" sz="1400" b="1" dirty="0">
                <a:solidFill>
                  <a:srgbClr val="C8F04A"/>
                </a:solidFill>
                <a:latin typeface="Calibri" pitchFamily="34" charset="0"/>
                <a:ea typeface="Calibri" pitchFamily="34" charset="-122"/>
                <a:cs typeface="Calibri" pitchFamily="34" charset="-120"/>
              </a:rPr>
              <a:t>Results in 30 days or your money back.</a:t>
            </a:r>
            <a:endParaRPr lang="en-US" sz="1400" dirty="0"/>
          </a:p>
        </p:txBody>
      </p:sp>
      <p:sp>
        <p:nvSpPr>
          <p:cNvPr id="19" name="Text 17"/>
          <p:cNvSpPr txBox="1"/>
          <p:nvPr/>
        </p:nvSpPr>
        <p:spPr>
          <a:xfrm>
            <a:off x="548640" y="5486400"/>
            <a:ext cx="6675120" cy="457200"/>
          </a:xfrm>
          <a:prstGeom prst="rect">
            <a:avLst/>
          </a:prstGeom>
          <a:noFill/>
          <a:ln/>
        </p:spPr>
        <p:txBody>
          <a:bodyPr wrap="square" lIns="0" tIns="0" rIns="0" bIns="0" rtlCol="0" anchor="t"/>
          <a:lstStyle/>
          <a:p>
            <a:pPr indent="0" marL="0">
              <a:buNone/>
            </a:pPr>
            <a:r>
              <a:rPr lang="en-US" sz="1100" i="1" dirty="0">
                <a:solidFill>
                  <a:srgbClr val="D9E5DD"/>
                </a:solidFill>
                <a:latin typeface="Calibri" pitchFamily="34" charset="0"/>
                <a:ea typeface="Calibri" pitchFamily="34" charset="-122"/>
                <a:cs typeface="Calibri" pitchFamily="34" charset="-120"/>
              </a:rPr>
              <a:t>Ad spend billed directly by platforms; Sparks manages allocation.</a:t>
            </a:r>
            <a:endParaRPr lang="en-US" sz="1100" dirty="0"/>
          </a:p>
        </p:txBody>
      </p:sp>
      <p:sp>
        <p:nvSpPr>
          <p:cNvPr id="20" name="Shape 18"/>
          <p:cNvSpPr/>
          <p:nvPr/>
        </p:nvSpPr>
        <p:spPr>
          <a:xfrm>
            <a:off x="7589520" y="2057400"/>
            <a:ext cx="4053535" cy="3931920"/>
          </a:xfrm>
          <a:prstGeom prst="roundRect">
            <a:avLst>
              <a:gd name="adj" fmla="val 2791"/>
            </a:avLst>
          </a:prstGeom>
          <a:solidFill>
            <a:srgbClr val="163826"/>
          </a:solidFill>
          <a:ln w="6350">
            <a:solidFill>
              <a:srgbClr val="163826"/>
            </a:solidFill>
            <a:prstDash val="solid"/>
          </a:ln>
        </p:spPr>
      </p:sp>
      <p:sp>
        <p:nvSpPr>
          <p:cNvPr id="21" name="Text 19"/>
          <p:cNvSpPr txBox="1"/>
          <p:nvPr/>
        </p:nvSpPr>
        <p:spPr>
          <a:xfrm>
            <a:off x="7909560" y="2286000"/>
            <a:ext cx="341345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INVESTMENT</a:t>
            </a:r>
            <a:endParaRPr lang="en-US" sz="1100" dirty="0"/>
          </a:p>
        </p:txBody>
      </p:sp>
      <p:sp>
        <p:nvSpPr>
          <p:cNvPr id="22" name="Text 20"/>
          <p:cNvSpPr txBox="1"/>
          <p:nvPr/>
        </p:nvSpPr>
        <p:spPr>
          <a:xfrm>
            <a:off x="7909560" y="2697480"/>
            <a:ext cx="185897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Launch</a:t>
            </a:r>
            <a:endParaRPr lang="en-US" sz="1400" dirty="0"/>
          </a:p>
        </p:txBody>
      </p:sp>
      <p:sp>
        <p:nvSpPr>
          <p:cNvPr id="23" name="Text 21"/>
          <p:cNvSpPr txBox="1"/>
          <p:nvPr/>
        </p:nvSpPr>
        <p:spPr>
          <a:xfrm>
            <a:off x="9768535" y="2697480"/>
            <a:ext cx="15544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24" name="Text 22"/>
          <p:cNvSpPr txBox="1"/>
          <p:nvPr/>
        </p:nvSpPr>
        <p:spPr>
          <a:xfrm>
            <a:off x="7909560" y="302666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Weedmaps + Google</a:t>
            </a:r>
            <a:endParaRPr lang="en-US" sz="1100" dirty="0"/>
          </a:p>
        </p:txBody>
      </p:sp>
      <p:sp>
        <p:nvSpPr>
          <p:cNvPr id="25" name="Text 23"/>
          <p:cNvSpPr txBox="1"/>
          <p:nvPr/>
        </p:nvSpPr>
        <p:spPr>
          <a:xfrm>
            <a:off x="7909560" y="3429000"/>
            <a:ext cx="185897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Growth</a:t>
            </a:r>
            <a:endParaRPr lang="en-US" sz="1400" dirty="0"/>
          </a:p>
        </p:txBody>
      </p:sp>
      <p:sp>
        <p:nvSpPr>
          <p:cNvPr id="26" name="Text 24"/>
          <p:cNvSpPr txBox="1"/>
          <p:nvPr/>
        </p:nvSpPr>
        <p:spPr>
          <a:xfrm>
            <a:off x="9768535" y="3429000"/>
            <a:ext cx="15544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27" name="Text 25"/>
          <p:cNvSpPr txBox="1"/>
          <p:nvPr/>
        </p:nvSpPr>
        <p:spPr>
          <a:xfrm>
            <a:off x="7909560" y="375818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Weedmaps + Leafly + Yelp + Google</a:t>
            </a:r>
            <a:endParaRPr lang="en-US" sz="1100" dirty="0"/>
          </a:p>
        </p:txBody>
      </p:sp>
      <p:sp>
        <p:nvSpPr>
          <p:cNvPr id="28" name="Text 26"/>
          <p:cNvSpPr txBox="1"/>
          <p:nvPr/>
        </p:nvSpPr>
        <p:spPr>
          <a:xfrm>
            <a:off x="7909560" y="4160520"/>
            <a:ext cx="185897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Dominate</a:t>
            </a:r>
            <a:endParaRPr lang="en-US" sz="1400" dirty="0"/>
          </a:p>
        </p:txBody>
      </p:sp>
      <p:sp>
        <p:nvSpPr>
          <p:cNvPr id="29" name="Text 27"/>
          <p:cNvSpPr txBox="1"/>
          <p:nvPr/>
        </p:nvSpPr>
        <p:spPr>
          <a:xfrm>
            <a:off x="9768535" y="4160520"/>
            <a:ext cx="15544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30" name="Text 28"/>
          <p:cNvSpPr txBox="1"/>
          <p:nvPr/>
        </p:nvSpPr>
        <p:spPr>
          <a:xfrm>
            <a:off x="7909560" y="448970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All platforms + Local SEO + Programmatic</a:t>
            </a:r>
            <a:endParaRPr lang="en-US" sz="1100" dirty="0"/>
          </a:p>
        </p:txBody>
      </p:sp>
      <p:sp>
        <p:nvSpPr>
          <p:cNvPr id="31" name="Text 29"/>
          <p:cNvSpPr txBox="1"/>
          <p:nvPr/>
        </p:nvSpPr>
        <p:spPr>
          <a:xfrm>
            <a:off x="7909560" y="4983480"/>
            <a:ext cx="3413455"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Ready when you are.</a:t>
            </a:r>
            <a:endParaRPr lang="en-US" sz="1600" dirty="0"/>
          </a:p>
        </p:txBody>
      </p:sp>
      <p:sp>
        <p:nvSpPr>
          <p:cNvPr id="32" name="Text 30"/>
          <p:cNvSpPr txBox="1"/>
          <p:nvPr/>
        </p:nvSpPr>
        <p:spPr>
          <a:xfrm>
            <a:off x="7909560" y="5394960"/>
            <a:ext cx="3413455" cy="502920"/>
          </a:xfrm>
          <a:prstGeom prst="rect">
            <a:avLst/>
          </a:prstGeom>
          <a:noFill/>
          <a:ln/>
        </p:spPr>
        <p:txBody>
          <a:bodyPr wrap="square" lIns="0" tIns="0" rIns="0" bIns="0" rtlCol="0" anchor="t"/>
          <a:lstStyle/>
          <a:p>
            <a:pPr indent="0" marL="0">
              <a:buNone/>
            </a:pPr>
            <a:r>
              <a:rPr lang="en-US" sz="1100" dirty="0">
                <a:solidFill>
                  <a:srgbClr val="C8F04A"/>
                </a:solidFill>
                <a:latin typeface="Calibri" pitchFamily="34" charset="0"/>
                <a:ea typeface="Calibri" pitchFamily="34" charset="-122"/>
                <a:cs typeface="Calibri" pitchFamily="34" charset="-120"/>
              </a:rPr>
              <a:t>Kevin Sparks, Founder &amp; CEO  ·  kevin@sparkscann.com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Sparks × Green Valley Dispensary</dc:title>
  <dc:subject>PptxGenJS Presentation</dc:subject>
  <dc:creator>Sparks</dc:creator>
  <cp:lastModifiedBy>Sparks</cp:lastModifiedBy>
  <cp:revision>1</cp:revision>
  <dcterms:created xsi:type="dcterms:W3CDTF">2026-09-14T17:12:09Z</dcterms:created>
  <dcterms:modified xsi:type="dcterms:W3CDTF">2026-09-14T17:12:09Z</dcterms:modified>
</cp:coreProperties>
</file>