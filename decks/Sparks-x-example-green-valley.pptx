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one-liner. Green Valley Dispensary is a dispensary in Sacramento, CA. This deck is Weedmaps-first: the full pitch is Weedmaps management; the other platforms are add-ons at $495/mo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Airbnb's problem slide: plain-language pains. Tie each one to something you saw on the prospect's listings (the audit slide comes in the Weedmaps section).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 the prospect can repeat back. The tiles preview the deck's order: the focus platform in full, then each add-on.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 validation for Weedmaps. Ask which platform they think drives the most orders — most owners are guessing, which is the opening for the audit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it like a doctor reading a chart — calm, specific, no blame. Rows marked 'to confirm' could not be verified from outside the account; ask on the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seven Sparks pillars (spend, listing, menu, reviews, deals, creative, data) applied to this platform. Tie each line back to an audit finding.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cite numbers published on sparkscann.com. ROAS is measured from on-platform conversions plus POS-integrated attribution in the Sparks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Purple Lotus is the 'decade-old account we doubled' story; Nuna Harvest is the 'new market, fast growth' story. Pick the one closest to the prospect.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Pricing for Weedmaps Management. Results in 30 days or your money back. Ad spend is billed by the platform; the fee covers management. Each add-on is $495/mo.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Leafly Management is included in this proposal. Scope notes: Menu sync with POS, Leafly ads, deal activations, review management..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Yelp Management is included in this proposal. Scope notes: Yelp Ads (Certified Partner), profile optimization, review responses and removal requests, lead tracking..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Google Management (GBP, Ads &amp; Local SEO) is included in this proposal. Scope notes: Claim &amp; optimize GBP, weekly Google Posts, photo refresh, Q&amp;A, review response. Target: Maps 3-pack in 90 days..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reasons to pick us over doing it in-house, trusting platform reps, or hiring a general agency. The founder story is the credibility anchor; the dashboard is the differentiator.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team members in brand/config.yml. Headshots can replace the initials circles in PowerPoint.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restate the guarantee, propose a start date, and ask for Weedmaps admin access to begin the audit. Add-ons are $495/mo each. Can be switched on at any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8899855" y="914400"/>
            <a:ext cx="2743200" cy="3601205"/>
          </a:xfrm>
          <a:prstGeom prst="rect">
            <a:avLst/>
          </a:prstGeom>
        </p:spPr>
      </p:pic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1920240" cy="1283685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48640" y="2148840"/>
            <a:ext cx="7863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Sparks × Green Valley Dispensary</a:t>
            </a:r>
            <a:endParaRPr lang="en-US" sz="48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393192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proposal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43434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manage your Weedmaps, Leafly, Yelp, and Google listings and ads so your dispensary gets found, clicked, and ordered from.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349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Sacramento, CA   ·   September 14, 2026   ·   Prepared for Jordan Lee, Owner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Cannabis can't market like everyone else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are restricted, so the customer journey lives on pay-to-play platforms — and most listings are left on autopilot.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37" y="2538171"/>
            <a:ext cx="273406" cy="27340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advertising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Ads, Meta and most networks block cannabis. Discovery happens on Weedmaps, Leafly, Yelp and Google Maps.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390824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665144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5621" y="2538171"/>
            <a:ext cx="273406" cy="27340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665144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Listings decay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3665144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Menus drift from POS, deals expire, photos go stale, reviews sit unanswered. Every gap costs orders.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233008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507328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805" y="2538171"/>
            <a:ext cx="273406" cy="27340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507328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isn't managed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6507328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 are set once and never optimized. Platform reps grow platform revenue, not your ROAS.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075191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9349511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989" y="2538171"/>
            <a:ext cx="273406" cy="27340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349511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owns it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9349511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GMs and budtenders juggle dashboards on the side with no attribution and no accountability.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run your Weedmaps listings and ads — and we're accountable for the orders.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103120"/>
            <a:ext cx="7132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Full-service listing management: spend, listings, menus, reviews, deals, creative and data — handled by ex-Weedmaps operators. Start with the platform that matters most, add the rest when you're ready.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556455" y="4526280"/>
            <a:ext cx="16002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2235" y="470916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56455" y="5349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4556455" y="56235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PROPOSAL</a:t>
            </a:r>
            <a:endParaRPr lang="en-US" sz="800" dirty="0"/>
          </a:p>
        </p:txBody>
      </p:sp>
      <p:sp>
        <p:nvSpPr>
          <p:cNvPr id="14" name="Shape 10"/>
          <p:cNvSpPr/>
          <p:nvPr/>
        </p:nvSpPr>
        <p:spPr>
          <a:xfrm>
            <a:off x="6385255" y="4526280"/>
            <a:ext cx="16002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035" y="4709160"/>
            <a:ext cx="548640" cy="548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85255" y="5349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385255" y="56235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800" dirty="0"/>
          </a:p>
        </p:txBody>
      </p:sp>
      <p:sp>
        <p:nvSpPr>
          <p:cNvPr id="18" name="Shape 13"/>
          <p:cNvSpPr/>
          <p:nvPr/>
        </p:nvSpPr>
        <p:spPr>
          <a:xfrm>
            <a:off x="8214055" y="4526280"/>
            <a:ext cx="16002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9835" y="4709160"/>
            <a:ext cx="548640" cy="54864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214055" y="5349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8214055" y="56235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800" dirty="0"/>
          </a:p>
        </p:txBody>
      </p:sp>
      <p:sp>
        <p:nvSpPr>
          <p:cNvPr id="22" name="Shape 16"/>
          <p:cNvSpPr/>
          <p:nvPr/>
        </p:nvSpPr>
        <p:spPr>
          <a:xfrm>
            <a:off x="10042855" y="4526280"/>
            <a:ext cx="16002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68635" y="4709160"/>
            <a:ext cx="548640" cy="54864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0042855" y="5349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400" dirty="0"/>
          </a:p>
        </p:txBody>
      </p:sp>
      <p:sp>
        <p:nvSpPr>
          <p:cNvPr id="25" name="Text 18"/>
          <p:cNvSpPr txBox="1"/>
          <p:nvPr/>
        </p:nvSpPr>
        <p:spPr>
          <a:xfrm>
            <a:off x="10042855" y="56235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WHY IT MATTERS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Green Valley Dispensary's customers are on Weedmaps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9598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cannabis marketplace, and the one most orders start on.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017776"/>
            <a:ext cx="7223760" cy="1278128"/>
          </a:xfrm>
          <a:prstGeom prst="roundRect">
            <a:avLst>
              <a:gd name="adj" fmla="val 8585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382520"/>
            <a:ext cx="548640" cy="54864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653" y="2530653"/>
            <a:ext cx="252374" cy="25237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63040" y="2154936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starts here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1463040" y="2474976"/>
            <a:ext cx="6126480" cy="729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Shoppers open Weedmaps to find who's nearby, who's open, and who has the deal. If you're not in the top of the zone, you're not in the consideration set.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3433064"/>
            <a:ext cx="7223760" cy="1278128"/>
          </a:xfrm>
          <a:prstGeom prst="roundRect">
            <a:avLst>
              <a:gd name="adj" fmla="val 8585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797808"/>
            <a:ext cx="548640" cy="54864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53" y="3945941"/>
            <a:ext cx="252374" cy="25237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63040" y="3570224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 is an auction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3890264"/>
            <a:ext cx="6126480" cy="729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in your service zone is bid-based and daily-budgeted. Bids that aren't managed drift, overpay in quiet hours, and lose the slot in busy ones.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48640" y="4848352"/>
            <a:ext cx="7223760" cy="1278128"/>
          </a:xfrm>
          <a:prstGeom prst="roundRect">
            <a:avLst>
              <a:gd name="adj" fmla="val 8585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5213096"/>
            <a:ext cx="548640" cy="54864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653" y="5361229"/>
            <a:ext cx="252374" cy="25237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463040" y="4985512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listing closes the sale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1463040" y="5305552"/>
            <a:ext cx="6126480" cy="729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products, live deals, fresh photos, and answered reviews turn a click into an order. Every stale element leaks conversions.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8046720" y="2017776"/>
            <a:ext cx="3596335" cy="4108704"/>
          </a:xfrm>
          <a:prstGeom prst="roundRect">
            <a:avLst>
              <a:gd name="adj" fmla="val 3051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366760" y="2246376"/>
            <a:ext cx="2956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MARKET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8366760" y="2612136"/>
            <a:ext cx="29562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6000" dirty="0"/>
          </a:p>
        </p:txBody>
      </p:sp>
      <p:sp>
        <p:nvSpPr>
          <p:cNvPr id="26" name="Text 20"/>
          <p:cNvSpPr txBox="1"/>
          <p:nvPr/>
        </p:nvSpPr>
        <p:spPr>
          <a:xfrm>
            <a:off x="8366760" y="3663696"/>
            <a:ext cx="29562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competing dispensaries in your Weedmaps service zone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8366760" y="4395216"/>
            <a:ext cx="2956255" cy="1548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High-density market; Weedmaps and Google Maps drive most discovery.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AUDIT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found on Green Valley Dispensary's Weedmaps listings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9598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is revenue currently left on the table.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7776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663440"/>
                <a:gridCol w="432511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found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it's costing you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5F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Weedmaps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 live but no paid placement; 40% of menu unverified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Buried below 6 competitors in the service zone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3435096"/>
            <a:ext cx="11094415" cy="1097280"/>
          </a:xfrm>
          <a:prstGeom prst="roundRect">
            <a:avLst>
              <a:gd name="adj" fmla="val 10000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68680" y="3617976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gap on Weedmaps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4002024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maps to a line on the next slide. All of them are fixed inside the first 30 days of the launch plan.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SCOPE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Sparks will manage on Weedmaps for Green Valley Dispensary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77698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for this proposal: Bid strategy for top-3 placement in zone, full menu verification, weekly deal rotation, review responses, weekly reporting.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654808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845308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8453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746248"/>
            <a:ext cx="4404208" cy="582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strategy and daily budget pacing for top placement in every service zone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233008" y="2654808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461608" y="2845308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61608" y="28453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010248" y="2746248"/>
            <a:ext cx="4404208" cy="582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optimization: hours, photos, attributes, description, and Q&amp;A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3557016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3747516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37475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3648456"/>
            <a:ext cx="4404208" cy="582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management and product verification synced with your POS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233008" y="3557016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61608" y="3747516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61608" y="37475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7010248" y="3648456"/>
            <a:ext cx="4404208" cy="582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and monthly deal activations, BOGOs, and featured products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48640" y="4459224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77240" y="4649724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77240" y="46497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4550664"/>
            <a:ext cx="4404208" cy="582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graphics for headers, deal tiles, and product imagery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233008" y="4459224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461608" y="4649724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461608" y="46497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7010248" y="4550664"/>
            <a:ext cx="4404208" cy="582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Same-day review responses and removal requests for policy-breaking reviews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48640" y="5361432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77240" y="555193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77240" y="55519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1325880" y="5452872"/>
            <a:ext cx="4404208" cy="582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page management for retailers who also own a brand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6233008" y="5361432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461608" y="555193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461608" y="55519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7010248" y="5452872"/>
            <a:ext cx="4404208" cy="582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performance reporting with POS-attributed revenue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RESULTS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results Sparks clients see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Averages across Sparks-managed accounts.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</a:t>
            </a:r>
            <a:endParaRPr lang="en-US" sz="48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increase in order conversions in the first 90 days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390824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665144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</a:t>
            </a:r>
            <a:endParaRPr lang="en-US" sz="4800" dirty="0"/>
          </a:p>
        </p:txBody>
      </p:sp>
      <p:sp>
        <p:nvSpPr>
          <p:cNvPr id="15" name="Text 12"/>
          <p:cNvSpPr txBox="1"/>
          <p:nvPr/>
        </p:nvSpPr>
        <p:spPr>
          <a:xfrm>
            <a:off x="3665144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return on every $1 of Weedmaps ad spend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33008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07328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4800" dirty="0"/>
          </a:p>
        </p:txBody>
      </p:sp>
      <p:sp>
        <p:nvSpPr>
          <p:cNvPr id="18" name="Text 15"/>
          <p:cNvSpPr txBox="1"/>
          <p:nvPr/>
        </p:nvSpPr>
        <p:spPr>
          <a:xfrm>
            <a:off x="6507328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average order value than non-managed accounts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9075191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349511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</a:t>
            </a:r>
            <a:endParaRPr lang="en-US" sz="4800" dirty="0"/>
          </a:p>
        </p:txBody>
      </p:sp>
      <p:sp>
        <p:nvSpPr>
          <p:cNvPr id="21" name="Text 18"/>
          <p:cNvSpPr txBox="1"/>
          <p:nvPr/>
        </p:nvSpPr>
        <p:spPr>
          <a:xfrm>
            <a:off x="9349511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dispensaries, deliveries &amp; brands managed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5321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conversion gains typically show within 60–90 days as optimizations compound.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PROOF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Weedmaps case studies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full ownership of a listing looks like in practice.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 Lotus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· San Jose, CA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years on Weedmaps, Leafly and Yelp; hundreds of thousands spent on ads with weak returns.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Reorganized ad positions, adjusted pricing and ranks, rebuilt deal strategy, added display ads, verified every product.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+63%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rate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451049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2451049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on-platform ROAS in 3 months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03341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403341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return in 6 months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255868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75908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Nuna Harvest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6575908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+ Delivery · New York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575908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York retail and delivery operation competing in a fast-growing market.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575908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listing management across Weedmaps, Leafly and Yelp with deal activations and review management.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57590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+638%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657590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ROAS in 6 months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8158277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8158277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9740646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400" dirty="0"/>
          </a:p>
        </p:txBody>
      </p:sp>
      <p:sp>
        <p:nvSpPr>
          <p:cNvPr id="29" name="Text 26"/>
          <p:cNvSpPr txBox="1"/>
          <p:nvPr/>
        </p:nvSpPr>
        <p:spPr>
          <a:xfrm>
            <a:off x="9740646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INVESTMENT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Weedmaps Management investment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Month-to-month after 90-day launch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331720"/>
            <a:ext cx="3515258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68680" y="256032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926080"/>
            <a:ext cx="28751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34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3840480"/>
            <a:ext cx="287517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+ Google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338218" y="2331720"/>
            <a:ext cx="3515258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658258" y="256032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4658258" y="2926080"/>
            <a:ext cx="28751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3400" dirty="0"/>
          </a:p>
        </p:txBody>
      </p:sp>
      <p:sp>
        <p:nvSpPr>
          <p:cNvPr id="17" name="Text 14"/>
          <p:cNvSpPr txBox="1"/>
          <p:nvPr/>
        </p:nvSpPr>
        <p:spPr>
          <a:xfrm>
            <a:off x="4658258" y="3840480"/>
            <a:ext cx="287517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+ Leafly + Yelp + Google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27797" y="2331720"/>
            <a:ext cx="3515258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447837" y="256032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Dominate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447837" y="2926080"/>
            <a:ext cx="28751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3400" dirty="0"/>
          </a:p>
        </p:txBody>
      </p:sp>
      <p:sp>
        <p:nvSpPr>
          <p:cNvPr id="21" name="Text 18"/>
          <p:cNvSpPr txBox="1"/>
          <p:nvPr/>
        </p:nvSpPr>
        <p:spPr>
          <a:xfrm>
            <a:off x="8447837" y="3840480"/>
            <a:ext cx="287517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platforms + Local SEO + Programmatic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2120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55778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spend billed directly by platforms; Sparks manages allocation.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LEAFLY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Leafly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Strain-led discovery and the second marketplace most customers check.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 and product search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shoppers arrive knowing the strain or product they want. A verified, well-tagged menu is what puts your store in front of them.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 and deals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placement, deal listings, and featured products work the same way as Weedmaps and are just as easy to leave unmanaged.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carry weight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reviews surface in Google results for your store name, so unanswered reviews cost you off-platform too.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Leafly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last synced 3 weeks ago; no deals running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43454"/>
            <a:ext cx="3596335" cy="18925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sync and product tagging across strains, brands, and categories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 strategy, budget, and creative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 and featured-product activations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 and photo refresh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responses and reporting</a:t>
            </a:r>
            <a:endParaRPr lang="en-US" sz="1050" dirty="0"/>
          </a:p>
        </p:txBody>
      </p:sp>
      <p:sp>
        <p:nvSpPr>
          <p:cNvPr id="29" name="Shape 23"/>
          <p:cNvSpPr/>
          <p:nvPr/>
        </p:nvSpPr>
        <p:spPr>
          <a:xfrm>
            <a:off x="7909560" y="4754880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86460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4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864608"/>
            <a:ext cx="15389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 for Nuna Harvest in six months</a:t>
            </a:r>
            <a:endParaRPr lang="en-US" sz="105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YELP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Yelp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reviews decide, and where Sparks is a Yelp Ads Certified Partner.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rating is the pitch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is where shoppers compare local options on rating alone. Unanswered one-star reviews and policy-breaking reviews pull the average down.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Ads reach comparison shoppers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Ads put your store in front of people actively comparing dispensaries. Sparks is one of the few cannabis partners recognized by Yelp.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Leads, not just clicks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drives calls, direction requests, and website clicks that never show up on a marketplace dashboard. We track them.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Yelp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unanswered 1-star reviews; no Yelp Ads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43454"/>
            <a:ext cx="3596335" cy="18925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Ads campaigns through Sparks' Certified Partner access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optimization: photos, categories, hours, and highlights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responses and removal requests for guideline-breaking reviews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tracking for calls, directions, and site visits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reporting alongside your marketplace results</a:t>
            </a:r>
            <a:endParaRPr lang="en-US" sz="1050" dirty="0"/>
          </a:p>
        </p:txBody>
      </p:sp>
      <p:sp>
        <p:nvSpPr>
          <p:cNvPr id="29" name="Shape 23"/>
          <p:cNvSpPr/>
          <p:nvPr/>
        </p:nvSpPr>
        <p:spPr>
          <a:xfrm>
            <a:off x="7909560" y="4754880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86460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4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864608"/>
            <a:ext cx="15389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 for Nuna Harvest in six months</a:t>
            </a:r>
            <a:endParaRPr lang="en-US" sz="105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GOOGLE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Management (GBP, Ads &amp; Local SEO)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"Dispensary near me" is decided in the Maps 3-pack.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Maps 3-pack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local searches end in the top three Google Maps results. Getting there takes a clean Business Profile, review velocity, and citation authority.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few free channels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cannabis restricted on most ad platforms, your Google Business Profile is one of the only free places to reach local customers at scale.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Citations feed the ranking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name, address, and phone across 50+ directories is what tells Google (and Siri and Alexa) that your store is the real one.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Google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GBP not claimed / wrong hours; 0 posts in 6 months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43454"/>
            <a:ext cx="3596335" cy="18925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Business Profile claim, cleanup, and optimization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Google Posts, photo refresh, Q&amp;A, and review responses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 Google Ads where the market allows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SEO: NAP consistency and citations across 50+ directories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Map-pack ranking tracking with a Top 3 goal in 90 days</a:t>
            </a:r>
            <a:endParaRPr lang="en-US" sz="1050" dirty="0"/>
          </a:p>
        </p:txBody>
      </p:sp>
      <p:sp>
        <p:nvSpPr>
          <p:cNvPr id="29" name="Shape 23"/>
          <p:cNvSpPr/>
          <p:nvPr/>
        </p:nvSpPr>
        <p:spPr>
          <a:xfrm>
            <a:off x="7909560" y="4754880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86460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</a:t>
            </a:r>
            <a:endParaRPr lang="en-US" sz="24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864608"/>
            <a:ext cx="15389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 ranking goal within 90 days</a:t>
            </a:r>
            <a:endParaRPr lang="en-US" sz="105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Sparks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advantages you can verify.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148840"/>
            <a:ext cx="5410048" cy="1783080"/>
          </a:xfrm>
          <a:prstGeom prst="roundRect">
            <a:avLst>
              <a:gd name="adj" fmla="val 6154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242316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3" y="2571293"/>
            <a:ext cx="252374" cy="25237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554480" y="2423160"/>
            <a:ext cx="412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ex-Weedmaps operators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1554480" y="2971800"/>
            <a:ext cx="4129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years inside Weedmaps working with the largest dispensaries. We know how the auction, ranking and menu systems actually work.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233008" y="2148840"/>
            <a:ext cx="5410048" cy="1783080"/>
          </a:xfrm>
          <a:prstGeom prst="roundRect">
            <a:avLst>
              <a:gd name="adj" fmla="val 6154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507328" y="242316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5460" y="2571293"/>
            <a:ext cx="252374" cy="25237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238848" y="2423160"/>
            <a:ext cx="412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platforms + 50 directories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238848" y="2971800"/>
            <a:ext cx="4129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team, one strategy, one report across Weedmaps, Leafly, Yelp, Google and every citation that feeds local SEO.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48640" y="4206240"/>
            <a:ext cx="5410048" cy="1783080"/>
          </a:xfrm>
          <a:prstGeom prst="roundRect">
            <a:avLst>
              <a:gd name="adj" fmla="val 6154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22960" y="448056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093" y="4628693"/>
            <a:ext cx="252374" cy="25237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54480" y="4480560"/>
            <a:ext cx="412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POS-integrated attribution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1554480" y="5029200"/>
            <a:ext cx="4129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Treez, Dutchie and other POS data joined with ad spend and platform metrics — you see which platform, campaign and deal drove revenue.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6233008" y="4206240"/>
            <a:ext cx="5410048" cy="1783080"/>
          </a:xfrm>
          <a:prstGeom prst="roundRect">
            <a:avLst>
              <a:gd name="adj" fmla="val 6154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507328" y="448056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5460" y="4628693"/>
            <a:ext cx="252374" cy="25237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238848" y="4480560"/>
            <a:ext cx="412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Recognized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7238848" y="5029200"/>
            <a:ext cx="4129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Cannabis Listing Management Agency 2026 (Cannabis Business Insights). Yelp Ads Certified Partner. 100+ businesses managed.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account team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people who will run your listings.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3657600" cy="4114800"/>
          </a:xfrm>
          <a:prstGeom prst="roundRect">
            <a:avLst>
              <a:gd name="adj" fmla="val 3000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68680" y="2331720"/>
            <a:ext cx="1005840" cy="100584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331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520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9319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3434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years at Weedmaps working with the largest dispensaries in the world, then 3 years running listing management for Purple Lotus before founding Sparks in 2022.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663440" y="2011680"/>
            <a:ext cx="6979615" cy="4114800"/>
          </a:xfrm>
          <a:prstGeom prst="roundRect">
            <a:avLst>
              <a:gd name="adj" fmla="val 2667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983480" y="2286000"/>
            <a:ext cx="6339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WORK WITH YOU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2697480"/>
            <a:ext cx="6522415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account lead and weekly performance report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&amp; listing specialists working daily in your platforms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creative for ads, deals and listing assets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team maintaining your POS-integrated dashboard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line to leadership — no ticket queues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90-day Weedmaps launch plan for Green Valley Dispensary.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24028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1488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1–30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280160" y="251460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audit, strategy, listing + menu clean-up, campaigns live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32004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3200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280160" y="31089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31–60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280160" y="34747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&amp; deal optimization, review program, dashboard attribution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416052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280160" y="40690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61–90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443484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winners, Maps 3-pack push, quarterly plan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1206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4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623560"/>
            <a:ext cx="914400" cy="611278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7589520" y="2148840"/>
            <a:ext cx="4053535" cy="3840480"/>
          </a:xfrm>
          <a:prstGeom prst="roundRect">
            <a:avLst>
              <a:gd name="adj" fmla="val 2857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909560" y="237744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SUMMARY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7909560" y="274320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· Launch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9859975" y="274320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7909560" y="309372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· Growth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9859975" y="309372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7909560" y="344424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· Dominate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9859975" y="344424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7909560" y="379476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Management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9859975" y="379476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7909560" y="414528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Management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9859975" y="414528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7909560" y="449580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Management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9859975" y="449580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7909560" y="5074920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when you are.</a:t>
            </a:r>
            <a:endParaRPr lang="en-US" sz="1600" dirty="0"/>
          </a:p>
        </p:txBody>
      </p:sp>
      <p:sp>
        <p:nvSpPr>
          <p:cNvPr id="38" name="Text 34"/>
          <p:cNvSpPr txBox="1"/>
          <p:nvPr/>
        </p:nvSpPr>
        <p:spPr>
          <a:xfrm>
            <a:off x="7909560" y="5440680"/>
            <a:ext cx="3413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Sparks, Founder &amp; CEO  ·  kevin@sparkscann.com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Sparks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Sparks × Green Valley Dispensary</dc:title>
  <dc:subject>PptxGenJS Presentation</dc:subject>
  <dc:creator>Sparks</dc:creator>
  <cp:lastModifiedBy>Sparks</cp:lastModifiedBy>
  <cp:revision>1</cp:revision>
  <dcterms:created xsi:type="dcterms:W3CDTF">2026-09-14T18:24:07Z</dcterms:created>
  <dcterms:modified xsi:type="dcterms:W3CDTF">2026-09-14T18:24:07Z</dcterms:modified>
</cp:coreProperties>
</file>